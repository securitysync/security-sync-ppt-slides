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sldIdLst>
    <p:sldId id="256" r:id="rId2"/>
    <p:sldId id="263" r:id="rId3"/>
    <p:sldId id="293" r:id="rId4"/>
    <p:sldId id="257" r:id="rId5"/>
    <p:sldId id="258" r:id="rId6"/>
    <p:sldId id="259" r:id="rId7"/>
    <p:sldId id="294" r:id="rId8"/>
    <p:sldId id="261" r:id="rId9"/>
    <p:sldId id="296" r:id="rId10"/>
    <p:sldId id="295" r:id="rId11"/>
    <p:sldId id="297" r:id="rId12"/>
    <p:sldId id="298" r:id="rId13"/>
    <p:sldId id="262" r:id="rId14"/>
    <p:sldId id="260" r:id="rId15"/>
    <p:sldId id="264" r:id="rId16"/>
    <p:sldId id="265" r:id="rId17"/>
    <p:sldId id="266" r:id="rId18"/>
    <p:sldId id="267" r:id="rId19"/>
    <p:sldId id="272" r:id="rId20"/>
    <p:sldId id="275" r:id="rId21"/>
    <p:sldId id="268" r:id="rId22"/>
    <p:sldId id="291" r:id="rId23"/>
    <p:sldId id="269" r:id="rId24"/>
    <p:sldId id="270" r:id="rId25"/>
    <p:sldId id="326" r:id="rId26"/>
    <p:sldId id="271" r:id="rId27"/>
    <p:sldId id="273" r:id="rId28"/>
    <p:sldId id="274" r:id="rId29"/>
    <p:sldId id="276" r:id="rId30"/>
    <p:sldId id="292" r:id="rId31"/>
    <p:sldId id="325" r:id="rId32"/>
    <p:sldId id="278" r:id="rId33"/>
    <p:sldId id="290" r:id="rId34"/>
    <p:sldId id="279" r:id="rId35"/>
    <p:sldId id="280" r:id="rId36"/>
    <p:sldId id="281" r:id="rId37"/>
    <p:sldId id="282" r:id="rId38"/>
    <p:sldId id="283" r:id="rId39"/>
    <p:sldId id="284" r:id="rId40"/>
    <p:sldId id="285" r:id="rId41"/>
    <p:sldId id="286" r:id="rId42"/>
    <p:sldId id="299" r:id="rId43"/>
    <p:sldId id="302" r:id="rId44"/>
    <p:sldId id="304" r:id="rId45"/>
    <p:sldId id="305" r:id="rId46"/>
    <p:sldId id="306" r:id="rId47"/>
    <p:sldId id="307" r:id="rId48"/>
    <p:sldId id="308" r:id="rId49"/>
    <p:sldId id="309" r:id="rId50"/>
    <p:sldId id="310" r:id="rId51"/>
    <p:sldId id="311" r:id="rId52"/>
    <p:sldId id="312" r:id="rId53"/>
    <p:sldId id="303"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288" r:id="rId67"/>
    <p:sldId id="289"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824378-F02B-47A4-90AD-82E76781C55D}" type="datetimeFigureOut">
              <a:rPr lang="en-US" smtClean="0"/>
              <a:t>11/13/2024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F6B88-F0FE-4C2F-B3A3-2C6792FADF4D}" type="slidenum">
              <a:rPr lang="en-US" smtClean="0"/>
              <a:t>‹#›</a:t>
            </a:fld>
            <a:endParaRPr lang="en-US"/>
          </a:p>
        </p:txBody>
      </p:sp>
    </p:spTree>
    <p:extLst>
      <p:ext uri="{BB962C8B-B14F-4D97-AF65-F5344CB8AC3E}">
        <p14:creationId xmlns:p14="http://schemas.microsoft.com/office/powerpoint/2010/main" val="1833617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7F6B88-F0FE-4C2F-B3A3-2C6792FADF4D}" type="slidenum">
              <a:rPr lang="en-US" smtClean="0"/>
              <a:t>19</a:t>
            </a:fld>
            <a:endParaRPr lang="en-US"/>
          </a:p>
        </p:txBody>
      </p:sp>
    </p:spTree>
    <p:extLst>
      <p:ext uri="{BB962C8B-B14F-4D97-AF65-F5344CB8AC3E}">
        <p14:creationId xmlns:p14="http://schemas.microsoft.com/office/powerpoint/2010/main" val="4258171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7F6B88-F0FE-4C2F-B3A3-2C6792FADF4D}" type="slidenum">
              <a:rPr lang="en-US" smtClean="0"/>
              <a:t>51</a:t>
            </a:fld>
            <a:endParaRPr lang="en-US"/>
          </a:p>
        </p:txBody>
      </p:sp>
    </p:spTree>
    <p:extLst>
      <p:ext uri="{BB962C8B-B14F-4D97-AF65-F5344CB8AC3E}">
        <p14:creationId xmlns:p14="http://schemas.microsoft.com/office/powerpoint/2010/main" val="13588335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1110246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3239745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3047851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B570AC-023A-4331-9EC0-80B6612D09DD}" type="datetimeFigureOut">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1003930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B570AC-023A-4331-9EC0-80B6612D09DD}" type="datetimeFigureOut">
              <a:rPr lang="en-US" smtClean="0"/>
              <a:t>11/13/2024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1315548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B570AC-023A-4331-9EC0-80B6612D09DD}" type="datetimeFigureOut">
              <a:rPr lang="en-US" smtClean="0"/>
              <a:t>11/13/2024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248796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B570AC-023A-4331-9EC0-80B6612D09DD}" type="datetimeFigureOut">
              <a:rPr lang="en-US" smtClean="0"/>
              <a:t>11/13/2024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965902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B570AC-023A-4331-9EC0-80B6612D09DD}" type="datetimeFigureOut">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2510937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B570AC-023A-4331-9EC0-80B6612D09DD}" type="datetimeFigureOut">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419892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B570AC-023A-4331-9EC0-80B6612D09DD}" type="datetimeFigureOut">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3818754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1290142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2037211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1425112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EB570AC-023A-4331-9EC0-80B6612D09DD}" type="datetimeFigureOut">
              <a:rPr lang="en-US" smtClean="0"/>
              <a:t>11/13/2024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79154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EB570AC-023A-4331-9EC0-80B6612D09DD}" type="datetimeFigureOut">
              <a:rPr lang="en-US" smtClean="0"/>
              <a:t>11/13/2024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508245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2830983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EB570AC-023A-4331-9EC0-80B6612D09DD}"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BD0852-30FD-486B-A719-0DA7B764F99B}" type="slidenum">
              <a:rPr lang="en-US" smtClean="0"/>
              <a:t>‹#›</a:t>
            </a:fld>
            <a:endParaRPr lang="en-US"/>
          </a:p>
        </p:txBody>
      </p:sp>
    </p:spTree>
    <p:extLst>
      <p:ext uri="{BB962C8B-B14F-4D97-AF65-F5344CB8AC3E}">
        <p14:creationId xmlns:p14="http://schemas.microsoft.com/office/powerpoint/2010/main" val="253383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EB570AC-023A-4331-9EC0-80B6612D09DD}" type="datetimeFigureOut">
              <a:rPr lang="en-US" smtClean="0"/>
              <a:t>11/13/2024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9BD0852-30FD-486B-A719-0DA7B764F99B}" type="slidenum">
              <a:rPr lang="en-US" smtClean="0"/>
              <a:t>‹#›</a:t>
            </a:fld>
            <a:endParaRPr lang="en-US"/>
          </a:p>
        </p:txBody>
      </p:sp>
    </p:spTree>
    <p:extLst>
      <p:ext uri="{BB962C8B-B14F-4D97-AF65-F5344CB8AC3E}">
        <p14:creationId xmlns:p14="http://schemas.microsoft.com/office/powerpoint/2010/main" val="2738614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3.jpeg"/><Relationship Id="rId7" Type="http://schemas.openxmlformats.org/officeDocument/2006/relationships/image" Target="../media/image26.jpe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25.jpeg"/><Relationship Id="rId4" Type="http://schemas.openxmlformats.org/officeDocument/2006/relationships/image" Target="../media/image24.jpeg"/><Relationship Id="rId9" Type="http://schemas.openxmlformats.org/officeDocument/2006/relationships/image" Target="../media/image28.jpe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1.jf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2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52.jpeg"/><Relationship Id="rId1" Type="http://schemas.openxmlformats.org/officeDocument/2006/relationships/slideLayout" Target="../slideLayouts/slideLayout2.xml"/><Relationship Id="rId4" Type="http://schemas.openxmlformats.org/officeDocument/2006/relationships/image" Target="../media/image53.jpeg"/></Relationships>
</file>

<file path=ppt/slides/_rels/slide2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87749-5FB2-F986-01FE-2CCE1C1BF403}"/>
              </a:ext>
            </a:extLst>
          </p:cNvPr>
          <p:cNvSpPr>
            <a:spLocks noGrp="1"/>
          </p:cNvSpPr>
          <p:nvPr>
            <p:ph type="ctrTitle"/>
          </p:nvPr>
        </p:nvSpPr>
        <p:spPr/>
        <p:txBody>
          <a:bodyPr/>
          <a:lstStyle/>
          <a:p>
            <a:r>
              <a:rPr lang="en-US" b="1" i="1" u="sng" dirty="0">
                <a:effectLst>
                  <a:outerShdw blurRad="38100" dist="38100" dir="2700000" algn="tl">
                    <a:srgbClr val="000000">
                      <a:alpha val="43137"/>
                    </a:srgbClr>
                  </a:outerShdw>
                </a:effectLst>
              </a:rPr>
              <a:t>Computer Forensics</a:t>
            </a:r>
          </a:p>
        </p:txBody>
      </p:sp>
    </p:spTree>
    <p:extLst>
      <p:ext uri="{BB962C8B-B14F-4D97-AF65-F5344CB8AC3E}">
        <p14:creationId xmlns:p14="http://schemas.microsoft.com/office/powerpoint/2010/main" val="2321113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98BAE-62AC-EDBA-67FB-7DB530C0C6C0}"/>
              </a:ext>
            </a:extLst>
          </p:cNvPr>
          <p:cNvSpPr>
            <a:spLocks noGrp="1"/>
          </p:cNvSpPr>
          <p:nvPr>
            <p:ph type="title"/>
          </p:nvPr>
        </p:nvSpPr>
        <p:spPr>
          <a:xfrm>
            <a:off x="838200" y="365125"/>
            <a:ext cx="10515600" cy="6201930"/>
          </a:xfrm>
        </p:spPr>
        <p:txBody>
          <a:bodyPr>
            <a:normAutofit/>
          </a:bodyPr>
          <a:lstStyle/>
          <a:p>
            <a:r>
              <a:rPr lang="en-US" sz="5400" dirty="0">
                <a:solidFill>
                  <a:schemeClr val="tx1">
                    <a:lumMod val="95000"/>
                    <a:lumOff val="5000"/>
                  </a:schemeClr>
                </a:solidFill>
              </a:rPr>
              <a:t>Devices which holds the forensic value</a:t>
            </a:r>
          </a:p>
        </p:txBody>
      </p:sp>
    </p:spTree>
    <p:extLst>
      <p:ext uri="{BB962C8B-B14F-4D97-AF65-F5344CB8AC3E}">
        <p14:creationId xmlns:p14="http://schemas.microsoft.com/office/powerpoint/2010/main" val="4261991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SD Memory Cards SD Memory Cards memory card stock pictures, royalty-free photos &amp; images">
            <a:extLst>
              <a:ext uri="{FF2B5EF4-FFF2-40B4-BE49-F238E27FC236}">
                <a16:creationId xmlns:a16="http://schemas.microsoft.com/office/drawing/2014/main" id="{787508E0-588E-9EA2-DA75-631912A5BB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4055" y="198294"/>
            <a:ext cx="1720117" cy="11455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2E41CF0-31BB-B8CE-D232-252B03B20CE2}"/>
              </a:ext>
            </a:extLst>
          </p:cNvPr>
          <p:cNvSpPr txBox="1"/>
          <p:nvPr/>
        </p:nvSpPr>
        <p:spPr>
          <a:xfrm>
            <a:off x="344055" y="1565564"/>
            <a:ext cx="1720117" cy="646331"/>
          </a:xfrm>
          <a:prstGeom prst="rect">
            <a:avLst/>
          </a:prstGeom>
          <a:noFill/>
        </p:spPr>
        <p:txBody>
          <a:bodyPr wrap="square" rtlCol="0">
            <a:spAutoFit/>
          </a:bodyPr>
          <a:lstStyle/>
          <a:p>
            <a:r>
              <a:rPr lang="en-US" dirty="0">
                <a:solidFill>
                  <a:schemeClr val="bg1"/>
                </a:solidFill>
              </a:rPr>
              <a:t>Memory </a:t>
            </a:r>
            <a:r>
              <a:rPr lang="en-US" dirty="0"/>
              <a:t>Card</a:t>
            </a:r>
          </a:p>
        </p:txBody>
      </p:sp>
      <p:pic>
        <p:nvPicPr>
          <p:cNvPr id="1032" name="Picture 8" descr="black and silver sandisk flash drive">
            <a:extLst>
              <a:ext uri="{FF2B5EF4-FFF2-40B4-BE49-F238E27FC236}">
                <a16:creationId xmlns:a16="http://schemas.microsoft.com/office/drawing/2014/main" id="{C6A75FD8-60ED-14F9-505B-20CF196A7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7841" y="6927"/>
            <a:ext cx="3079823" cy="19279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 wooden flash drive against white background - usb stick stock pictures, royalty-free photos &amp; images">
            <a:extLst>
              <a:ext uri="{FF2B5EF4-FFF2-40B4-BE49-F238E27FC236}">
                <a16:creationId xmlns:a16="http://schemas.microsoft.com/office/drawing/2014/main" id="{A9412A13-00FC-A438-661A-7138DE39498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8487" t="22429" b="29376"/>
          <a:stretch/>
        </p:blipFill>
        <p:spPr bwMode="auto">
          <a:xfrm>
            <a:off x="5658500" y="198294"/>
            <a:ext cx="2929586" cy="153785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7276B77-CC8C-A779-F62C-CFD89DCFE662}"/>
              </a:ext>
            </a:extLst>
          </p:cNvPr>
          <p:cNvSpPr txBox="1"/>
          <p:nvPr/>
        </p:nvSpPr>
        <p:spPr>
          <a:xfrm>
            <a:off x="3103418" y="2220593"/>
            <a:ext cx="5595504" cy="369332"/>
          </a:xfrm>
          <a:prstGeom prst="rect">
            <a:avLst/>
          </a:prstGeom>
          <a:noFill/>
        </p:spPr>
        <p:txBody>
          <a:bodyPr wrap="square" rtlCol="0">
            <a:spAutoFit/>
          </a:bodyPr>
          <a:lstStyle/>
          <a:p>
            <a:r>
              <a:rPr lang="en-US" dirty="0"/>
              <a:t>		Flash Drive ( Pen Drive)</a:t>
            </a:r>
          </a:p>
        </p:txBody>
      </p:sp>
      <p:pic>
        <p:nvPicPr>
          <p:cNvPr id="1036" name="Picture 12" descr="digital cassette drive hp82161a connected to calculator hp 41cx">
            <a:extLst>
              <a:ext uri="{FF2B5EF4-FFF2-40B4-BE49-F238E27FC236}">
                <a16:creationId xmlns:a16="http://schemas.microsoft.com/office/drawing/2014/main" id="{23763E7C-B3B5-D364-F7D8-0113E163846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0814" t="65943" r="30509"/>
          <a:stretch/>
        </p:blipFill>
        <p:spPr bwMode="auto">
          <a:xfrm>
            <a:off x="8698922" y="263670"/>
            <a:ext cx="1365755" cy="108022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magentic tape cassette 300x213">
            <a:extLst>
              <a:ext uri="{FF2B5EF4-FFF2-40B4-BE49-F238E27FC236}">
                <a16:creationId xmlns:a16="http://schemas.microsoft.com/office/drawing/2014/main" id="{B5D4367D-2023-7341-3ADB-11D206252F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64677" y="6927"/>
            <a:ext cx="1982932" cy="140788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873CC02-D956-15D5-8FC1-4BDD6E81AC8E}"/>
              </a:ext>
            </a:extLst>
          </p:cNvPr>
          <p:cNvSpPr txBox="1"/>
          <p:nvPr/>
        </p:nvSpPr>
        <p:spPr>
          <a:xfrm>
            <a:off x="8698922" y="1619832"/>
            <a:ext cx="3149023" cy="369332"/>
          </a:xfrm>
          <a:prstGeom prst="rect">
            <a:avLst/>
          </a:prstGeom>
          <a:noFill/>
        </p:spPr>
        <p:txBody>
          <a:bodyPr wrap="square" rtlCol="0">
            <a:spAutoFit/>
          </a:bodyPr>
          <a:lstStyle/>
          <a:p>
            <a:r>
              <a:rPr lang="en-US" dirty="0"/>
              <a:t>	</a:t>
            </a:r>
            <a:r>
              <a:rPr lang="en-US" dirty="0">
                <a:solidFill>
                  <a:schemeClr val="bg1"/>
                </a:solidFill>
              </a:rPr>
              <a:t>Magnetic Tape </a:t>
            </a:r>
          </a:p>
        </p:txBody>
      </p:sp>
      <p:pic>
        <p:nvPicPr>
          <p:cNvPr id="1042" name="Picture 18" descr="Woman Holding CD-R Disk in Hand">
            <a:extLst>
              <a:ext uri="{FF2B5EF4-FFF2-40B4-BE49-F238E27FC236}">
                <a16:creationId xmlns:a16="http://schemas.microsoft.com/office/drawing/2014/main" id="{F2942C6A-11B7-23AC-E278-6AC88BB35AA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650" t="16339" r="41041" b="6769"/>
          <a:stretch/>
        </p:blipFill>
        <p:spPr bwMode="auto">
          <a:xfrm>
            <a:off x="196153" y="2890356"/>
            <a:ext cx="3637636" cy="325855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F8444DA-9AF7-5F80-B75C-F9947D6B76AA}"/>
              </a:ext>
            </a:extLst>
          </p:cNvPr>
          <p:cNvSpPr txBox="1"/>
          <p:nvPr/>
        </p:nvSpPr>
        <p:spPr>
          <a:xfrm>
            <a:off x="197752" y="6221060"/>
            <a:ext cx="3810000" cy="369332"/>
          </a:xfrm>
          <a:prstGeom prst="rect">
            <a:avLst/>
          </a:prstGeom>
          <a:noFill/>
        </p:spPr>
        <p:txBody>
          <a:bodyPr wrap="square" rtlCol="0">
            <a:spAutoFit/>
          </a:bodyPr>
          <a:lstStyle/>
          <a:p>
            <a:r>
              <a:rPr lang="en-US" dirty="0"/>
              <a:t> CD OR DVD</a:t>
            </a:r>
          </a:p>
        </p:txBody>
      </p:sp>
      <p:pic>
        <p:nvPicPr>
          <p:cNvPr id="1044" name="Picture 20" descr="Computer DDR RAM memory module">
            <a:extLst>
              <a:ext uri="{FF2B5EF4-FFF2-40B4-BE49-F238E27FC236}">
                <a16:creationId xmlns:a16="http://schemas.microsoft.com/office/drawing/2014/main" id="{34B90C97-DBCB-AA47-14BA-390EAB0DB9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2617" y="3244954"/>
            <a:ext cx="2431083" cy="161423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81C0849-6F7B-CDB3-CBFB-66E06A2786DE}"/>
              </a:ext>
            </a:extLst>
          </p:cNvPr>
          <p:cNvSpPr txBox="1"/>
          <p:nvPr/>
        </p:nvSpPr>
        <p:spPr>
          <a:xfrm>
            <a:off x="4322618" y="5292436"/>
            <a:ext cx="2431083" cy="369332"/>
          </a:xfrm>
          <a:prstGeom prst="rect">
            <a:avLst/>
          </a:prstGeom>
          <a:noFill/>
        </p:spPr>
        <p:txBody>
          <a:bodyPr wrap="square" rtlCol="0">
            <a:spAutoFit/>
          </a:bodyPr>
          <a:lstStyle/>
          <a:p>
            <a:r>
              <a:rPr lang="en-US" dirty="0"/>
              <a:t>      RAM(MEMORY)</a:t>
            </a:r>
          </a:p>
        </p:txBody>
      </p:sp>
      <p:pic>
        <p:nvPicPr>
          <p:cNvPr id="1046" name="Picture 22" descr="Photo of Seagate and Western Digital hard drives">
            <a:extLst>
              <a:ext uri="{FF2B5EF4-FFF2-40B4-BE49-F238E27FC236}">
                <a16:creationId xmlns:a16="http://schemas.microsoft.com/office/drawing/2014/main" id="{870583F9-9453-DF23-18AF-7677F4ED9A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07877" y="2683452"/>
            <a:ext cx="3905665" cy="260898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242856F-90EA-FD40-626A-1904F30A9354}"/>
              </a:ext>
            </a:extLst>
          </p:cNvPr>
          <p:cNvSpPr txBox="1"/>
          <p:nvPr/>
        </p:nvSpPr>
        <p:spPr>
          <a:xfrm>
            <a:off x="7620000" y="5661768"/>
            <a:ext cx="3713018" cy="369332"/>
          </a:xfrm>
          <a:prstGeom prst="rect">
            <a:avLst/>
          </a:prstGeom>
          <a:noFill/>
        </p:spPr>
        <p:txBody>
          <a:bodyPr wrap="square" rtlCol="0">
            <a:spAutoFit/>
          </a:bodyPr>
          <a:lstStyle/>
          <a:p>
            <a:r>
              <a:rPr lang="en-US" dirty="0"/>
              <a:t>	HDD( HARD DISK DRIVE)</a:t>
            </a:r>
          </a:p>
        </p:txBody>
      </p:sp>
    </p:spTree>
    <p:extLst>
      <p:ext uri="{BB962C8B-B14F-4D97-AF65-F5344CB8AC3E}">
        <p14:creationId xmlns:p14="http://schemas.microsoft.com/office/powerpoint/2010/main" val="4075357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E51277-7EA5-DAD2-E824-A81020785C39}"/>
              </a:ext>
            </a:extLst>
          </p:cNvPr>
          <p:cNvSpPr>
            <a:spLocks noGrp="1"/>
          </p:cNvSpPr>
          <p:nvPr>
            <p:ph idx="1"/>
          </p:nvPr>
        </p:nvSpPr>
        <p:spPr>
          <a:xfrm>
            <a:off x="371192" y="1130797"/>
            <a:ext cx="10982607" cy="5253984"/>
          </a:xfrm>
        </p:spPr>
        <p:txBody>
          <a:bodyPr>
            <a:normAutofit/>
          </a:bodyPr>
          <a:lstStyle/>
          <a:p>
            <a:pPr marL="0" indent="0">
              <a:buNone/>
            </a:pPr>
            <a:r>
              <a:rPr lang="en-US" sz="3200" b="1" i="1" u="sng" dirty="0">
                <a:solidFill>
                  <a:schemeClr val="bg2"/>
                </a:solidFill>
              </a:rPr>
              <a:t>Computer</a:t>
            </a:r>
          </a:p>
        </p:txBody>
      </p:sp>
      <p:pic>
        <p:nvPicPr>
          <p:cNvPr id="1026" name="Picture 2" descr="a desktop computer">
            <a:extLst>
              <a:ext uri="{FF2B5EF4-FFF2-40B4-BE49-F238E27FC236}">
                <a16:creationId xmlns:a16="http://schemas.microsoft.com/office/drawing/2014/main" id="{39E295BB-5864-0930-ECBC-1DBF8A93F4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9369" y="57862"/>
            <a:ext cx="3190254" cy="22942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ll in one desktop computer">
            <a:extLst>
              <a:ext uri="{FF2B5EF4-FFF2-40B4-BE49-F238E27FC236}">
                <a16:creationId xmlns:a16="http://schemas.microsoft.com/office/drawing/2014/main" id="{B78C3F8E-B451-DB8E-55A9-353AFDA06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6939" y="267628"/>
            <a:ext cx="2685807" cy="187469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oogle Chrome Desktop">
            <a:extLst>
              <a:ext uri="{FF2B5EF4-FFF2-40B4-BE49-F238E27FC236}">
                <a16:creationId xmlns:a16="http://schemas.microsoft.com/office/drawing/2014/main" id="{32AAFB1F-5654-85C2-4A0C-E58778C98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8338" y="281049"/>
            <a:ext cx="2857500"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KAMRUI Mini PC Computers, AK1 PRO 12GB RAM 256GB SSD Mini Desktop Computer Intel Celeron N5105 CPU, 4 Core Micro PC Comput...">
            <a:extLst>
              <a:ext uri="{FF2B5EF4-FFF2-40B4-BE49-F238E27FC236}">
                <a16:creationId xmlns:a16="http://schemas.microsoft.com/office/drawing/2014/main" id="{6992ACEF-A898-F6B3-A392-61520735F4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2157" y="3757789"/>
            <a:ext cx="2334931" cy="233493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Our pick for best mini pc for people who prefer macOS to Windows, the Apple Mac mini M2.">
            <a:extLst>
              <a:ext uri="{FF2B5EF4-FFF2-40B4-BE49-F238E27FC236}">
                <a16:creationId xmlns:a16="http://schemas.microsoft.com/office/drawing/2014/main" id="{A9055DB7-16D6-758F-C4A7-C70082D1F3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7538" y="3605782"/>
            <a:ext cx="3734142" cy="248693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The best mini PCs (alternative)">
            <a:extLst>
              <a:ext uri="{FF2B5EF4-FFF2-40B4-BE49-F238E27FC236}">
                <a16:creationId xmlns:a16="http://schemas.microsoft.com/office/drawing/2014/main" id="{563F50C0-01E1-A591-778A-FE58E9CEB5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2239" y="4178877"/>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846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eelink SER5 internals, with a slot for a 2.5-inch solid state drive.">
            <a:extLst>
              <a:ext uri="{FF2B5EF4-FFF2-40B4-BE49-F238E27FC236}">
                <a16:creationId xmlns:a16="http://schemas.microsoft.com/office/drawing/2014/main" id="{FD8728E9-4E38-1DB8-673B-CBFE65E9F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9191" y="1191925"/>
            <a:ext cx="5134264" cy="41143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920268-B080-408E-6193-1882FF199F63}"/>
              </a:ext>
            </a:extLst>
          </p:cNvPr>
          <p:cNvSpPr txBox="1"/>
          <p:nvPr/>
        </p:nvSpPr>
        <p:spPr>
          <a:xfrm>
            <a:off x="498764" y="484909"/>
            <a:ext cx="3796146" cy="369332"/>
          </a:xfrm>
          <a:prstGeom prst="rect">
            <a:avLst/>
          </a:prstGeom>
          <a:noFill/>
        </p:spPr>
        <p:txBody>
          <a:bodyPr wrap="square" rtlCol="0">
            <a:spAutoFit/>
          </a:bodyPr>
          <a:lstStyle/>
          <a:p>
            <a:r>
              <a:rPr lang="en-US" b="1" u="sng" dirty="0">
                <a:solidFill>
                  <a:schemeClr val="bg1"/>
                </a:solidFill>
              </a:rPr>
              <a:t>Internals of Desktop</a:t>
            </a:r>
          </a:p>
        </p:txBody>
      </p:sp>
      <p:pic>
        <p:nvPicPr>
          <p:cNvPr id="3" name="Content Placeholder 2">
            <a:extLst>
              <a:ext uri="{FF2B5EF4-FFF2-40B4-BE49-F238E27FC236}">
                <a16:creationId xmlns:a16="http://schemas.microsoft.com/office/drawing/2014/main" id="{36726FCA-A606-0986-2F72-AA1F83FB8562}"/>
              </a:ext>
            </a:extLst>
          </p:cNvPr>
          <p:cNvPicPr>
            <a:picLocks noGrp="1" noChangeAspect="1"/>
          </p:cNvPicPr>
          <p:nvPr>
            <p:ph idx="1"/>
          </p:nvPr>
        </p:nvPicPr>
        <p:blipFill>
          <a:blip r:embed="rId3"/>
          <a:stretch>
            <a:fillRect/>
          </a:stretch>
        </p:blipFill>
        <p:spPr>
          <a:xfrm>
            <a:off x="498764" y="1191925"/>
            <a:ext cx="5134264" cy="5525666"/>
          </a:xfrm>
          <a:prstGeom prst="rect">
            <a:avLst/>
          </a:prstGeom>
        </p:spPr>
      </p:pic>
    </p:spTree>
    <p:extLst>
      <p:ext uri="{BB962C8B-B14F-4D97-AF65-F5344CB8AC3E}">
        <p14:creationId xmlns:p14="http://schemas.microsoft.com/office/powerpoint/2010/main" val="3664764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el nuc pc opened up aw7m">
            <a:extLst>
              <a:ext uri="{FF2B5EF4-FFF2-40B4-BE49-F238E27FC236}">
                <a16:creationId xmlns:a16="http://schemas.microsoft.com/office/drawing/2014/main" id="{74D151E1-0B05-0AA0-7517-C90A89BC5F5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7447" t="3205" r="21526" b="8934"/>
          <a:stretch/>
        </p:blipFill>
        <p:spPr bwMode="auto">
          <a:xfrm>
            <a:off x="168819" y="0"/>
            <a:ext cx="3520665" cy="284862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pen computer case">
            <a:extLst>
              <a:ext uri="{FF2B5EF4-FFF2-40B4-BE49-F238E27FC236}">
                <a16:creationId xmlns:a16="http://schemas.microsoft.com/office/drawing/2014/main" id="{19CA93CA-A9E1-28F9-6B3F-7A611CBC6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4199" y="0"/>
            <a:ext cx="4199508" cy="400353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Upgrade iMac Intel Core i3 CPU to Core i7: step 3, image 2 of 3">
            <a:extLst>
              <a:ext uri="{FF2B5EF4-FFF2-40B4-BE49-F238E27FC236}">
                <a16:creationId xmlns:a16="http://schemas.microsoft.com/office/drawing/2014/main" id="{D823E853-E1D9-D11E-ED07-2FE2628D36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3282" y="3719728"/>
            <a:ext cx="4762500" cy="313827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72686D2-FC49-3BBE-F8BD-212595C611D8}"/>
              </a:ext>
            </a:extLst>
          </p:cNvPr>
          <p:cNvPicPr>
            <a:picLocks noChangeAspect="1"/>
          </p:cNvPicPr>
          <p:nvPr/>
        </p:nvPicPr>
        <p:blipFill>
          <a:blip r:embed="rId5"/>
          <a:srcRect l="7840" t="3494"/>
          <a:stretch/>
        </p:blipFill>
        <p:spPr>
          <a:xfrm>
            <a:off x="168819" y="2975375"/>
            <a:ext cx="3827318" cy="3814762"/>
          </a:xfrm>
          <a:prstGeom prst="rect">
            <a:avLst/>
          </a:prstGeom>
        </p:spPr>
      </p:pic>
    </p:spTree>
    <p:extLst>
      <p:ext uri="{BB962C8B-B14F-4D97-AF65-F5344CB8AC3E}">
        <p14:creationId xmlns:p14="http://schemas.microsoft.com/office/powerpoint/2010/main" val="419951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017C2-98E5-9BF2-1827-2C5DEAA77496}"/>
              </a:ext>
            </a:extLst>
          </p:cNvPr>
          <p:cNvSpPr>
            <a:spLocks noGrp="1"/>
          </p:cNvSpPr>
          <p:nvPr>
            <p:ph type="title"/>
          </p:nvPr>
        </p:nvSpPr>
        <p:spPr>
          <a:xfrm>
            <a:off x="838200" y="365126"/>
            <a:ext cx="10515600" cy="867930"/>
          </a:xfrm>
        </p:spPr>
        <p:txBody>
          <a:bodyPr/>
          <a:lstStyle/>
          <a:p>
            <a:r>
              <a:rPr lang="en-US" b="1" i="1" dirty="0"/>
              <a:t>Parts of Computer</a:t>
            </a:r>
          </a:p>
        </p:txBody>
      </p:sp>
      <p:pic>
        <p:nvPicPr>
          <p:cNvPr id="2050" name="Picture 2" descr="the inside of a computer motherboard">
            <a:extLst>
              <a:ext uri="{FF2B5EF4-FFF2-40B4-BE49-F238E27FC236}">
                <a16:creationId xmlns:a16="http://schemas.microsoft.com/office/drawing/2014/main" id="{BC7B1D83-AF53-7F0C-5624-86DD466C57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98106"/>
            <a:ext cx="2714914" cy="27149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A4197D1-3113-1E44-69F2-F70641D06214}"/>
              </a:ext>
            </a:extLst>
          </p:cNvPr>
          <p:cNvSpPr txBox="1"/>
          <p:nvPr/>
        </p:nvSpPr>
        <p:spPr>
          <a:xfrm>
            <a:off x="180109" y="3823855"/>
            <a:ext cx="2534805" cy="369332"/>
          </a:xfrm>
          <a:prstGeom prst="rect">
            <a:avLst/>
          </a:prstGeom>
          <a:noFill/>
        </p:spPr>
        <p:txBody>
          <a:bodyPr wrap="square" rtlCol="0">
            <a:spAutoFit/>
          </a:bodyPr>
          <a:lstStyle/>
          <a:p>
            <a:r>
              <a:rPr lang="en-US" dirty="0"/>
              <a:t>     Motherboard</a:t>
            </a:r>
          </a:p>
        </p:txBody>
      </p:sp>
      <p:pic>
        <p:nvPicPr>
          <p:cNvPr id="2052" name="Picture 4" descr="the technician laying cpu in the motherboard socket - motherboard stock pictures, royalty-free photos &amp; images">
            <a:extLst>
              <a:ext uri="{FF2B5EF4-FFF2-40B4-BE49-F238E27FC236}">
                <a16:creationId xmlns:a16="http://schemas.microsoft.com/office/drawing/2014/main" id="{4DAFBB05-705C-B141-B346-D7EAC2A37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3477" y="1482870"/>
            <a:ext cx="2620479" cy="17452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A8FC25-C0CE-21CC-3550-1FABA34FBB7C}"/>
              </a:ext>
            </a:extLst>
          </p:cNvPr>
          <p:cNvSpPr txBox="1"/>
          <p:nvPr/>
        </p:nvSpPr>
        <p:spPr>
          <a:xfrm>
            <a:off x="2883477" y="3713020"/>
            <a:ext cx="2620479" cy="369332"/>
          </a:xfrm>
          <a:prstGeom prst="rect">
            <a:avLst/>
          </a:prstGeom>
          <a:noFill/>
        </p:spPr>
        <p:txBody>
          <a:bodyPr wrap="square" rtlCol="0">
            <a:spAutoFit/>
          </a:bodyPr>
          <a:lstStyle/>
          <a:p>
            <a:pPr algn="ctr"/>
            <a:r>
              <a:rPr lang="en-US" dirty="0"/>
              <a:t>CPU (Brain)</a:t>
            </a:r>
          </a:p>
        </p:txBody>
      </p:sp>
      <p:pic>
        <p:nvPicPr>
          <p:cNvPr id="2054" name="Picture 6" descr="AMD Radeon RX 7900 XT">
            <a:extLst>
              <a:ext uri="{FF2B5EF4-FFF2-40B4-BE49-F238E27FC236}">
                <a16:creationId xmlns:a16="http://schemas.microsoft.com/office/drawing/2014/main" id="{65444FAD-6CB2-71A4-239B-1629E90611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4576" y="4454670"/>
            <a:ext cx="3048000" cy="1714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5E6AD12-6176-7632-C841-6092D916EA53}"/>
              </a:ext>
            </a:extLst>
          </p:cNvPr>
          <p:cNvSpPr txBox="1"/>
          <p:nvPr/>
        </p:nvSpPr>
        <p:spPr>
          <a:xfrm>
            <a:off x="4529426" y="6402107"/>
            <a:ext cx="3048000" cy="369332"/>
          </a:xfrm>
          <a:prstGeom prst="rect">
            <a:avLst/>
          </a:prstGeom>
          <a:noFill/>
        </p:spPr>
        <p:txBody>
          <a:bodyPr wrap="square" rtlCol="0">
            <a:spAutoFit/>
          </a:bodyPr>
          <a:lstStyle/>
          <a:p>
            <a:pPr algn="ctr"/>
            <a:r>
              <a:rPr lang="en-US" dirty="0"/>
              <a:t>GPU</a:t>
            </a:r>
          </a:p>
        </p:txBody>
      </p:sp>
      <p:pic>
        <p:nvPicPr>
          <p:cNvPr id="2056" name="Picture 8" descr="Thermaltake Gravity i2 95W 7-Bladed 92mm 4-Pins PWM Aluminum Extrusion CPU Cooling Fan for Intel Core i7/i5/i3 CLP0556-B">
            <a:extLst>
              <a:ext uri="{FF2B5EF4-FFF2-40B4-BE49-F238E27FC236}">
                <a16:creationId xmlns:a16="http://schemas.microsoft.com/office/drawing/2014/main" id="{374DB386-4319-8DD0-C322-F337DFF15A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5607" y="1064851"/>
            <a:ext cx="2857500" cy="25812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D190249-FECA-C457-DB1B-0A5403366491}"/>
              </a:ext>
            </a:extLst>
          </p:cNvPr>
          <p:cNvSpPr txBox="1"/>
          <p:nvPr/>
        </p:nvSpPr>
        <p:spPr>
          <a:xfrm>
            <a:off x="5815013" y="3897686"/>
            <a:ext cx="2857500" cy="369332"/>
          </a:xfrm>
          <a:prstGeom prst="rect">
            <a:avLst/>
          </a:prstGeom>
          <a:noFill/>
        </p:spPr>
        <p:txBody>
          <a:bodyPr wrap="square" rtlCol="0">
            <a:spAutoFit/>
          </a:bodyPr>
          <a:lstStyle/>
          <a:p>
            <a:pPr algn="ctr"/>
            <a:r>
              <a:rPr lang="en-US" dirty="0"/>
              <a:t>CPU COOLING FAN</a:t>
            </a:r>
          </a:p>
        </p:txBody>
      </p:sp>
      <p:pic>
        <p:nvPicPr>
          <p:cNvPr id="8" name="Picture 20" descr="Computer DDR RAM memory module">
            <a:extLst>
              <a:ext uri="{FF2B5EF4-FFF2-40B4-BE49-F238E27FC236}">
                <a16:creationId xmlns:a16="http://schemas.microsoft.com/office/drawing/2014/main" id="{388DAC3B-9E2E-F837-0EB6-3D0735DE75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2717" y="675750"/>
            <a:ext cx="2431083" cy="161423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0C89E22-0BA1-723F-84C9-77DD5A807744}"/>
              </a:ext>
            </a:extLst>
          </p:cNvPr>
          <p:cNvSpPr txBox="1"/>
          <p:nvPr/>
        </p:nvSpPr>
        <p:spPr>
          <a:xfrm>
            <a:off x="9558338" y="2415947"/>
            <a:ext cx="1795462" cy="369332"/>
          </a:xfrm>
          <a:prstGeom prst="rect">
            <a:avLst/>
          </a:prstGeom>
          <a:noFill/>
        </p:spPr>
        <p:txBody>
          <a:bodyPr wrap="square" rtlCol="0">
            <a:spAutoFit/>
          </a:bodyPr>
          <a:lstStyle/>
          <a:p>
            <a:pPr algn="ctr"/>
            <a:r>
              <a:rPr lang="en-US" dirty="0"/>
              <a:t>RAM</a:t>
            </a:r>
          </a:p>
        </p:txBody>
      </p:sp>
      <p:pic>
        <p:nvPicPr>
          <p:cNvPr id="2058" name="Picture 10" descr="DC 12V Cooling Fans">
            <a:extLst>
              <a:ext uri="{FF2B5EF4-FFF2-40B4-BE49-F238E27FC236}">
                <a16:creationId xmlns:a16="http://schemas.microsoft.com/office/drawing/2014/main" id="{A3E060C1-3070-5BAF-0292-61083695587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8194" b="17479"/>
          <a:stretch/>
        </p:blipFill>
        <p:spPr bwMode="auto">
          <a:xfrm>
            <a:off x="180109" y="4346000"/>
            <a:ext cx="2665270" cy="171450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7ED39D7-04BC-010B-454C-CF66302A78E2}"/>
              </a:ext>
            </a:extLst>
          </p:cNvPr>
          <p:cNvSpPr txBox="1"/>
          <p:nvPr/>
        </p:nvSpPr>
        <p:spPr>
          <a:xfrm>
            <a:off x="300038" y="6353836"/>
            <a:ext cx="2414876" cy="369332"/>
          </a:xfrm>
          <a:prstGeom prst="rect">
            <a:avLst/>
          </a:prstGeom>
          <a:noFill/>
        </p:spPr>
        <p:txBody>
          <a:bodyPr wrap="square" rtlCol="0">
            <a:spAutoFit/>
          </a:bodyPr>
          <a:lstStyle/>
          <a:p>
            <a:pPr algn="ctr"/>
            <a:r>
              <a:rPr lang="en-US" dirty="0"/>
              <a:t>COOLING FAN</a:t>
            </a:r>
          </a:p>
        </p:txBody>
      </p:sp>
      <p:pic>
        <p:nvPicPr>
          <p:cNvPr id="2060" name="Picture 12" descr="Western Digital WD Blue WD5000AZRZ 500GB 5.4K RPM SATA 6Gb/s 3.5in Hard Drive">
            <a:extLst>
              <a:ext uri="{FF2B5EF4-FFF2-40B4-BE49-F238E27FC236}">
                <a16:creationId xmlns:a16="http://schemas.microsoft.com/office/drawing/2014/main" id="{33C59A85-0C09-0C14-9A50-6843BEC93F1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3576" t="5243" r="11396" b="5326"/>
          <a:stretch/>
        </p:blipFill>
        <p:spPr bwMode="auto">
          <a:xfrm>
            <a:off x="2714914" y="4173703"/>
            <a:ext cx="1814512" cy="21628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F4EB747-4058-35F1-F5E3-B122D81EF369}"/>
              </a:ext>
            </a:extLst>
          </p:cNvPr>
          <p:cNvSpPr txBox="1"/>
          <p:nvPr/>
        </p:nvSpPr>
        <p:spPr>
          <a:xfrm>
            <a:off x="2883477" y="6353836"/>
            <a:ext cx="1645949" cy="369332"/>
          </a:xfrm>
          <a:prstGeom prst="rect">
            <a:avLst/>
          </a:prstGeom>
          <a:noFill/>
        </p:spPr>
        <p:txBody>
          <a:bodyPr wrap="square" rtlCol="0">
            <a:spAutoFit/>
          </a:bodyPr>
          <a:lstStyle/>
          <a:p>
            <a:r>
              <a:rPr lang="en-US" dirty="0"/>
              <a:t>HARD DISK</a:t>
            </a:r>
          </a:p>
        </p:txBody>
      </p:sp>
      <p:pic>
        <p:nvPicPr>
          <p:cNvPr id="2062" name="Picture 14" descr="PC Open Chassis Stackable Computer Case Heat Dissipation Acrylic ATX MATX ITX Motherboard Test Bench Platform DIY Computer Case Transparent Support CPU Water Cooling">
            <a:extLst>
              <a:ext uri="{FF2B5EF4-FFF2-40B4-BE49-F238E27FC236}">
                <a16:creationId xmlns:a16="http://schemas.microsoft.com/office/drawing/2014/main" id="{42B5F05A-F78D-526B-E958-E2117ACF1A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4648" y="3041668"/>
            <a:ext cx="3797351" cy="3366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627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66B4A-C91C-2A87-2128-CEFC4A8707E8}"/>
              </a:ext>
            </a:extLst>
          </p:cNvPr>
          <p:cNvSpPr>
            <a:spLocks noGrp="1"/>
          </p:cNvSpPr>
          <p:nvPr>
            <p:ph type="title"/>
          </p:nvPr>
        </p:nvSpPr>
        <p:spPr>
          <a:xfrm>
            <a:off x="838200" y="365126"/>
            <a:ext cx="10515600" cy="618548"/>
          </a:xfrm>
        </p:spPr>
        <p:txBody>
          <a:bodyPr>
            <a:normAutofit fontScale="90000"/>
          </a:bodyPr>
          <a:lstStyle/>
          <a:p>
            <a:r>
              <a:rPr lang="en-US" b="1" i="1" u="sng" dirty="0"/>
              <a:t>Laptops:</a:t>
            </a:r>
          </a:p>
        </p:txBody>
      </p:sp>
      <p:pic>
        <p:nvPicPr>
          <p:cNvPr id="5124" name="Picture 4" descr="Watch iFixit tear down the new MacBook Pro and test Apple’s official repair guides">
            <a:extLst>
              <a:ext uri="{FF2B5EF4-FFF2-40B4-BE49-F238E27FC236}">
                <a16:creationId xmlns:a16="http://schemas.microsoft.com/office/drawing/2014/main" id="{42004A1B-7BF7-773C-D0AA-855A6DB02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848591" y="2773361"/>
            <a:ext cx="4762500" cy="2676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83557AE-D45F-9AD4-7141-C6A5D64FA366}"/>
              </a:ext>
            </a:extLst>
          </p:cNvPr>
          <p:cNvPicPr>
            <a:picLocks noChangeAspect="1"/>
          </p:cNvPicPr>
          <p:nvPr/>
        </p:nvPicPr>
        <p:blipFill>
          <a:blip r:embed="rId3"/>
          <a:stretch>
            <a:fillRect/>
          </a:stretch>
        </p:blipFill>
        <p:spPr>
          <a:xfrm>
            <a:off x="3098270" y="72831"/>
            <a:ext cx="8899334" cy="6712338"/>
          </a:xfrm>
          <a:prstGeom prst="rect">
            <a:avLst/>
          </a:prstGeom>
        </p:spPr>
      </p:pic>
    </p:spTree>
    <p:extLst>
      <p:ext uri="{BB962C8B-B14F-4D97-AF65-F5344CB8AC3E}">
        <p14:creationId xmlns:p14="http://schemas.microsoft.com/office/powerpoint/2010/main" val="904169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45E1D-6FC8-B34B-ED86-4FD177F322E8}"/>
              </a:ext>
            </a:extLst>
          </p:cNvPr>
          <p:cNvSpPr>
            <a:spLocks noGrp="1"/>
          </p:cNvSpPr>
          <p:nvPr>
            <p:ph type="title"/>
          </p:nvPr>
        </p:nvSpPr>
        <p:spPr/>
        <p:txBody>
          <a:bodyPr/>
          <a:lstStyle/>
          <a:p>
            <a:r>
              <a:rPr lang="en-US" dirty="0"/>
              <a:t>Why Computer need Memory(storage) ?</a:t>
            </a:r>
          </a:p>
        </p:txBody>
      </p:sp>
      <p:sp>
        <p:nvSpPr>
          <p:cNvPr id="3" name="Content Placeholder 2">
            <a:extLst>
              <a:ext uri="{FF2B5EF4-FFF2-40B4-BE49-F238E27FC236}">
                <a16:creationId xmlns:a16="http://schemas.microsoft.com/office/drawing/2014/main" id="{0FCDF5CE-CD15-8E3C-150C-3BE53F73C957}"/>
              </a:ext>
            </a:extLst>
          </p:cNvPr>
          <p:cNvSpPr>
            <a:spLocks noGrp="1"/>
          </p:cNvSpPr>
          <p:nvPr>
            <p:ph idx="1"/>
          </p:nvPr>
        </p:nvSpPr>
        <p:spPr>
          <a:xfrm>
            <a:off x="838200" y="1825625"/>
            <a:ext cx="10515600" cy="1974850"/>
          </a:xfrm>
        </p:spPr>
        <p:txBody>
          <a:bodyPr/>
          <a:lstStyle/>
          <a:p>
            <a:endParaRPr lang="en-US" dirty="0"/>
          </a:p>
          <a:p>
            <a:endParaRPr lang="en-US" dirty="0"/>
          </a:p>
          <a:p>
            <a:r>
              <a:rPr lang="en-US" dirty="0"/>
              <a:t>A computer without memory(storage) wouldn’t be able to load or run programs. The CPU requires memory to fetch instructions and store data as it processes tasks. Without it, the CPU wouldn’t know what to do or where to find the data it needs.</a:t>
            </a:r>
          </a:p>
          <a:p>
            <a:endParaRPr lang="en-US" dirty="0"/>
          </a:p>
          <a:p>
            <a:endParaRPr lang="en-US" dirty="0"/>
          </a:p>
        </p:txBody>
      </p:sp>
      <p:sp>
        <p:nvSpPr>
          <p:cNvPr id="6" name="TextBox 5">
            <a:extLst>
              <a:ext uri="{FF2B5EF4-FFF2-40B4-BE49-F238E27FC236}">
                <a16:creationId xmlns:a16="http://schemas.microsoft.com/office/drawing/2014/main" id="{F0212D57-27E0-1537-B041-195857A6C39D}"/>
              </a:ext>
            </a:extLst>
          </p:cNvPr>
          <p:cNvSpPr txBox="1"/>
          <p:nvPr/>
        </p:nvSpPr>
        <p:spPr>
          <a:xfrm>
            <a:off x="3046810" y="3608665"/>
            <a:ext cx="6093618" cy="2308324"/>
          </a:xfrm>
          <a:prstGeom prst="rect">
            <a:avLst/>
          </a:prstGeom>
          <a:noFill/>
        </p:spPr>
        <p:txBody>
          <a:bodyPr wrap="square">
            <a:spAutoFit/>
          </a:bodyPr>
          <a:lstStyle/>
          <a:p>
            <a:r>
              <a:rPr lang="en-US" sz="4800" dirty="0"/>
              <a:t>So how many types of memory(storage) are there?</a:t>
            </a:r>
          </a:p>
        </p:txBody>
      </p:sp>
    </p:spTree>
    <p:extLst>
      <p:ext uri="{BB962C8B-B14F-4D97-AF65-F5344CB8AC3E}">
        <p14:creationId xmlns:p14="http://schemas.microsoft.com/office/powerpoint/2010/main" val="2644772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75B28-5AF8-38CF-BD8F-3EE654CF9384}"/>
              </a:ext>
            </a:extLst>
          </p:cNvPr>
          <p:cNvSpPr>
            <a:spLocks noGrp="1"/>
          </p:cNvSpPr>
          <p:nvPr>
            <p:ph type="title"/>
          </p:nvPr>
        </p:nvSpPr>
        <p:spPr/>
        <p:txBody>
          <a:bodyPr/>
          <a:lstStyle/>
          <a:p>
            <a:r>
              <a:rPr lang="en-US" b="1" u="sng" dirty="0"/>
              <a:t>Primary(Temporary) and Secondary Memory(Permanent)</a:t>
            </a:r>
          </a:p>
        </p:txBody>
      </p:sp>
      <p:sp>
        <p:nvSpPr>
          <p:cNvPr id="3" name="Content Placeholder 2">
            <a:extLst>
              <a:ext uri="{FF2B5EF4-FFF2-40B4-BE49-F238E27FC236}">
                <a16:creationId xmlns:a16="http://schemas.microsoft.com/office/drawing/2014/main" id="{07EFFB38-B6F0-F904-D551-AEFC9410B106}"/>
              </a:ext>
            </a:extLst>
          </p:cNvPr>
          <p:cNvSpPr>
            <a:spLocks noGrp="1"/>
          </p:cNvSpPr>
          <p:nvPr>
            <p:ph idx="1"/>
          </p:nvPr>
        </p:nvSpPr>
        <p:spPr/>
        <p:txBody>
          <a:bodyPr/>
          <a:lstStyle/>
          <a:p>
            <a:r>
              <a:rPr lang="en-US" b="1" dirty="0"/>
              <a:t>Primary memory</a:t>
            </a:r>
            <a:r>
              <a:rPr lang="en-US" dirty="0"/>
              <a:t> is the memory directly accessible by the CPU. It is used to store data and instructions that the CPU is actively working on. This memory is fast and volatile, meaning it loses its contents when the computer is powered off. Examples:- RAM, Cache</a:t>
            </a:r>
          </a:p>
          <a:p>
            <a:endParaRPr lang="en-US" dirty="0"/>
          </a:p>
          <a:p>
            <a:r>
              <a:rPr lang="en-US" b="1" dirty="0"/>
              <a:t>Secondary memory</a:t>
            </a:r>
            <a:r>
              <a:rPr lang="en-US" dirty="0"/>
              <a:t> refers to storage devices that provide long-term data storage. Unlike primary memory, secondary memory is non-volatile, meaning it retains data even when the computer is powered off. Examples:-  HDD, SSD, CD, DVD, Pen Drive, External HDD.</a:t>
            </a:r>
          </a:p>
        </p:txBody>
      </p:sp>
    </p:spTree>
    <p:extLst>
      <p:ext uri="{BB962C8B-B14F-4D97-AF65-F5344CB8AC3E}">
        <p14:creationId xmlns:p14="http://schemas.microsoft.com/office/powerpoint/2010/main" val="2593899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CB15CC-1F85-03FC-5573-DFB4FB9BE9F2}"/>
              </a:ext>
            </a:extLst>
          </p:cNvPr>
          <p:cNvGraphicFramePr>
            <a:graphicFrameLocks noGrp="1"/>
          </p:cNvGraphicFramePr>
          <p:nvPr>
            <p:ph idx="1"/>
            <p:extLst>
              <p:ext uri="{D42A27DB-BD31-4B8C-83A1-F6EECF244321}">
                <p14:modId xmlns:p14="http://schemas.microsoft.com/office/powerpoint/2010/main" val="1216650743"/>
              </p:ext>
            </p:extLst>
          </p:nvPr>
        </p:nvGraphicFramePr>
        <p:xfrm>
          <a:off x="500062" y="1874520"/>
          <a:ext cx="10515600" cy="3383280"/>
        </p:xfrm>
        <a:graphic>
          <a:graphicData uri="http://schemas.openxmlformats.org/drawingml/2006/table">
            <a:tbl>
              <a:tblPr>
                <a:tableStyleId>{D7AC3CCA-C797-4891-BE02-D94E43425B78}</a:tableStyleId>
              </a:tblPr>
              <a:tblGrid>
                <a:gridCol w="3505200">
                  <a:extLst>
                    <a:ext uri="{9D8B030D-6E8A-4147-A177-3AD203B41FA5}">
                      <a16:colId xmlns:a16="http://schemas.microsoft.com/office/drawing/2014/main" val="122694658"/>
                    </a:ext>
                  </a:extLst>
                </a:gridCol>
                <a:gridCol w="3505200">
                  <a:extLst>
                    <a:ext uri="{9D8B030D-6E8A-4147-A177-3AD203B41FA5}">
                      <a16:colId xmlns:a16="http://schemas.microsoft.com/office/drawing/2014/main" val="241048833"/>
                    </a:ext>
                  </a:extLst>
                </a:gridCol>
                <a:gridCol w="3505200">
                  <a:extLst>
                    <a:ext uri="{9D8B030D-6E8A-4147-A177-3AD203B41FA5}">
                      <a16:colId xmlns:a16="http://schemas.microsoft.com/office/drawing/2014/main" val="682384141"/>
                    </a:ext>
                  </a:extLst>
                </a:gridCol>
              </a:tblGrid>
              <a:tr h="0">
                <a:tc>
                  <a:txBody>
                    <a:bodyPr/>
                    <a:lstStyle/>
                    <a:p>
                      <a:r>
                        <a:rPr lang="en-US"/>
                        <a:t>Feature</a:t>
                      </a:r>
                    </a:p>
                  </a:txBody>
                  <a:tcPr anchor="ctr"/>
                </a:tc>
                <a:tc>
                  <a:txBody>
                    <a:bodyPr/>
                    <a:lstStyle/>
                    <a:p>
                      <a:r>
                        <a:rPr lang="en-US"/>
                        <a:t>Primary Memory (RAM)</a:t>
                      </a:r>
                    </a:p>
                  </a:txBody>
                  <a:tcPr anchor="ctr"/>
                </a:tc>
                <a:tc>
                  <a:txBody>
                    <a:bodyPr/>
                    <a:lstStyle/>
                    <a:p>
                      <a:r>
                        <a:rPr lang="en-US"/>
                        <a:t>Secondary Memory</a:t>
                      </a:r>
                    </a:p>
                  </a:txBody>
                  <a:tcPr anchor="ctr"/>
                </a:tc>
                <a:extLst>
                  <a:ext uri="{0D108BD9-81ED-4DB2-BD59-A6C34878D82A}">
                    <a16:rowId xmlns:a16="http://schemas.microsoft.com/office/drawing/2014/main" val="1192260881"/>
                  </a:ext>
                </a:extLst>
              </a:tr>
              <a:tr h="0">
                <a:tc>
                  <a:txBody>
                    <a:bodyPr/>
                    <a:lstStyle/>
                    <a:p>
                      <a:r>
                        <a:rPr lang="en-US" b="1" dirty="0"/>
                        <a:t>Speed</a:t>
                      </a:r>
                      <a:endParaRPr lang="en-US" dirty="0"/>
                    </a:p>
                  </a:txBody>
                  <a:tcPr anchor="ctr"/>
                </a:tc>
                <a:tc>
                  <a:txBody>
                    <a:bodyPr/>
                    <a:lstStyle/>
                    <a:p>
                      <a:r>
                        <a:rPr lang="en-US"/>
                        <a:t>Very fast</a:t>
                      </a:r>
                    </a:p>
                  </a:txBody>
                  <a:tcPr anchor="ctr"/>
                </a:tc>
                <a:tc>
                  <a:txBody>
                    <a:bodyPr/>
                    <a:lstStyle/>
                    <a:p>
                      <a:r>
                        <a:rPr lang="en-US"/>
                        <a:t>Slower</a:t>
                      </a:r>
                    </a:p>
                  </a:txBody>
                  <a:tcPr anchor="ctr"/>
                </a:tc>
                <a:extLst>
                  <a:ext uri="{0D108BD9-81ED-4DB2-BD59-A6C34878D82A}">
                    <a16:rowId xmlns:a16="http://schemas.microsoft.com/office/drawing/2014/main" val="652854885"/>
                  </a:ext>
                </a:extLst>
              </a:tr>
              <a:tr h="0">
                <a:tc>
                  <a:txBody>
                    <a:bodyPr/>
                    <a:lstStyle/>
                    <a:p>
                      <a:r>
                        <a:rPr lang="en-US" b="1"/>
                        <a:t>Volatility</a:t>
                      </a:r>
                      <a:endParaRPr lang="en-US"/>
                    </a:p>
                  </a:txBody>
                  <a:tcPr anchor="ctr"/>
                </a:tc>
                <a:tc>
                  <a:txBody>
                    <a:bodyPr/>
                    <a:lstStyle/>
                    <a:p>
                      <a:r>
                        <a:rPr lang="en-US"/>
                        <a:t>Volatile (data is lost when power is off)</a:t>
                      </a:r>
                    </a:p>
                  </a:txBody>
                  <a:tcPr anchor="ctr"/>
                </a:tc>
                <a:tc>
                  <a:txBody>
                    <a:bodyPr/>
                    <a:lstStyle/>
                    <a:p>
                      <a:r>
                        <a:rPr lang="en-US"/>
                        <a:t>Non-volatile (data is retained)</a:t>
                      </a:r>
                    </a:p>
                  </a:txBody>
                  <a:tcPr anchor="ctr"/>
                </a:tc>
                <a:extLst>
                  <a:ext uri="{0D108BD9-81ED-4DB2-BD59-A6C34878D82A}">
                    <a16:rowId xmlns:a16="http://schemas.microsoft.com/office/drawing/2014/main" val="3736595367"/>
                  </a:ext>
                </a:extLst>
              </a:tr>
              <a:tr h="0">
                <a:tc>
                  <a:txBody>
                    <a:bodyPr/>
                    <a:lstStyle/>
                    <a:p>
                      <a:r>
                        <a:rPr lang="en-US" b="1"/>
                        <a:t>Capacity</a:t>
                      </a:r>
                      <a:endParaRPr lang="en-US"/>
                    </a:p>
                  </a:txBody>
                  <a:tcPr anchor="ctr"/>
                </a:tc>
                <a:tc>
                  <a:txBody>
                    <a:bodyPr/>
                    <a:lstStyle/>
                    <a:p>
                      <a:r>
                        <a:rPr lang="en-US" dirty="0"/>
                        <a:t>Limited (smaller in size)</a:t>
                      </a:r>
                    </a:p>
                  </a:txBody>
                  <a:tcPr anchor="ctr"/>
                </a:tc>
                <a:tc>
                  <a:txBody>
                    <a:bodyPr/>
                    <a:lstStyle/>
                    <a:p>
                      <a:r>
                        <a:rPr lang="en-US"/>
                        <a:t>Larger (greater storage capacity)</a:t>
                      </a:r>
                    </a:p>
                  </a:txBody>
                  <a:tcPr anchor="ctr"/>
                </a:tc>
                <a:extLst>
                  <a:ext uri="{0D108BD9-81ED-4DB2-BD59-A6C34878D82A}">
                    <a16:rowId xmlns:a16="http://schemas.microsoft.com/office/drawing/2014/main" val="2755571241"/>
                  </a:ext>
                </a:extLst>
              </a:tr>
              <a:tr h="0">
                <a:tc>
                  <a:txBody>
                    <a:bodyPr/>
                    <a:lstStyle/>
                    <a:p>
                      <a:r>
                        <a:rPr lang="en-US" b="1"/>
                        <a:t>Direct Access by CPU</a:t>
                      </a:r>
                      <a:endParaRPr lang="en-US"/>
                    </a:p>
                  </a:txBody>
                  <a:tcPr anchor="ctr"/>
                </a:tc>
                <a:tc>
                  <a:txBody>
                    <a:bodyPr/>
                    <a:lstStyle/>
                    <a:p>
                      <a:r>
                        <a:rPr lang="en-US" dirty="0"/>
                        <a:t>Yes</a:t>
                      </a:r>
                    </a:p>
                  </a:txBody>
                  <a:tcPr anchor="ctr"/>
                </a:tc>
                <a:tc>
                  <a:txBody>
                    <a:bodyPr/>
                    <a:lstStyle/>
                    <a:p>
                      <a:r>
                        <a:rPr lang="en-US"/>
                        <a:t>No (must load into RAM first)</a:t>
                      </a:r>
                    </a:p>
                  </a:txBody>
                  <a:tcPr anchor="ctr"/>
                </a:tc>
                <a:extLst>
                  <a:ext uri="{0D108BD9-81ED-4DB2-BD59-A6C34878D82A}">
                    <a16:rowId xmlns:a16="http://schemas.microsoft.com/office/drawing/2014/main" val="1536218132"/>
                  </a:ext>
                </a:extLst>
              </a:tr>
              <a:tr h="0">
                <a:tc>
                  <a:txBody>
                    <a:bodyPr/>
                    <a:lstStyle/>
                    <a:p>
                      <a:r>
                        <a:rPr lang="en-US" b="1"/>
                        <a:t>Cost</a:t>
                      </a:r>
                      <a:endParaRPr lang="en-US"/>
                    </a:p>
                  </a:txBody>
                  <a:tcPr anchor="ctr"/>
                </a:tc>
                <a:tc>
                  <a:txBody>
                    <a:bodyPr/>
                    <a:lstStyle/>
                    <a:p>
                      <a:r>
                        <a:rPr lang="en-US"/>
                        <a:t>More expensive per GB</a:t>
                      </a:r>
                    </a:p>
                  </a:txBody>
                  <a:tcPr anchor="ctr"/>
                </a:tc>
                <a:tc>
                  <a:txBody>
                    <a:bodyPr/>
                    <a:lstStyle/>
                    <a:p>
                      <a:r>
                        <a:rPr lang="en-US" dirty="0"/>
                        <a:t>Less expensive per GB</a:t>
                      </a:r>
                    </a:p>
                  </a:txBody>
                  <a:tcPr anchor="ctr"/>
                </a:tc>
                <a:extLst>
                  <a:ext uri="{0D108BD9-81ED-4DB2-BD59-A6C34878D82A}">
                    <a16:rowId xmlns:a16="http://schemas.microsoft.com/office/drawing/2014/main" val="817147764"/>
                  </a:ext>
                </a:extLst>
              </a:tr>
              <a:tr h="0">
                <a:tc>
                  <a:txBody>
                    <a:bodyPr/>
                    <a:lstStyle/>
                    <a:p>
                      <a:r>
                        <a:rPr lang="en-US" b="1" dirty="0"/>
                        <a:t>Examples</a:t>
                      </a:r>
                      <a:endParaRPr lang="en-US" dirty="0"/>
                    </a:p>
                  </a:txBody>
                  <a:tcPr anchor="ctr"/>
                </a:tc>
                <a:tc>
                  <a:txBody>
                    <a:bodyPr/>
                    <a:lstStyle/>
                    <a:p>
                      <a:r>
                        <a:rPr lang="en-US"/>
                        <a:t>RAM, Cache Memory</a:t>
                      </a:r>
                    </a:p>
                  </a:txBody>
                  <a:tcPr anchor="ctr"/>
                </a:tc>
                <a:tc>
                  <a:txBody>
                    <a:bodyPr/>
                    <a:lstStyle/>
                    <a:p>
                      <a:r>
                        <a:rPr lang="en-US" dirty="0"/>
                        <a:t>Hard Drives, SSDs, USB Drives, DVDs</a:t>
                      </a:r>
                    </a:p>
                  </a:txBody>
                  <a:tcPr anchor="ctr"/>
                </a:tc>
                <a:extLst>
                  <a:ext uri="{0D108BD9-81ED-4DB2-BD59-A6C34878D82A}">
                    <a16:rowId xmlns:a16="http://schemas.microsoft.com/office/drawing/2014/main" val="3381725384"/>
                  </a:ext>
                </a:extLst>
              </a:tr>
            </a:tbl>
          </a:graphicData>
        </a:graphic>
      </p:graphicFrame>
      <p:sp>
        <p:nvSpPr>
          <p:cNvPr id="5" name="Rectangle 1">
            <a:extLst>
              <a:ext uri="{FF2B5EF4-FFF2-40B4-BE49-F238E27FC236}">
                <a16:creationId xmlns:a16="http://schemas.microsoft.com/office/drawing/2014/main" id="{0FD48742-E8A6-AA1E-79AD-6DD3BEDB10B8}"/>
              </a:ext>
            </a:extLst>
          </p:cNvPr>
          <p:cNvSpPr>
            <a:spLocks noChangeArrowheads="1"/>
          </p:cNvSpPr>
          <p:nvPr/>
        </p:nvSpPr>
        <p:spPr bwMode="auto">
          <a:xfrm>
            <a:off x="614363" y="522001"/>
            <a:ext cx="94564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1" u="sng" strike="noStrike" cap="none" normalizeH="0" baseline="0" dirty="0">
                <a:ln>
                  <a:noFill/>
                </a:ln>
                <a:solidFill>
                  <a:schemeClr val="bg1"/>
                </a:solidFill>
                <a:effectLst/>
                <a:latin typeface="Arial" panose="020B0604020202020204" pitchFamily="34" charset="0"/>
              </a:rPr>
              <a:t>Comparison of Primary and Secondary Memory</a:t>
            </a:r>
          </a:p>
        </p:txBody>
      </p:sp>
    </p:spTree>
    <p:extLst>
      <p:ext uri="{BB962C8B-B14F-4D97-AF65-F5344CB8AC3E}">
        <p14:creationId xmlns:p14="http://schemas.microsoft.com/office/powerpoint/2010/main" val="4236958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F55C-0BF0-F3B5-C948-39D38D6E6DF8}"/>
              </a:ext>
            </a:extLst>
          </p:cNvPr>
          <p:cNvSpPr>
            <a:spLocks noGrp="1"/>
          </p:cNvSpPr>
          <p:nvPr>
            <p:ph type="title"/>
          </p:nvPr>
        </p:nvSpPr>
        <p:spPr/>
        <p:txBody>
          <a:bodyPr/>
          <a:lstStyle/>
          <a:p>
            <a:r>
              <a:rPr lang="en-US" dirty="0"/>
              <a:t>RAM(MEMORY) (Temporary Storage)</a:t>
            </a:r>
          </a:p>
        </p:txBody>
      </p:sp>
      <p:sp>
        <p:nvSpPr>
          <p:cNvPr id="5" name="Content Placeholder 4">
            <a:extLst>
              <a:ext uri="{FF2B5EF4-FFF2-40B4-BE49-F238E27FC236}">
                <a16:creationId xmlns:a16="http://schemas.microsoft.com/office/drawing/2014/main" id="{B8369AAA-F0B1-1751-4321-C7639A545D22}"/>
              </a:ext>
            </a:extLst>
          </p:cNvPr>
          <p:cNvSpPr>
            <a:spLocks noGrp="1"/>
          </p:cNvSpPr>
          <p:nvPr>
            <p:ph idx="1"/>
          </p:nvPr>
        </p:nvSpPr>
        <p:spPr>
          <a:xfrm>
            <a:off x="0" y="1652587"/>
            <a:ext cx="11353800" cy="4524376"/>
          </a:xfrm>
        </p:spPr>
        <p:txBody>
          <a:bodyPr/>
          <a:lstStyle/>
          <a:p>
            <a:pPr marL="0" indent="0">
              <a:buNone/>
            </a:pPr>
            <a:endParaRPr lang="en-US" sz="2800" dirty="0"/>
          </a:p>
          <a:p>
            <a:pPr marL="0" indent="0">
              <a:buNone/>
            </a:pPr>
            <a:r>
              <a:rPr lang="en-US" sz="2800" dirty="0"/>
              <a:t>In Many Laptops </a:t>
            </a:r>
          </a:p>
          <a:p>
            <a:pPr marL="0" indent="0">
              <a:buNone/>
            </a:pPr>
            <a:r>
              <a:rPr lang="en-US" sz="2800" dirty="0"/>
              <a:t>RAM is Soldered on </a:t>
            </a:r>
          </a:p>
          <a:p>
            <a:pPr marL="0" indent="0">
              <a:buNone/>
            </a:pPr>
            <a:r>
              <a:rPr lang="en-US" sz="2800" dirty="0"/>
              <a:t>to the Motherboard.</a:t>
            </a:r>
            <a:endParaRPr lang="en-US" dirty="0"/>
          </a:p>
        </p:txBody>
      </p:sp>
      <p:pic>
        <p:nvPicPr>
          <p:cNvPr id="2052" name="Picture 4" descr="ram">
            <a:extLst>
              <a:ext uri="{FF2B5EF4-FFF2-40B4-BE49-F238E27FC236}">
                <a16:creationId xmlns:a16="http://schemas.microsoft.com/office/drawing/2014/main" id="{1BF50732-33D5-0669-10D9-679F01730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0889" y="1681162"/>
            <a:ext cx="4714875" cy="34956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orsair Vengeance RGB Pro 32GB (2x16GB) DDR4 3200 (PC4-25600) C16 Desktop Memory - Black">
            <a:extLst>
              <a:ext uri="{FF2B5EF4-FFF2-40B4-BE49-F238E27FC236}">
                <a16:creationId xmlns:a16="http://schemas.microsoft.com/office/drawing/2014/main" id="{469A35F6-9DC8-EE37-04EC-EA563D81BE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927" b="23594"/>
          <a:stretch/>
        </p:blipFill>
        <p:spPr bwMode="auto">
          <a:xfrm>
            <a:off x="8005764" y="1652587"/>
            <a:ext cx="3895725" cy="22002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SKILL Ripjaws V Series 16GB (2 x 8GB) 288-Pin PC RAM DDR4 3600 (PC4 28800) Desktop Memory Model F4-3600C16D-16GVKC">
            <a:extLst>
              <a:ext uri="{FF2B5EF4-FFF2-40B4-BE49-F238E27FC236}">
                <a16:creationId xmlns:a16="http://schemas.microsoft.com/office/drawing/2014/main" id="{9DBEFAAE-2CFC-2C3E-9017-D7A8690CBF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4138612"/>
            <a:ext cx="38100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04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4608-9D5B-D1C0-F255-070426C1711F}"/>
              </a:ext>
            </a:extLst>
          </p:cNvPr>
          <p:cNvSpPr>
            <a:spLocks noGrp="1"/>
          </p:cNvSpPr>
          <p:nvPr>
            <p:ph type="title"/>
          </p:nvPr>
        </p:nvSpPr>
        <p:spPr>
          <a:xfrm>
            <a:off x="838200" y="365125"/>
            <a:ext cx="10515600" cy="701675"/>
          </a:xfrm>
        </p:spPr>
        <p:txBody>
          <a:bodyPr>
            <a:normAutofit/>
          </a:bodyPr>
          <a:lstStyle/>
          <a:p>
            <a:r>
              <a:rPr lang="en-US" b="1" i="1" u="sng" dirty="0"/>
              <a:t>RAM(MEMORY) and its importance in forensics</a:t>
            </a:r>
          </a:p>
        </p:txBody>
      </p:sp>
      <p:sp>
        <p:nvSpPr>
          <p:cNvPr id="7" name="TextBox 6">
            <a:extLst>
              <a:ext uri="{FF2B5EF4-FFF2-40B4-BE49-F238E27FC236}">
                <a16:creationId xmlns:a16="http://schemas.microsoft.com/office/drawing/2014/main" id="{C7514D76-CA58-87A1-6C6E-5AC024192583}"/>
              </a:ext>
            </a:extLst>
          </p:cNvPr>
          <p:cNvSpPr txBox="1"/>
          <p:nvPr/>
        </p:nvSpPr>
        <p:spPr>
          <a:xfrm>
            <a:off x="651164" y="1634836"/>
            <a:ext cx="11278899" cy="4770537"/>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Contains the data of Open Files, Running Programs, Background Processes, Memory-resident Malware.</a:t>
            </a:r>
          </a:p>
          <a:p>
            <a:endParaRPr lang="en-US" sz="2400" dirty="0"/>
          </a:p>
          <a:p>
            <a:pPr marL="285750" indent="-285750">
              <a:buFont typeface="Arial" panose="020B0604020202020204" pitchFamily="34" charset="0"/>
              <a:buChar char="•"/>
            </a:pPr>
            <a:r>
              <a:rPr lang="en-US" sz="2400" dirty="0"/>
              <a:t>Contains the key of Bit-locked drive and Password Manager.</a:t>
            </a:r>
          </a:p>
          <a:p>
            <a:endParaRPr lang="en-US" sz="2400" dirty="0"/>
          </a:p>
          <a:p>
            <a:pPr marL="285750" indent="-285750">
              <a:buFont typeface="Arial" panose="020B0604020202020204" pitchFamily="34" charset="0"/>
              <a:buChar char="•"/>
            </a:pPr>
            <a:r>
              <a:rPr lang="en-US" sz="2400" dirty="0"/>
              <a:t>Contains the Active Network Connections(Ip address, ports), Routing Tables, Session Data(Web browsing sessions, email logs, chat history that could be actively ongoing)</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2400" dirty="0"/>
              <a:t>System Information like: Login Info, System Logs, etc.</a:t>
            </a:r>
          </a:p>
        </p:txBody>
      </p:sp>
    </p:spTree>
    <p:extLst>
      <p:ext uri="{BB962C8B-B14F-4D97-AF65-F5344CB8AC3E}">
        <p14:creationId xmlns:p14="http://schemas.microsoft.com/office/powerpoint/2010/main" val="3520962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9E49F-26CD-B229-4481-2A8338AF5140}"/>
              </a:ext>
            </a:extLst>
          </p:cNvPr>
          <p:cNvSpPr>
            <a:spLocks noGrp="1"/>
          </p:cNvSpPr>
          <p:nvPr>
            <p:ph type="title"/>
          </p:nvPr>
        </p:nvSpPr>
        <p:spPr>
          <a:xfrm>
            <a:off x="838200" y="365125"/>
            <a:ext cx="10515600" cy="507711"/>
          </a:xfrm>
        </p:spPr>
        <p:txBody>
          <a:bodyPr>
            <a:normAutofit fontScale="90000"/>
          </a:bodyPr>
          <a:lstStyle/>
          <a:p>
            <a:r>
              <a:rPr lang="en-US" dirty="0"/>
              <a:t>Hard Disk and Solid State Drives</a:t>
            </a:r>
          </a:p>
        </p:txBody>
      </p:sp>
      <p:pic>
        <p:nvPicPr>
          <p:cNvPr id="4098" name="Picture 2" descr="HDD">
            <a:extLst>
              <a:ext uri="{FF2B5EF4-FFF2-40B4-BE49-F238E27FC236}">
                <a16:creationId xmlns:a16="http://schemas.microsoft.com/office/drawing/2014/main" id="{1CA64B49-FD8E-F358-0A6C-75A6C37373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800" y="1064130"/>
            <a:ext cx="3769282" cy="251034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SD">
            <a:extLst>
              <a:ext uri="{FF2B5EF4-FFF2-40B4-BE49-F238E27FC236}">
                <a16:creationId xmlns:a16="http://schemas.microsoft.com/office/drawing/2014/main" id="{74A2CD27-59FC-89D0-8E5E-21A1AAC52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967" y="4115233"/>
            <a:ext cx="3150947" cy="209853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Kingston SSDs of various form factors">
            <a:extLst>
              <a:ext uri="{FF2B5EF4-FFF2-40B4-BE49-F238E27FC236}">
                <a16:creationId xmlns:a16="http://schemas.microsoft.com/office/drawing/2014/main" id="{D0F6A4D6-B183-5AA2-670E-B01E9B674D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1443" y="365124"/>
            <a:ext cx="3857625" cy="649287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n external hard diak">
            <a:extLst>
              <a:ext uri="{FF2B5EF4-FFF2-40B4-BE49-F238E27FC236}">
                <a16:creationId xmlns:a16="http://schemas.microsoft.com/office/drawing/2014/main" id="{D69AF1D9-5E0F-EB9A-A194-F463DE03B3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7693" y="962891"/>
            <a:ext cx="3333750" cy="2466109"/>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NVMe SSD">
            <a:extLst>
              <a:ext uri="{FF2B5EF4-FFF2-40B4-BE49-F238E27FC236}">
                <a16:creationId xmlns:a16="http://schemas.microsoft.com/office/drawing/2014/main" id="{E70D67C3-54CD-068D-761D-A7F09271BC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8042" y="3246437"/>
            <a:ext cx="2381250" cy="3246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033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BAED7-935A-C516-254D-045BA770FFE7}"/>
              </a:ext>
            </a:extLst>
          </p:cNvPr>
          <p:cNvSpPr>
            <a:spLocks noGrp="1"/>
          </p:cNvSpPr>
          <p:nvPr>
            <p:ph type="title"/>
          </p:nvPr>
        </p:nvSpPr>
        <p:spPr>
          <a:xfrm>
            <a:off x="838200" y="365126"/>
            <a:ext cx="10515600" cy="937202"/>
          </a:xfrm>
        </p:spPr>
        <p:txBody>
          <a:bodyPr/>
          <a:lstStyle/>
          <a:p>
            <a:r>
              <a:rPr lang="en-US" b="1" i="1" u="sng" dirty="0"/>
              <a:t>Evidence present into the HDD or SSD</a:t>
            </a:r>
          </a:p>
        </p:txBody>
      </p:sp>
      <p:sp>
        <p:nvSpPr>
          <p:cNvPr id="3" name="Content Placeholder 2">
            <a:extLst>
              <a:ext uri="{FF2B5EF4-FFF2-40B4-BE49-F238E27FC236}">
                <a16:creationId xmlns:a16="http://schemas.microsoft.com/office/drawing/2014/main" id="{40E59D62-6B6A-B08E-379A-EDB87EF03BC5}"/>
              </a:ext>
            </a:extLst>
          </p:cNvPr>
          <p:cNvSpPr>
            <a:spLocks noGrp="1"/>
          </p:cNvSpPr>
          <p:nvPr>
            <p:ph idx="1"/>
          </p:nvPr>
        </p:nvSpPr>
        <p:spPr>
          <a:xfrm>
            <a:off x="838200" y="1302328"/>
            <a:ext cx="10515600" cy="5555672"/>
          </a:xfrm>
        </p:spPr>
        <p:txBody>
          <a:bodyPr>
            <a:normAutofit fontScale="92500" lnSpcReduction="10000"/>
          </a:bodyPr>
          <a:lstStyle/>
          <a:p>
            <a:endParaRPr lang="en-US" sz="2000" b="1" dirty="0"/>
          </a:p>
          <a:p>
            <a:endParaRPr lang="en-US" sz="2000" b="1" dirty="0"/>
          </a:p>
          <a:p>
            <a:endParaRPr lang="en-US" sz="2000" b="1" dirty="0"/>
          </a:p>
          <a:p>
            <a:r>
              <a:rPr lang="en-US" sz="2400" b="1" dirty="0"/>
              <a:t>Artifacts:</a:t>
            </a:r>
            <a:r>
              <a:rPr lang="en-US" sz="2400" dirty="0"/>
              <a:t> Pictures, videos, audio, emails, files and documents.</a:t>
            </a:r>
          </a:p>
          <a:p>
            <a:pPr marL="0" indent="0">
              <a:buNone/>
            </a:pPr>
            <a:endParaRPr lang="en-US" sz="2400" dirty="0"/>
          </a:p>
          <a:p>
            <a:r>
              <a:rPr lang="en-US" sz="2400" b="1" dirty="0"/>
              <a:t>Metadata:</a:t>
            </a:r>
            <a:r>
              <a:rPr lang="en-US" sz="2400" dirty="0"/>
              <a:t> Timesteps, permissions and asceses control lists(ACL) provide valuable context about file creation, modification and deletion.</a:t>
            </a:r>
          </a:p>
          <a:p>
            <a:pPr marL="0" indent="0">
              <a:buNone/>
            </a:pPr>
            <a:endParaRPr lang="en-US" sz="2400" dirty="0"/>
          </a:p>
          <a:p>
            <a:r>
              <a:rPr lang="en-US" sz="2400" b="1" dirty="0">
                <a:latin typeface="Calibri (Body)"/>
              </a:rPr>
              <a:t>Alternate Data Streams (ADS) : </a:t>
            </a:r>
            <a:r>
              <a:rPr lang="en-US" sz="2400" dirty="0">
                <a:latin typeface="Calibri (Body)"/>
              </a:rPr>
              <a:t>Hidden data within files, which can contain sensitive information, such as password or encryption keys.</a:t>
            </a:r>
          </a:p>
          <a:p>
            <a:endParaRPr lang="en-US" sz="2400" dirty="0">
              <a:latin typeface="Calibri (Body)"/>
            </a:endParaRPr>
          </a:p>
          <a:p>
            <a:r>
              <a:rPr lang="en-US" sz="2400" b="1" dirty="0">
                <a:latin typeface="Calibri (Body)"/>
              </a:rPr>
              <a:t>File System Artifacts: </a:t>
            </a:r>
            <a:r>
              <a:rPr lang="en-US" sz="2400" dirty="0">
                <a:latin typeface="Calibri (Body)"/>
              </a:rPr>
              <a:t>Reconstruct the system and understand data modification timelines. By examining file metadata, logs, file slack, unallocated space, and other artifacts.</a:t>
            </a:r>
          </a:p>
        </p:txBody>
      </p:sp>
    </p:spTree>
    <p:extLst>
      <p:ext uri="{BB962C8B-B14F-4D97-AF65-F5344CB8AC3E}">
        <p14:creationId xmlns:p14="http://schemas.microsoft.com/office/powerpoint/2010/main" val="3560437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3DF5-EB7F-36F3-E334-A04A89BCC0A3}"/>
              </a:ext>
            </a:extLst>
          </p:cNvPr>
          <p:cNvSpPr>
            <a:spLocks noGrp="1"/>
          </p:cNvSpPr>
          <p:nvPr>
            <p:ph type="title"/>
          </p:nvPr>
        </p:nvSpPr>
        <p:spPr>
          <a:xfrm>
            <a:off x="838200" y="365125"/>
            <a:ext cx="10515600" cy="6292850"/>
          </a:xfrm>
        </p:spPr>
        <p:txBody>
          <a:bodyPr>
            <a:noAutofit/>
          </a:bodyPr>
          <a:lstStyle/>
          <a:p>
            <a:r>
              <a:rPr lang="en-US" sz="8800" b="1" i="1" u="sng" dirty="0">
                <a:solidFill>
                  <a:schemeClr val="tx2"/>
                </a:solidFill>
              </a:rPr>
              <a:t>Collection of Evidence:</a:t>
            </a:r>
          </a:p>
        </p:txBody>
      </p:sp>
    </p:spTree>
    <p:extLst>
      <p:ext uri="{BB962C8B-B14F-4D97-AF65-F5344CB8AC3E}">
        <p14:creationId xmlns:p14="http://schemas.microsoft.com/office/powerpoint/2010/main" val="3412266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F5A0D0-C12D-E046-D619-0C7FCDA40237}"/>
              </a:ext>
            </a:extLst>
          </p:cNvPr>
          <p:cNvSpPr>
            <a:spLocks noGrp="1"/>
          </p:cNvSpPr>
          <p:nvPr>
            <p:ph idx="1"/>
          </p:nvPr>
        </p:nvSpPr>
        <p:spPr>
          <a:xfrm>
            <a:off x="0" y="300038"/>
            <a:ext cx="11353800" cy="5876925"/>
          </a:xfrm>
        </p:spPr>
        <p:txBody>
          <a:bodyPr>
            <a:normAutofit/>
          </a:bodyPr>
          <a:lstStyle/>
          <a:p>
            <a:endParaRPr lang="en-US" dirty="0"/>
          </a:p>
          <a:p>
            <a:endParaRPr lang="en-US" dirty="0"/>
          </a:p>
          <a:p>
            <a:endParaRPr lang="en-US" dirty="0"/>
          </a:p>
          <a:p>
            <a:endParaRPr lang="en-US" dirty="0"/>
          </a:p>
          <a:p>
            <a:endParaRPr lang="en-US" dirty="0"/>
          </a:p>
          <a:p>
            <a:r>
              <a:rPr lang="en-US" dirty="0"/>
              <a:t>Secure and take control of the area.</a:t>
            </a:r>
          </a:p>
          <a:p>
            <a:r>
              <a:rPr lang="en-US" dirty="0"/>
              <a:t>Allow thee printers to finish the printing.</a:t>
            </a:r>
          </a:p>
          <a:p>
            <a:r>
              <a:rPr lang="en-US" dirty="0"/>
              <a:t>Move people away and </a:t>
            </a:r>
          </a:p>
          <a:p>
            <a:pPr marL="0" indent="0">
              <a:buNone/>
            </a:pPr>
            <a:r>
              <a:rPr lang="en-US" dirty="0"/>
              <a:t>do not switch-ON the Computer(if Found in OFF condition).</a:t>
            </a:r>
          </a:p>
          <a:p>
            <a:r>
              <a:rPr lang="en-US" dirty="0"/>
              <a:t>Remove the Internet cable.</a:t>
            </a:r>
          </a:p>
        </p:txBody>
      </p:sp>
      <p:pic>
        <p:nvPicPr>
          <p:cNvPr id="5" name="Picture 4">
            <a:extLst>
              <a:ext uri="{FF2B5EF4-FFF2-40B4-BE49-F238E27FC236}">
                <a16:creationId xmlns:a16="http://schemas.microsoft.com/office/drawing/2014/main" id="{1414978B-C4BA-DB9F-E38A-E524A04B5971}"/>
              </a:ext>
            </a:extLst>
          </p:cNvPr>
          <p:cNvPicPr>
            <a:picLocks noChangeAspect="1"/>
          </p:cNvPicPr>
          <p:nvPr/>
        </p:nvPicPr>
        <p:blipFill>
          <a:blip r:embed="rId2"/>
          <a:stretch>
            <a:fillRect/>
          </a:stretch>
        </p:blipFill>
        <p:spPr>
          <a:xfrm>
            <a:off x="6619455" y="2263469"/>
            <a:ext cx="3803150" cy="4144296"/>
          </a:xfrm>
          <a:prstGeom prst="rect">
            <a:avLst/>
          </a:prstGeom>
        </p:spPr>
      </p:pic>
      <p:pic>
        <p:nvPicPr>
          <p:cNvPr id="6" name="Picture 6" descr="ethernet connection">
            <a:extLst>
              <a:ext uri="{FF2B5EF4-FFF2-40B4-BE49-F238E27FC236}">
                <a16:creationId xmlns:a16="http://schemas.microsoft.com/office/drawing/2014/main" id="{7BEBDC4D-1C6D-20FB-1BC8-2DA8F2E09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927" y="4335617"/>
            <a:ext cx="3306711" cy="2480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439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60350F-F6DD-6933-1204-AC1B0FB1CACB}"/>
              </a:ext>
            </a:extLst>
          </p:cNvPr>
          <p:cNvSpPr>
            <a:spLocks noGrp="1"/>
          </p:cNvSpPr>
          <p:nvPr>
            <p:ph idx="1"/>
          </p:nvPr>
        </p:nvSpPr>
        <p:spPr>
          <a:xfrm>
            <a:off x="838200" y="353961"/>
            <a:ext cx="10515600" cy="5823002"/>
          </a:xfrm>
        </p:spPr>
        <p:txBody>
          <a:bodyPr/>
          <a:lstStyle/>
          <a:p>
            <a:endParaRPr lang="en-US" dirty="0">
              <a:solidFill>
                <a:schemeClr val="bg1"/>
              </a:solidFill>
            </a:endParaRPr>
          </a:p>
          <a:p>
            <a:r>
              <a:rPr lang="en-US" dirty="0">
                <a:solidFill>
                  <a:schemeClr val="bg1"/>
                </a:solidFill>
              </a:rPr>
              <a:t>Make sure that the computer is switched off – Hard Drive and monitor activity lights or fans may indicate that machine is switched on.</a:t>
            </a:r>
          </a:p>
          <a:p>
            <a:pPr marL="0" indent="0">
              <a:buNone/>
            </a:pPr>
            <a:endParaRPr lang="en-US" dirty="0"/>
          </a:p>
        </p:txBody>
      </p:sp>
      <p:pic>
        <p:nvPicPr>
          <p:cNvPr id="5" name="Picture 4">
            <a:extLst>
              <a:ext uri="{FF2B5EF4-FFF2-40B4-BE49-F238E27FC236}">
                <a16:creationId xmlns:a16="http://schemas.microsoft.com/office/drawing/2014/main" id="{E4B71064-70AF-E498-7E19-F6324C0AA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854" y="1482213"/>
            <a:ext cx="7167716" cy="5375787"/>
          </a:xfrm>
          <a:prstGeom prst="rect">
            <a:avLst/>
          </a:prstGeom>
        </p:spPr>
      </p:pic>
    </p:spTree>
    <p:extLst>
      <p:ext uri="{BB962C8B-B14F-4D97-AF65-F5344CB8AC3E}">
        <p14:creationId xmlns:p14="http://schemas.microsoft.com/office/powerpoint/2010/main" val="2993617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5ABD9-26A0-AD90-E63E-DD33BC80ADC8}"/>
              </a:ext>
            </a:extLst>
          </p:cNvPr>
          <p:cNvSpPr>
            <a:spLocks noGrp="1"/>
          </p:cNvSpPr>
          <p:nvPr>
            <p:ph idx="1"/>
          </p:nvPr>
        </p:nvSpPr>
        <p:spPr>
          <a:xfrm>
            <a:off x="1481599" y="263076"/>
            <a:ext cx="10515600" cy="5719763"/>
          </a:xfrm>
        </p:spPr>
        <p:txBody>
          <a:bodyPr/>
          <a:lstStyle/>
          <a:p>
            <a:endParaRPr lang="en-US" dirty="0"/>
          </a:p>
          <a:p>
            <a:r>
              <a:rPr lang="en-US" dirty="0">
                <a:solidFill>
                  <a:schemeClr val="bg1"/>
                </a:solidFill>
              </a:rPr>
              <a:t>Disconnect the Modem if attached.</a:t>
            </a:r>
          </a:p>
          <a:p>
            <a:endParaRPr lang="en-US" dirty="0">
              <a:solidFill>
                <a:schemeClr val="bg1"/>
              </a:solidFill>
            </a:endParaRPr>
          </a:p>
          <a:p>
            <a:endParaRPr lang="en-US" dirty="0">
              <a:solidFill>
                <a:schemeClr val="bg1"/>
              </a:solidFill>
            </a:endParaRPr>
          </a:p>
          <a:p>
            <a:pPr marL="0" indent="0">
              <a:buNone/>
            </a:pPr>
            <a:endParaRPr lang="en-US" dirty="0"/>
          </a:p>
          <a:p>
            <a:pPr marL="0" indent="0">
              <a:buNone/>
            </a:pPr>
            <a:endParaRPr lang="en-US" dirty="0"/>
          </a:p>
          <a:p>
            <a:endParaRPr lang="en-US" dirty="0"/>
          </a:p>
        </p:txBody>
      </p:sp>
      <p:pic>
        <p:nvPicPr>
          <p:cNvPr id="3082" name="Picture 10" descr="router - router stock pictures, royalty-free photos &amp; images">
            <a:extLst>
              <a:ext uri="{FF2B5EF4-FFF2-40B4-BE49-F238E27FC236}">
                <a16:creationId xmlns:a16="http://schemas.microsoft.com/office/drawing/2014/main" id="{F75EE10A-E36E-E72C-590B-004DF8A96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8813" y="383379"/>
            <a:ext cx="3283974" cy="2187126"/>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Computer connector rj45 on a black background. Macro.">
            <a:extLst>
              <a:ext uri="{FF2B5EF4-FFF2-40B4-BE49-F238E27FC236}">
                <a16:creationId xmlns:a16="http://schemas.microsoft.com/office/drawing/2014/main" id="{6F10CEF4-4C42-35FF-C2B9-0F5C65775D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4705" y="3155194"/>
            <a:ext cx="4865333" cy="3240312"/>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Picture of someone removing the network cable from a computer">
            <a:extLst>
              <a:ext uri="{FF2B5EF4-FFF2-40B4-BE49-F238E27FC236}">
                <a16:creationId xmlns:a16="http://schemas.microsoft.com/office/drawing/2014/main" id="{08C1963D-2685-4C2F-0D98-4CD8BFEAB7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4628" y="3317080"/>
            <a:ext cx="4081148" cy="3060861"/>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XTRONS 4G LTE USB Dongle Wireless Wi-Fi Modem Stick Suitable for All XTRONS Android Car Stereo">
            <a:extLst>
              <a:ext uri="{FF2B5EF4-FFF2-40B4-BE49-F238E27FC236}">
                <a16:creationId xmlns:a16="http://schemas.microsoft.com/office/drawing/2014/main" id="{46D67FA2-3BF2-5A43-0F22-C72127F28B4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291" t="30376" r="1908" b="35124"/>
          <a:stretch/>
        </p:blipFill>
        <p:spPr bwMode="auto">
          <a:xfrm>
            <a:off x="185739" y="1509107"/>
            <a:ext cx="4514850" cy="1643062"/>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descr="D-Link DWR-932 4G/3G LTE Unlocked Wireless N300 Mobile Broadband Router - Wi-Fi Portable Hotspot, Black">
            <a:extLst>
              <a:ext uri="{FF2B5EF4-FFF2-40B4-BE49-F238E27FC236}">
                <a16:creationId xmlns:a16="http://schemas.microsoft.com/office/drawing/2014/main" id="{F7A59DB2-F2A1-B59E-C753-3E866E21DBC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700" t="14600" r="11784" b="16100"/>
          <a:stretch/>
        </p:blipFill>
        <p:spPr bwMode="auto">
          <a:xfrm>
            <a:off x="0" y="3237399"/>
            <a:ext cx="3644089" cy="330041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958BBCA-C3EB-0D23-176F-EC39D60703B4}"/>
              </a:ext>
            </a:extLst>
          </p:cNvPr>
          <p:cNvSpPr txBox="1"/>
          <p:nvPr/>
        </p:nvSpPr>
        <p:spPr>
          <a:xfrm>
            <a:off x="4700589" y="6465509"/>
            <a:ext cx="6806365" cy="369332"/>
          </a:xfrm>
          <a:prstGeom prst="rect">
            <a:avLst/>
          </a:prstGeom>
          <a:noFill/>
        </p:spPr>
        <p:txBody>
          <a:bodyPr wrap="square" rtlCol="0">
            <a:spAutoFit/>
          </a:bodyPr>
          <a:lstStyle/>
          <a:p>
            <a:r>
              <a:rPr lang="en-US" dirty="0"/>
              <a:t>Remove the Cable</a:t>
            </a:r>
          </a:p>
        </p:txBody>
      </p:sp>
    </p:spTree>
    <p:extLst>
      <p:ext uri="{BB962C8B-B14F-4D97-AF65-F5344CB8AC3E}">
        <p14:creationId xmlns:p14="http://schemas.microsoft.com/office/powerpoint/2010/main" val="350283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04C9C-9AFB-B686-0BFA-8D51719DABA8}"/>
              </a:ext>
            </a:extLst>
          </p:cNvPr>
          <p:cNvSpPr>
            <a:spLocks noGrp="1"/>
          </p:cNvSpPr>
          <p:nvPr>
            <p:ph idx="1"/>
          </p:nvPr>
        </p:nvSpPr>
        <p:spPr>
          <a:xfrm>
            <a:off x="838200" y="250723"/>
            <a:ext cx="10515600" cy="5926240"/>
          </a:xfrm>
        </p:spPr>
        <p:txBody>
          <a:bodyPr/>
          <a:lstStyle/>
          <a:p>
            <a:endParaRPr lang="en-US" dirty="0"/>
          </a:p>
          <a:p>
            <a:r>
              <a:rPr lang="en-US" dirty="0">
                <a:solidFill>
                  <a:schemeClr val="bg1"/>
                </a:solidFill>
              </a:rPr>
              <a:t>Press               (Windows) +  I on the Keyboard(both together). </a:t>
            </a:r>
          </a:p>
          <a:p>
            <a:endParaRPr lang="en-US" dirty="0"/>
          </a:p>
        </p:txBody>
      </p:sp>
      <p:pic>
        <p:nvPicPr>
          <p:cNvPr id="3080" name="Picture 8" descr="insert windows key symbol">
            <a:extLst>
              <a:ext uri="{FF2B5EF4-FFF2-40B4-BE49-F238E27FC236}">
                <a16:creationId xmlns:a16="http://schemas.microsoft.com/office/drawing/2014/main" id="{58170A86-71F9-58CE-6009-1CDD11BE4B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407" t="11290" r="19754" b="11290"/>
          <a:stretch/>
        </p:blipFill>
        <p:spPr bwMode="auto">
          <a:xfrm>
            <a:off x="1851946" y="561957"/>
            <a:ext cx="838461" cy="5516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Windows 11 Settings turn off Wi-Fi">
            <a:extLst>
              <a:ext uri="{FF2B5EF4-FFF2-40B4-BE49-F238E27FC236}">
                <a16:creationId xmlns:a16="http://schemas.microsoft.com/office/drawing/2014/main" id="{626E60AC-3CED-01ED-41FD-CB277332E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396" y="1403839"/>
            <a:ext cx="10175675" cy="5454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347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F028A-18D0-D414-7993-82B446DC7B79}"/>
              </a:ext>
            </a:extLst>
          </p:cNvPr>
          <p:cNvSpPr>
            <a:spLocks noGrp="1"/>
          </p:cNvSpPr>
          <p:nvPr>
            <p:ph idx="1"/>
          </p:nvPr>
        </p:nvSpPr>
        <p:spPr>
          <a:xfrm>
            <a:off x="646472" y="442452"/>
            <a:ext cx="10515600" cy="5734511"/>
          </a:xfrm>
        </p:spPr>
        <p:txBody>
          <a:bodyPr/>
          <a:lstStyle/>
          <a:p>
            <a:r>
              <a:rPr lang="en-US" dirty="0">
                <a:solidFill>
                  <a:schemeClr val="bg1"/>
                </a:solidFill>
              </a:rPr>
              <a:t>For Laptop if it is in closed position then </a:t>
            </a:r>
            <a:r>
              <a:rPr lang="en-US" dirty="0">
                <a:solidFill>
                  <a:srgbClr val="FF0000"/>
                </a:solidFill>
              </a:rPr>
              <a:t>do not open the lid(screen)</a:t>
            </a:r>
          </a:p>
          <a:p>
            <a:r>
              <a:rPr lang="en-US" dirty="0">
                <a:solidFill>
                  <a:schemeClr val="bg1"/>
                </a:solidFill>
              </a:rPr>
              <a:t>To identify the laptop if it is switched-OFF or in sleep mode.</a:t>
            </a:r>
          </a:p>
          <a:p>
            <a:pPr marL="0" indent="0">
              <a:buNone/>
            </a:pPr>
            <a:r>
              <a:rPr lang="en-US" dirty="0">
                <a:solidFill>
                  <a:schemeClr val="bg1"/>
                </a:solidFill>
              </a:rPr>
              <a:t>1) See the power button or see the lights in the side where ports are present</a:t>
            </a:r>
            <a:r>
              <a:rPr lang="en-US" dirty="0"/>
              <a:t>.</a:t>
            </a:r>
          </a:p>
        </p:txBody>
      </p:sp>
      <p:pic>
        <p:nvPicPr>
          <p:cNvPr id="1026" name="Picture 2" descr="sleep button">
            <a:extLst>
              <a:ext uri="{FF2B5EF4-FFF2-40B4-BE49-F238E27FC236}">
                <a16:creationId xmlns:a16="http://schemas.microsoft.com/office/drawing/2014/main" id="{3B1A4968-B72C-1D54-9861-E1D94457D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72" y="2440092"/>
            <a:ext cx="4762500" cy="348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ED2119D-30B2-1C11-4FD1-B37EA97A72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9946" y="2440092"/>
            <a:ext cx="6467268" cy="2840526"/>
          </a:xfrm>
          <a:prstGeom prst="rect">
            <a:avLst/>
          </a:prstGeom>
        </p:spPr>
      </p:pic>
    </p:spTree>
    <p:extLst>
      <p:ext uri="{BB962C8B-B14F-4D97-AF65-F5344CB8AC3E}">
        <p14:creationId xmlns:p14="http://schemas.microsoft.com/office/powerpoint/2010/main" val="1331652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8CE4A-538E-C1E1-2CD9-91B3595C6DF9}"/>
              </a:ext>
            </a:extLst>
          </p:cNvPr>
          <p:cNvSpPr>
            <a:spLocks noGrp="1"/>
          </p:cNvSpPr>
          <p:nvPr>
            <p:ph type="title"/>
          </p:nvPr>
        </p:nvSpPr>
        <p:spPr>
          <a:xfrm>
            <a:off x="838200" y="365125"/>
            <a:ext cx="10515600" cy="4964113"/>
          </a:xfrm>
        </p:spPr>
        <p:txBody>
          <a:bodyPr/>
          <a:lstStyle/>
          <a:p>
            <a:r>
              <a:rPr lang="en-US" b="1" i="1" u="sng" dirty="0">
                <a:solidFill>
                  <a:schemeClr val="tx1"/>
                </a:solidFill>
              </a:rPr>
              <a:t>Procedure in case of Switched off System</a:t>
            </a:r>
            <a:endParaRPr lang="en-US" dirty="0">
              <a:solidFill>
                <a:schemeClr val="tx1"/>
              </a:solidFill>
            </a:endParaRPr>
          </a:p>
        </p:txBody>
      </p:sp>
    </p:spTree>
    <p:extLst>
      <p:ext uri="{BB962C8B-B14F-4D97-AF65-F5344CB8AC3E}">
        <p14:creationId xmlns:p14="http://schemas.microsoft.com/office/powerpoint/2010/main" val="2986623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415ACF-7103-DE26-4276-E6263A92F984}"/>
              </a:ext>
            </a:extLst>
          </p:cNvPr>
          <p:cNvSpPr>
            <a:spLocks noGrp="1"/>
          </p:cNvSpPr>
          <p:nvPr>
            <p:ph idx="1"/>
          </p:nvPr>
        </p:nvSpPr>
        <p:spPr>
          <a:xfrm>
            <a:off x="838200" y="324466"/>
            <a:ext cx="10515600" cy="5852498"/>
          </a:xfrm>
        </p:spPr>
        <p:txBody>
          <a:bodyPr/>
          <a:lstStyle/>
          <a:p>
            <a:endParaRPr lang="en-US" dirty="0">
              <a:solidFill>
                <a:schemeClr val="bg1"/>
              </a:solidFill>
            </a:endParaRPr>
          </a:p>
          <a:p>
            <a:r>
              <a:rPr lang="en-US" dirty="0">
                <a:solidFill>
                  <a:schemeClr val="bg1"/>
                </a:solidFill>
              </a:rPr>
              <a:t>Unplug the power and other devices from the socket: it may be in sleep mode and my be accessed remotely.</a:t>
            </a:r>
          </a:p>
          <a:p>
            <a:r>
              <a:rPr lang="en-US" dirty="0">
                <a:solidFill>
                  <a:schemeClr val="bg1"/>
                </a:solidFill>
              </a:rPr>
              <a:t>Label and photograph</a:t>
            </a:r>
          </a:p>
          <a:p>
            <a:pPr marL="0" indent="0">
              <a:buNone/>
            </a:pPr>
            <a:r>
              <a:rPr lang="en-US" dirty="0">
                <a:solidFill>
                  <a:schemeClr val="bg1"/>
                </a:solidFill>
              </a:rPr>
              <a:t> </a:t>
            </a:r>
          </a:p>
          <a:p>
            <a:pPr marL="0" indent="0">
              <a:buNone/>
            </a:pPr>
            <a:r>
              <a:rPr lang="en-US" dirty="0">
                <a:solidFill>
                  <a:schemeClr val="tx1"/>
                </a:solidFill>
              </a:rPr>
              <a:t>( or video) all the </a:t>
            </a:r>
          </a:p>
          <a:p>
            <a:pPr marL="0" indent="0">
              <a:buNone/>
            </a:pPr>
            <a:r>
              <a:rPr lang="en-US" dirty="0">
                <a:solidFill>
                  <a:schemeClr val="tx1"/>
                </a:solidFill>
              </a:rPr>
              <a:t>components(in case of </a:t>
            </a:r>
          </a:p>
          <a:p>
            <a:pPr marL="0" indent="0">
              <a:buNone/>
            </a:pPr>
            <a:r>
              <a:rPr lang="en-US" dirty="0">
                <a:solidFill>
                  <a:schemeClr val="tx1"/>
                </a:solidFill>
              </a:rPr>
              <a:t>multiple devices </a:t>
            </a:r>
          </a:p>
          <a:p>
            <a:pPr marL="0" indent="0">
              <a:buNone/>
            </a:pPr>
            <a:r>
              <a:rPr lang="en-US" dirty="0">
                <a:solidFill>
                  <a:schemeClr val="tx1"/>
                </a:solidFill>
              </a:rPr>
              <a:t>Computer 1,</a:t>
            </a:r>
          </a:p>
          <a:p>
            <a:pPr marL="0" indent="0">
              <a:buNone/>
            </a:pPr>
            <a:r>
              <a:rPr lang="en-US" dirty="0">
                <a:solidFill>
                  <a:schemeClr val="tx1"/>
                </a:solidFill>
              </a:rPr>
              <a:t>Computer 2, etc. can </a:t>
            </a:r>
          </a:p>
          <a:p>
            <a:pPr marL="0" indent="0">
              <a:buNone/>
            </a:pPr>
            <a:r>
              <a:rPr lang="en-US" dirty="0">
                <a:solidFill>
                  <a:schemeClr val="tx1"/>
                </a:solidFill>
              </a:rPr>
              <a:t>be used).</a:t>
            </a:r>
          </a:p>
        </p:txBody>
      </p:sp>
      <p:pic>
        <p:nvPicPr>
          <p:cNvPr id="5" name="Picture 4">
            <a:extLst>
              <a:ext uri="{FF2B5EF4-FFF2-40B4-BE49-F238E27FC236}">
                <a16:creationId xmlns:a16="http://schemas.microsoft.com/office/drawing/2014/main" id="{40E7B45E-785C-CF26-999C-4656496CE003}"/>
              </a:ext>
            </a:extLst>
          </p:cNvPr>
          <p:cNvPicPr>
            <a:picLocks noChangeAspect="1"/>
          </p:cNvPicPr>
          <p:nvPr/>
        </p:nvPicPr>
        <p:blipFill>
          <a:blip r:embed="rId2"/>
          <a:stretch>
            <a:fillRect/>
          </a:stretch>
        </p:blipFill>
        <p:spPr>
          <a:xfrm>
            <a:off x="5000394" y="1354242"/>
            <a:ext cx="7283604" cy="4822722"/>
          </a:xfrm>
          <a:prstGeom prst="rect">
            <a:avLst/>
          </a:prstGeom>
        </p:spPr>
      </p:pic>
    </p:spTree>
    <p:extLst>
      <p:ext uri="{BB962C8B-B14F-4D97-AF65-F5344CB8AC3E}">
        <p14:creationId xmlns:p14="http://schemas.microsoft.com/office/powerpoint/2010/main" val="3165588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1CCC0E-2B05-76B3-EB25-57478F9EBCB5}"/>
              </a:ext>
            </a:extLst>
          </p:cNvPr>
          <p:cNvSpPr>
            <a:spLocks noGrp="1"/>
          </p:cNvSpPr>
          <p:nvPr>
            <p:ph idx="1"/>
          </p:nvPr>
        </p:nvSpPr>
        <p:spPr>
          <a:xfrm>
            <a:off x="838200" y="457200"/>
            <a:ext cx="10515600" cy="5719763"/>
          </a:xfrm>
        </p:spPr>
        <p:txBody>
          <a:bodyPr>
            <a:normAutofit fontScale="92500" lnSpcReduction="10000"/>
          </a:bodyPr>
          <a:lstStyle/>
          <a:p>
            <a:r>
              <a:rPr lang="en-US" sz="3200" dirty="0">
                <a:solidFill>
                  <a:schemeClr val="bg1"/>
                </a:solidFill>
              </a:rPr>
              <a:t>Record the unique identifiers ( make, model, service Tags No., Part No., serial No., etc.) – the main unit, screen, keyboard and other equipment will have separate identifiers.</a:t>
            </a:r>
          </a:p>
          <a:p>
            <a:r>
              <a:rPr lang="en-US" sz="3200" dirty="0"/>
              <a:t>Ask for the password to the system and search of additional storage media.</a:t>
            </a:r>
          </a:p>
          <a:p>
            <a:r>
              <a:rPr lang="en-US" sz="3200" dirty="0"/>
              <a:t>Search the Crime Scene INCLUDING DUSTBIN for diaries, notebooks or pieces of paper with passwords, etc. </a:t>
            </a:r>
          </a:p>
          <a:p>
            <a:r>
              <a:rPr lang="en-US" sz="3200" dirty="0"/>
              <a:t>Document all steps involved in the seizure of device and components while making videography and noting down each step.</a:t>
            </a:r>
          </a:p>
          <a:p>
            <a:pPr marL="0" indent="0">
              <a:buNone/>
            </a:pPr>
            <a:endParaRPr lang="en-US" dirty="0"/>
          </a:p>
        </p:txBody>
      </p:sp>
    </p:spTree>
    <p:extLst>
      <p:ext uri="{BB962C8B-B14F-4D97-AF65-F5344CB8AC3E}">
        <p14:creationId xmlns:p14="http://schemas.microsoft.com/office/powerpoint/2010/main" val="2257840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42E7E-32EC-682F-D919-1B1DF22633B5}"/>
              </a:ext>
            </a:extLst>
          </p:cNvPr>
          <p:cNvSpPr>
            <a:spLocks noGrp="1"/>
          </p:cNvSpPr>
          <p:nvPr>
            <p:ph type="title"/>
          </p:nvPr>
        </p:nvSpPr>
        <p:spPr>
          <a:xfrm>
            <a:off x="838200" y="365125"/>
            <a:ext cx="10515600" cy="648863"/>
          </a:xfrm>
        </p:spPr>
        <p:txBody>
          <a:bodyPr>
            <a:normAutofit fontScale="90000"/>
          </a:bodyPr>
          <a:lstStyle/>
          <a:p>
            <a:br>
              <a:rPr lang="en-US" b="1" u="sng" dirty="0"/>
            </a:br>
            <a:r>
              <a:rPr lang="en-US" b="1" u="sng" dirty="0"/>
              <a:t>FOR MAKE and MODEL info</a:t>
            </a:r>
            <a:br>
              <a:rPr lang="en-US" b="1" u="sng" dirty="0"/>
            </a:br>
            <a:endParaRPr lang="en-US" dirty="0"/>
          </a:p>
        </p:txBody>
      </p:sp>
      <p:sp>
        <p:nvSpPr>
          <p:cNvPr id="3" name="Content Placeholder 2">
            <a:extLst>
              <a:ext uri="{FF2B5EF4-FFF2-40B4-BE49-F238E27FC236}">
                <a16:creationId xmlns:a16="http://schemas.microsoft.com/office/drawing/2014/main" id="{7F456FB1-418B-FA4D-DA14-379FBF29AEB6}"/>
              </a:ext>
            </a:extLst>
          </p:cNvPr>
          <p:cNvSpPr>
            <a:spLocks noGrp="1"/>
          </p:cNvSpPr>
          <p:nvPr>
            <p:ph idx="1"/>
          </p:nvPr>
        </p:nvSpPr>
        <p:spPr>
          <a:xfrm>
            <a:off x="838200" y="941560"/>
            <a:ext cx="10515600" cy="5235403"/>
          </a:xfrm>
        </p:spPr>
        <p:txBody>
          <a:bodyPr>
            <a:normAutofit/>
          </a:bodyPr>
          <a:lstStyle/>
          <a:p>
            <a:pPr marL="0" indent="0">
              <a:buNone/>
            </a:pPr>
            <a:r>
              <a:rPr lang="en-US" b="1" u="sng" dirty="0">
                <a:solidFill>
                  <a:schemeClr val="bg1"/>
                </a:solidFill>
              </a:rPr>
              <a:t>WINDOWS</a:t>
            </a:r>
          </a:p>
          <a:p>
            <a:r>
              <a:rPr lang="en-US" dirty="0">
                <a:solidFill>
                  <a:schemeClr val="bg1"/>
                </a:solidFill>
              </a:rPr>
              <a:t>Press Windows Key &gt; type “setting” &amp; press Enter &gt; In search Bar type “About your PC” &gt; Click on it.</a:t>
            </a:r>
          </a:p>
          <a:p>
            <a:pPr marL="0" indent="0">
              <a:buNone/>
            </a:pPr>
            <a:endParaRPr lang="en-US" dirty="0">
              <a:solidFill>
                <a:schemeClr val="tx1"/>
              </a:solidFill>
            </a:endParaRPr>
          </a:p>
          <a:p>
            <a:r>
              <a:rPr lang="en-US" dirty="0"/>
              <a:t>GPU: Device Manager: Right-click on the Start button &gt; "Device Manager" &gt; "Display adapters“</a:t>
            </a:r>
          </a:p>
          <a:p>
            <a:pPr marL="0" indent="0">
              <a:buNone/>
            </a:pPr>
            <a:r>
              <a:rPr lang="en-US" b="1" u="sng" dirty="0"/>
              <a:t>MAC</a:t>
            </a:r>
          </a:p>
          <a:p>
            <a:r>
              <a:rPr lang="en-US" dirty="0"/>
              <a:t>CPU: Apple menu &gt; "About This Mac" &gt; "System Report" &gt; "Hardware" &gt; "Processor".</a:t>
            </a:r>
          </a:p>
          <a:p>
            <a:r>
              <a:rPr lang="en-US" dirty="0"/>
              <a:t>GPU: Apple menu &gt; "About This Mac" &gt; "System Report" &gt; "Graphics/Displays".</a:t>
            </a:r>
          </a:p>
          <a:p>
            <a:r>
              <a:rPr lang="en-US" dirty="0"/>
              <a:t>RAM: Apple menu &gt; "About This Mac" &gt; "System Report" &gt; "Memory”</a:t>
            </a:r>
          </a:p>
        </p:txBody>
      </p:sp>
    </p:spTree>
    <p:extLst>
      <p:ext uri="{BB962C8B-B14F-4D97-AF65-F5344CB8AC3E}">
        <p14:creationId xmlns:p14="http://schemas.microsoft.com/office/powerpoint/2010/main" val="1697118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9672-7CBE-3546-F9C1-4C376AE73AA2}"/>
              </a:ext>
            </a:extLst>
          </p:cNvPr>
          <p:cNvSpPr>
            <a:spLocks noGrp="1"/>
          </p:cNvSpPr>
          <p:nvPr>
            <p:ph type="title"/>
          </p:nvPr>
        </p:nvSpPr>
        <p:spPr/>
        <p:txBody>
          <a:bodyPr>
            <a:normAutofit fontScale="90000"/>
          </a:bodyPr>
          <a:lstStyle/>
          <a:p>
            <a:r>
              <a:rPr lang="en-US" sz="3600" b="1" i="1" u="sng" dirty="0"/>
              <a:t>Procedure in case of live system( switched-on)</a:t>
            </a:r>
          </a:p>
        </p:txBody>
      </p:sp>
      <p:sp>
        <p:nvSpPr>
          <p:cNvPr id="3" name="Content Placeholder 2">
            <a:extLst>
              <a:ext uri="{FF2B5EF4-FFF2-40B4-BE49-F238E27FC236}">
                <a16:creationId xmlns:a16="http://schemas.microsoft.com/office/drawing/2014/main" id="{19EBC968-C5BE-BBA6-3F35-6456A6301AD5}"/>
              </a:ext>
            </a:extLst>
          </p:cNvPr>
          <p:cNvSpPr>
            <a:spLocks noGrp="1"/>
          </p:cNvSpPr>
          <p:nvPr>
            <p:ph idx="1"/>
          </p:nvPr>
        </p:nvSpPr>
        <p:spPr/>
        <p:txBody>
          <a:bodyPr/>
          <a:lstStyle/>
          <a:p>
            <a:r>
              <a:rPr lang="en-US" dirty="0"/>
              <a:t>Do Not  Shutdown COMPUTER or LAPTOP</a:t>
            </a:r>
          </a:p>
          <a:p>
            <a:r>
              <a:rPr lang="en-US" dirty="0"/>
              <a:t>Disconnect the Ethernet Cable(internet cable) from the computer(or Laptop) in case of </a:t>
            </a:r>
            <a:r>
              <a:rPr lang="en-US" dirty="0" err="1"/>
              <a:t>wifi</a:t>
            </a:r>
            <a:r>
              <a:rPr lang="en-US" dirty="0"/>
              <a:t>, close the </a:t>
            </a:r>
            <a:r>
              <a:rPr lang="en-US" dirty="0" err="1"/>
              <a:t>wifi</a:t>
            </a:r>
            <a:r>
              <a:rPr lang="en-US" dirty="0"/>
              <a:t> in the computer( or Laptop).</a:t>
            </a:r>
          </a:p>
          <a:p>
            <a:endParaRPr lang="en-US" dirty="0"/>
          </a:p>
        </p:txBody>
      </p:sp>
      <p:pic>
        <p:nvPicPr>
          <p:cNvPr id="2052" name="Picture 4" descr="Disabling Wi-Fi from the Windows taskbar.">
            <a:extLst>
              <a:ext uri="{FF2B5EF4-FFF2-40B4-BE49-F238E27FC236}">
                <a16:creationId xmlns:a16="http://schemas.microsoft.com/office/drawing/2014/main" id="{03A98438-0317-F80B-B6B4-6B8CB3EDE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7660" y="3893821"/>
            <a:ext cx="5274340" cy="296417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thernet connection">
            <a:extLst>
              <a:ext uri="{FF2B5EF4-FFF2-40B4-BE49-F238E27FC236}">
                <a16:creationId xmlns:a16="http://schemas.microsoft.com/office/drawing/2014/main" id="{2319845E-177A-A9DF-C6F3-41F033823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954" y="4124325"/>
            <a:ext cx="3644900" cy="27336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Picture of someone unplugging the power cable from a computer">
            <a:extLst>
              <a:ext uri="{FF2B5EF4-FFF2-40B4-BE49-F238E27FC236}">
                <a16:creationId xmlns:a16="http://schemas.microsoft.com/office/drawing/2014/main" id="{3F18D948-C97C-D31C-5EDA-DFE0A27717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5069" y="1743622"/>
            <a:ext cx="2866932" cy="2150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82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B079E8-EAA4-51A7-7820-220C3AE0A452}"/>
              </a:ext>
            </a:extLst>
          </p:cNvPr>
          <p:cNvSpPr>
            <a:spLocks noGrp="1"/>
          </p:cNvSpPr>
          <p:nvPr>
            <p:ph idx="1"/>
          </p:nvPr>
        </p:nvSpPr>
        <p:spPr>
          <a:xfrm>
            <a:off x="838200" y="398206"/>
            <a:ext cx="10515600" cy="5778757"/>
          </a:xfrm>
        </p:spPr>
        <p:txBody>
          <a:bodyPr/>
          <a:lstStyle/>
          <a:p>
            <a:r>
              <a:rPr lang="en-US" dirty="0">
                <a:solidFill>
                  <a:schemeClr val="bg1"/>
                </a:solidFill>
              </a:rPr>
              <a:t>Record what is on the screen by photography or videography.</a:t>
            </a:r>
          </a:p>
          <a:p>
            <a:r>
              <a:rPr lang="en-US" dirty="0">
                <a:solidFill>
                  <a:schemeClr val="bg1"/>
                </a:solidFill>
              </a:rPr>
              <a:t>If computer is logged out ask for the computer password from accused.</a:t>
            </a:r>
          </a:p>
        </p:txBody>
      </p:sp>
      <p:pic>
        <p:nvPicPr>
          <p:cNvPr id="5" name="Picture 4">
            <a:extLst>
              <a:ext uri="{FF2B5EF4-FFF2-40B4-BE49-F238E27FC236}">
                <a16:creationId xmlns:a16="http://schemas.microsoft.com/office/drawing/2014/main" id="{C86F054F-0571-2D6B-A52E-57B208CF9114}"/>
              </a:ext>
            </a:extLst>
          </p:cNvPr>
          <p:cNvPicPr>
            <a:picLocks noChangeAspect="1"/>
          </p:cNvPicPr>
          <p:nvPr/>
        </p:nvPicPr>
        <p:blipFill>
          <a:blip r:embed="rId2"/>
          <a:stretch>
            <a:fillRect/>
          </a:stretch>
        </p:blipFill>
        <p:spPr>
          <a:xfrm>
            <a:off x="175137" y="2106408"/>
            <a:ext cx="7005211" cy="3940431"/>
          </a:xfrm>
          <a:prstGeom prst="rect">
            <a:avLst/>
          </a:prstGeom>
        </p:spPr>
      </p:pic>
      <p:pic>
        <p:nvPicPr>
          <p:cNvPr id="4098" name="Picture 2" descr="remove your windows password signin 1 2">
            <a:extLst>
              <a:ext uri="{FF2B5EF4-FFF2-40B4-BE49-F238E27FC236}">
                <a16:creationId xmlns:a16="http://schemas.microsoft.com/office/drawing/2014/main" id="{7FA948A1-3B69-0BC0-E9F2-145AC6C9D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4363" y="2591415"/>
            <a:ext cx="4762500" cy="323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453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0D5AC-AC80-B764-18AF-816DE01BD90A}"/>
              </a:ext>
            </a:extLst>
          </p:cNvPr>
          <p:cNvSpPr>
            <a:spLocks noGrp="1"/>
          </p:cNvSpPr>
          <p:nvPr>
            <p:ph idx="1"/>
          </p:nvPr>
        </p:nvSpPr>
        <p:spPr>
          <a:xfrm>
            <a:off x="469490" y="309716"/>
            <a:ext cx="10515600" cy="5867247"/>
          </a:xfrm>
        </p:spPr>
        <p:txBody>
          <a:bodyPr>
            <a:normAutofit fontScale="92500" lnSpcReduction="10000"/>
          </a:bodyPr>
          <a:lstStyle/>
          <a:p>
            <a:endParaRPr lang="en-US" dirty="0">
              <a:solidFill>
                <a:schemeClr val="bg1"/>
              </a:solidFill>
            </a:endParaRPr>
          </a:p>
          <a:p>
            <a:r>
              <a:rPr lang="en-US" dirty="0">
                <a:solidFill>
                  <a:schemeClr val="bg1"/>
                </a:solidFill>
              </a:rPr>
              <a:t>In case of black screen use arrow keys</a:t>
            </a:r>
          </a:p>
          <a:p>
            <a:pPr marL="0" indent="0">
              <a:buNone/>
            </a:pPr>
            <a:r>
              <a:rPr lang="en-US" dirty="0">
                <a:solidFill>
                  <a:schemeClr val="bg1"/>
                </a:solidFill>
              </a:rPr>
              <a:t>When the computer or laptop appears</a:t>
            </a:r>
          </a:p>
          <a:p>
            <a:pPr marL="0" indent="0">
              <a:buNone/>
            </a:pPr>
            <a:r>
              <a:rPr lang="en-US" dirty="0">
                <a:solidFill>
                  <a:schemeClr val="bg1"/>
                </a:solidFill>
              </a:rPr>
              <a:t>to be in sleep mode.</a:t>
            </a:r>
          </a:p>
          <a:p>
            <a:endParaRPr lang="en-US" dirty="0"/>
          </a:p>
          <a:p>
            <a:endParaRPr lang="en-US" dirty="0"/>
          </a:p>
          <a:p>
            <a:r>
              <a:rPr lang="en-US" dirty="0"/>
              <a:t>You can use the live forensic tool to extract the information that is present in the temporary storage memory like RAM(or ask Digital Forensic Expert for the Help).</a:t>
            </a:r>
          </a:p>
          <a:p>
            <a:r>
              <a:rPr lang="en-US" dirty="0"/>
              <a:t>Label and photograph or video record </a:t>
            </a:r>
          </a:p>
          <a:p>
            <a:pPr marL="0" indent="0">
              <a:buNone/>
            </a:pPr>
            <a:r>
              <a:rPr lang="en-US" dirty="0"/>
              <a:t>all the components.</a:t>
            </a:r>
          </a:p>
          <a:p>
            <a:r>
              <a:rPr lang="en-US" sz="2800" dirty="0"/>
              <a:t>Record the unique identifiers ( make, </a:t>
            </a:r>
          </a:p>
          <a:p>
            <a:pPr marL="0" indent="0">
              <a:buNone/>
            </a:pPr>
            <a:r>
              <a:rPr lang="en-US" sz="2800" dirty="0"/>
              <a:t>model, service Tags No., Part No., </a:t>
            </a:r>
          </a:p>
          <a:p>
            <a:pPr marL="0" indent="0">
              <a:buNone/>
            </a:pPr>
            <a:r>
              <a:rPr lang="en-US" sz="2800" dirty="0"/>
              <a:t>serial No., etc.) – the main unit, screen,</a:t>
            </a:r>
          </a:p>
          <a:p>
            <a:pPr marL="0" indent="0">
              <a:buNone/>
            </a:pPr>
            <a:r>
              <a:rPr lang="en-US" sz="2800" dirty="0"/>
              <a:t> keyboard and other equipment will have</a:t>
            </a:r>
          </a:p>
          <a:p>
            <a:pPr marL="0" indent="0">
              <a:buNone/>
            </a:pPr>
            <a:r>
              <a:rPr lang="en-US" sz="2800" dirty="0"/>
              <a:t> separate identifiers.</a:t>
            </a:r>
            <a:endParaRPr lang="en-US" dirty="0"/>
          </a:p>
        </p:txBody>
      </p:sp>
      <p:pic>
        <p:nvPicPr>
          <p:cNvPr id="5122" name="Picture 2" descr="arrow keys on keyboard - Stock Image">
            <a:extLst>
              <a:ext uri="{FF2B5EF4-FFF2-40B4-BE49-F238E27FC236}">
                <a16:creationId xmlns:a16="http://schemas.microsoft.com/office/drawing/2014/main" id="{CFA0A4AC-EDE4-65F1-EA25-996862A56B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604"/>
          <a:stretch/>
        </p:blipFill>
        <p:spPr bwMode="auto">
          <a:xfrm>
            <a:off x="6604237" y="563753"/>
            <a:ext cx="2671303" cy="16986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4DBD7FF-C29B-1992-8DD4-93CCC046D40E}"/>
              </a:ext>
            </a:extLst>
          </p:cNvPr>
          <p:cNvPicPr>
            <a:picLocks noChangeAspect="1"/>
          </p:cNvPicPr>
          <p:nvPr/>
        </p:nvPicPr>
        <p:blipFill>
          <a:blip r:embed="rId3"/>
          <a:stretch>
            <a:fillRect/>
          </a:stretch>
        </p:blipFill>
        <p:spPr>
          <a:xfrm>
            <a:off x="7939889" y="3870588"/>
            <a:ext cx="4252111" cy="2987412"/>
          </a:xfrm>
          <a:prstGeom prst="rect">
            <a:avLst/>
          </a:prstGeom>
        </p:spPr>
      </p:pic>
    </p:spTree>
    <p:extLst>
      <p:ext uri="{BB962C8B-B14F-4D97-AF65-F5344CB8AC3E}">
        <p14:creationId xmlns:p14="http://schemas.microsoft.com/office/powerpoint/2010/main" val="2794740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18B608-12B3-617F-FD42-4AB7EDC3C5CE}"/>
              </a:ext>
            </a:extLst>
          </p:cNvPr>
          <p:cNvSpPr>
            <a:spLocks noGrp="1"/>
          </p:cNvSpPr>
          <p:nvPr>
            <p:ph idx="1"/>
          </p:nvPr>
        </p:nvSpPr>
        <p:spPr>
          <a:xfrm>
            <a:off x="838200" y="280219"/>
            <a:ext cx="10515600" cy="5896744"/>
          </a:xfrm>
        </p:spPr>
        <p:txBody>
          <a:bodyPr>
            <a:normAutofit fontScale="77500" lnSpcReduction="20000"/>
          </a:bodyPr>
          <a:lstStyle/>
          <a:p>
            <a:endParaRPr lang="en-US" dirty="0"/>
          </a:p>
          <a:p>
            <a:r>
              <a:rPr lang="en-US" dirty="0">
                <a:solidFill>
                  <a:schemeClr val="bg1"/>
                </a:solidFill>
              </a:rPr>
              <a:t>Do not take advice from the owner / user of the computer.</a:t>
            </a:r>
          </a:p>
          <a:p>
            <a:r>
              <a:rPr lang="en-US" dirty="0">
                <a:solidFill>
                  <a:schemeClr val="bg1"/>
                </a:solidFill>
              </a:rPr>
              <a:t>Pull out the wire of power cord from CPU.</a:t>
            </a:r>
          </a:p>
          <a:p>
            <a:endParaRPr lang="en-US" dirty="0"/>
          </a:p>
          <a:p>
            <a:endParaRPr lang="en-US" dirty="0"/>
          </a:p>
          <a:p>
            <a:endParaRPr lang="en-US" dirty="0"/>
          </a:p>
          <a:p>
            <a:endParaRPr lang="en-US" dirty="0"/>
          </a:p>
          <a:p>
            <a:endParaRPr lang="en-US" dirty="0"/>
          </a:p>
          <a:p>
            <a:endParaRPr lang="en-US" dirty="0"/>
          </a:p>
          <a:p>
            <a:endParaRPr lang="en-US" dirty="0"/>
          </a:p>
          <a:p>
            <a:endParaRPr lang="en-US" sz="8000" dirty="0">
              <a:solidFill>
                <a:srgbClr val="FF0000"/>
              </a:solidFill>
            </a:endParaRPr>
          </a:p>
          <a:p>
            <a:pPr marL="0" indent="0">
              <a:buNone/>
            </a:pPr>
            <a:r>
              <a:rPr lang="en-US" sz="8000" dirty="0">
                <a:solidFill>
                  <a:srgbClr val="FF0000"/>
                </a:solidFill>
              </a:rPr>
              <a:t>DON’T </a:t>
            </a:r>
          </a:p>
          <a:p>
            <a:pPr marL="0" indent="0">
              <a:buNone/>
            </a:pPr>
            <a:r>
              <a:rPr lang="en-US" sz="8000" dirty="0">
                <a:solidFill>
                  <a:srgbClr val="FF0000"/>
                </a:solidFill>
              </a:rPr>
              <a:t>SHUTDOWN</a:t>
            </a:r>
          </a:p>
          <a:p>
            <a:endParaRPr lang="en-US" dirty="0"/>
          </a:p>
          <a:p>
            <a:endParaRPr lang="en-US" dirty="0"/>
          </a:p>
          <a:p>
            <a:pPr marL="0" indent="0">
              <a:buNone/>
            </a:pPr>
            <a:endParaRPr lang="en-US" dirty="0"/>
          </a:p>
        </p:txBody>
      </p:sp>
      <p:pic>
        <p:nvPicPr>
          <p:cNvPr id="4" name="Picture 8" descr="Picture of someone unplugging the power cable from a computer">
            <a:extLst>
              <a:ext uri="{FF2B5EF4-FFF2-40B4-BE49-F238E27FC236}">
                <a16:creationId xmlns:a16="http://schemas.microsoft.com/office/drawing/2014/main" id="{FBA3F056-52A9-7AD2-81EF-F185CC26F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6913" y="2046685"/>
            <a:ext cx="6415087" cy="4811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550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9CDB0-B496-2B04-01B5-57A8E8792045}"/>
              </a:ext>
            </a:extLst>
          </p:cNvPr>
          <p:cNvSpPr>
            <a:spLocks noGrp="1"/>
          </p:cNvSpPr>
          <p:nvPr>
            <p:ph type="title"/>
          </p:nvPr>
        </p:nvSpPr>
        <p:spPr>
          <a:xfrm>
            <a:off x="838200" y="365125"/>
            <a:ext cx="10515600" cy="835025"/>
          </a:xfrm>
        </p:spPr>
        <p:txBody>
          <a:bodyPr/>
          <a:lstStyle/>
          <a:p>
            <a:r>
              <a:rPr lang="en-US" b="1" u="sng" dirty="0"/>
              <a:t>Bit Locker Drive</a:t>
            </a:r>
          </a:p>
        </p:txBody>
      </p:sp>
      <p:pic>
        <p:nvPicPr>
          <p:cNvPr id="5" name="Content Placeholder 4">
            <a:extLst>
              <a:ext uri="{FF2B5EF4-FFF2-40B4-BE49-F238E27FC236}">
                <a16:creationId xmlns:a16="http://schemas.microsoft.com/office/drawing/2014/main" id="{275D2040-8B92-6140-6228-45CB5D00935C}"/>
              </a:ext>
            </a:extLst>
          </p:cNvPr>
          <p:cNvPicPr>
            <a:picLocks noGrp="1" noChangeAspect="1"/>
          </p:cNvPicPr>
          <p:nvPr>
            <p:ph idx="1"/>
          </p:nvPr>
        </p:nvPicPr>
        <p:blipFill>
          <a:blip r:embed="rId2"/>
          <a:stretch>
            <a:fillRect/>
          </a:stretch>
        </p:blipFill>
        <p:spPr>
          <a:xfrm>
            <a:off x="995362" y="1385888"/>
            <a:ext cx="10201275" cy="4705350"/>
          </a:xfrm>
        </p:spPr>
      </p:pic>
    </p:spTree>
    <p:extLst>
      <p:ext uri="{BB962C8B-B14F-4D97-AF65-F5344CB8AC3E}">
        <p14:creationId xmlns:p14="http://schemas.microsoft.com/office/powerpoint/2010/main" val="39706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24F3D2-6C90-1AB8-1045-AE3F43BE3D55}"/>
              </a:ext>
            </a:extLst>
          </p:cNvPr>
          <p:cNvSpPr>
            <a:spLocks noGrp="1"/>
          </p:cNvSpPr>
          <p:nvPr>
            <p:ph idx="1"/>
          </p:nvPr>
        </p:nvSpPr>
        <p:spPr>
          <a:xfrm>
            <a:off x="838200" y="407406"/>
            <a:ext cx="10515600" cy="5769557"/>
          </a:xfrm>
        </p:spPr>
        <p:txBody>
          <a:bodyPr/>
          <a:lstStyle/>
          <a:p>
            <a:pPr marL="0" indent="0">
              <a:buNone/>
            </a:pPr>
            <a:r>
              <a:rPr lang="en-US" b="1" u="sng" dirty="0">
                <a:solidFill>
                  <a:schemeClr val="bg1"/>
                </a:solidFill>
              </a:rPr>
              <a:t>Command to check for bit locked drive:   </a:t>
            </a:r>
          </a:p>
          <a:p>
            <a:r>
              <a:rPr lang="en-US" dirty="0">
                <a:solidFill>
                  <a:schemeClr val="bg1"/>
                </a:solidFill>
              </a:rPr>
              <a:t>manage-</a:t>
            </a:r>
            <a:r>
              <a:rPr lang="en-US" dirty="0" err="1">
                <a:solidFill>
                  <a:schemeClr val="bg1"/>
                </a:solidFill>
              </a:rPr>
              <a:t>bde</a:t>
            </a:r>
            <a:r>
              <a:rPr lang="en-US" dirty="0">
                <a:solidFill>
                  <a:schemeClr val="bg1"/>
                </a:solidFill>
              </a:rPr>
              <a:t> –status</a:t>
            </a:r>
          </a:p>
          <a:p>
            <a:endParaRPr lang="en-US" dirty="0">
              <a:solidFill>
                <a:schemeClr val="bg1"/>
              </a:solidFill>
            </a:endParaRPr>
          </a:p>
          <a:p>
            <a:r>
              <a:rPr lang="en-US" dirty="0">
                <a:solidFill>
                  <a:schemeClr val="bg1"/>
                </a:solidFill>
              </a:rPr>
              <a:t>manage-</a:t>
            </a:r>
            <a:r>
              <a:rPr lang="en-US" dirty="0" err="1">
                <a:solidFill>
                  <a:schemeClr val="bg1"/>
                </a:solidFill>
              </a:rPr>
              <a:t>bde</a:t>
            </a:r>
            <a:r>
              <a:rPr lang="en-US" dirty="0">
                <a:solidFill>
                  <a:schemeClr val="bg1"/>
                </a:solidFill>
              </a:rPr>
              <a:t> -protectors -get C:</a:t>
            </a:r>
          </a:p>
          <a:p>
            <a:pPr marL="0" indent="0">
              <a:buNone/>
            </a:pPr>
            <a:r>
              <a:rPr lang="en-US" dirty="0">
                <a:solidFill>
                  <a:schemeClr val="bg1"/>
                </a:solidFill>
              </a:rPr>
              <a:t>Recovery Key:</a:t>
            </a:r>
          </a:p>
          <a:p>
            <a:pPr marL="0" indent="0">
              <a:buNone/>
            </a:pPr>
            <a:r>
              <a:rPr lang="en-US" dirty="0">
                <a:solidFill>
                  <a:schemeClr val="bg1"/>
                </a:solidFill>
              </a:rPr>
              <a:t>{</a:t>
            </a:r>
            <a:r>
              <a:rPr lang="en-US" dirty="0">
                <a:solidFill>
                  <a:schemeClr val="tx1"/>
                </a:solidFill>
              </a:rPr>
              <a:t>12345678-1234-1234-1234-1234567890AB}</a:t>
            </a:r>
          </a:p>
          <a:p>
            <a:endParaRPr lang="en-US" dirty="0">
              <a:solidFill>
                <a:schemeClr val="tx1"/>
              </a:solidFill>
            </a:endParaRPr>
          </a:p>
          <a:p>
            <a:r>
              <a:rPr lang="en-US" dirty="0">
                <a:solidFill>
                  <a:schemeClr val="tx1"/>
                </a:solidFill>
              </a:rPr>
              <a:t>manage-</a:t>
            </a:r>
            <a:r>
              <a:rPr lang="en-US" dirty="0" err="1">
                <a:solidFill>
                  <a:schemeClr val="tx1"/>
                </a:solidFill>
              </a:rPr>
              <a:t>bde</a:t>
            </a:r>
            <a:r>
              <a:rPr lang="en-US" dirty="0">
                <a:solidFill>
                  <a:schemeClr val="tx1"/>
                </a:solidFill>
              </a:rPr>
              <a:t> -off C:</a:t>
            </a:r>
          </a:p>
          <a:p>
            <a:pPr marL="0" indent="0">
              <a:buNone/>
            </a:pPr>
            <a:endParaRPr lang="en-US" dirty="0"/>
          </a:p>
        </p:txBody>
      </p:sp>
      <p:pic>
        <p:nvPicPr>
          <p:cNvPr id="7" name="Picture 6">
            <a:extLst>
              <a:ext uri="{FF2B5EF4-FFF2-40B4-BE49-F238E27FC236}">
                <a16:creationId xmlns:a16="http://schemas.microsoft.com/office/drawing/2014/main" id="{96BD8BFA-048E-623D-CD74-E60BE3D0FAA4}"/>
              </a:ext>
            </a:extLst>
          </p:cNvPr>
          <p:cNvPicPr>
            <a:picLocks noChangeAspect="1"/>
          </p:cNvPicPr>
          <p:nvPr/>
        </p:nvPicPr>
        <p:blipFill>
          <a:blip r:embed="rId2"/>
          <a:stretch>
            <a:fillRect/>
          </a:stretch>
        </p:blipFill>
        <p:spPr>
          <a:xfrm>
            <a:off x="7783215" y="0"/>
            <a:ext cx="4321015" cy="6858000"/>
          </a:xfrm>
          <a:prstGeom prst="rect">
            <a:avLst/>
          </a:prstGeom>
        </p:spPr>
      </p:pic>
    </p:spTree>
    <p:extLst>
      <p:ext uri="{BB962C8B-B14F-4D97-AF65-F5344CB8AC3E}">
        <p14:creationId xmlns:p14="http://schemas.microsoft.com/office/powerpoint/2010/main" val="1359190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3B51-D7B5-38A1-E956-92B51797CF38}"/>
              </a:ext>
            </a:extLst>
          </p:cNvPr>
          <p:cNvSpPr>
            <a:spLocks noGrp="1"/>
          </p:cNvSpPr>
          <p:nvPr>
            <p:ph type="title"/>
          </p:nvPr>
        </p:nvSpPr>
        <p:spPr/>
        <p:txBody>
          <a:bodyPr/>
          <a:lstStyle/>
          <a:p>
            <a:r>
              <a:rPr lang="en-US" dirty="0"/>
              <a:t>What is hash and it is important.</a:t>
            </a:r>
          </a:p>
        </p:txBody>
      </p:sp>
      <p:sp>
        <p:nvSpPr>
          <p:cNvPr id="3" name="Content Placeholder 2">
            <a:extLst>
              <a:ext uri="{FF2B5EF4-FFF2-40B4-BE49-F238E27FC236}">
                <a16:creationId xmlns:a16="http://schemas.microsoft.com/office/drawing/2014/main" id="{CC7B16B8-90C9-33C3-DDCC-767495795FE3}"/>
              </a:ext>
            </a:extLst>
          </p:cNvPr>
          <p:cNvSpPr>
            <a:spLocks noGrp="1"/>
          </p:cNvSpPr>
          <p:nvPr>
            <p:ph idx="1"/>
          </p:nvPr>
        </p:nvSpPr>
        <p:spPr/>
        <p:txBody>
          <a:bodyPr>
            <a:normAutofit fontScale="92500" lnSpcReduction="20000"/>
          </a:bodyPr>
          <a:lstStyle/>
          <a:p>
            <a:r>
              <a:rPr lang="en-US" sz="3600" dirty="0"/>
              <a:t>It is like fingerprint of the data present inside a file or device.</a:t>
            </a:r>
          </a:p>
          <a:p>
            <a:r>
              <a:rPr lang="en-US" sz="3600" dirty="0"/>
              <a:t>It is unique for the each different file.</a:t>
            </a:r>
          </a:p>
          <a:p>
            <a:pPr marL="0" indent="0">
              <a:buNone/>
            </a:pPr>
            <a:endParaRPr lang="en-US" sz="3600" dirty="0"/>
          </a:p>
          <a:p>
            <a:r>
              <a:rPr lang="en-US" sz="3600" dirty="0"/>
              <a:t>In court of law it is used to verify the Integrity and Authenticity of the evidence.</a:t>
            </a:r>
          </a:p>
          <a:p>
            <a:endParaRPr lang="en-US" dirty="0"/>
          </a:p>
        </p:txBody>
      </p:sp>
    </p:spTree>
    <p:extLst>
      <p:ext uri="{BB962C8B-B14F-4D97-AF65-F5344CB8AC3E}">
        <p14:creationId xmlns:p14="http://schemas.microsoft.com/office/powerpoint/2010/main" val="2155790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CF6559-7D20-8D00-BF10-142E9939A5BE}"/>
              </a:ext>
            </a:extLst>
          </p:cNvPr>
          <p:cNvSpPr>
            <a:spLocks noGrp="1"/>
          </p:cNvSpPr>
          <p:nvPr>
            <p:ph idx="1"/>
          </p:nvPr>
        </p:nvSpPr>
        <p:spPr>
          <a:xfrm>
            <a:off x="838200" y="700088"/>
            <a:ext cx="10515600" cy="5476875"/>
          </a:xfrm>
        </p:spPr>
        <p:txBody>
          <a:bodyPr/>
          <a:lstStyle/>
          <a:p>
            <a:pPr marL="0" indent="0">
              <a:buNone/>
            </a:pPr>
            <a:r>
              <a:rPr lang="en-US" dirty="0">
                <a:solidFill>
                  <a:schemeClr val="bg1"/>
                </a:solidFill>
              </a:rPr>
              <a:t>Things to consider before starting the </a:t>
            </a:r>
            <a:r>
              <a:rPr lang="en-US" b="1" u="sng" dirty="0">
                <a:solidFill>
                  <a:schemeClr val="bg1"/>
                </a:solidFill>
              </a:rPr>
              <a:t>RAM capture </a:t>
            </a:r>
            <a:r>
              <a:rPr lang="en-US" dirty="0">
                <a:solidFill>
                  <a:schemeClr val="bg1"/>
                </a:solidFill>
              </a:rPr>
              <a:t>:</a:t>
            </a:r>
          </a:p>
          <a:p>
            <a:pPr marL="0" indent="0">
              <a:buNone/>
            </a:pPr>
            <a:endParaRPr lang="en-US" dirty="0">
              <a:solidFill>
                <a:schemeClr val="bg1"/>
              </a:solidFill>
            </a:endParaRPr>
          </a:p>
          <a:p>
            <a:pPr marL="571500" indent="-571500">
              <a:buAutoNum type="romanLcParenR"/>
            </a:pPr>
            <a:r>
              <a:rPr lang="en-US" dirty="0">
                <a:solidFill>
                  <a:schemeClr val="bg1"/>
                </a:solidFill>
              </a:rPr>
              <a:t>USB Pen drive(256 GB preferred) or the Destination Drive must be 1.5 times Grater than that of the RAM of the Device Being captured.</a:t>
            </a:r>
          </a:p>
          <a:p>
            <a:pPr marL="571500" indent="-571500">
              <a:buAutoNum type="romanLcParenR"/>
            </a:pPr>
            <a:endParaRPr lang="en-US" dirty="0"/>
          </a:p>
          <a:p>
            <a:pPr marL="571500" indent="-571500">
              <a:buAutoNum type="romanLcParenR"/>
            </a:pPr>
            <a:r>
              <a:rPr lang="en-US" dirty="0"/>
              <a:t>Do not turn off the device while the RAM capture is still being performed.</a:t>
            </a:r>
          </a:p>
          <a:p>
            <a:pPr marL="0" indent="0">
              <a:buNone/>
            </a:pPr>
            <a:endParaRPr lang="en-US" dirty="0"/>
          </a:p>
        </p:txBody>
      </p:sp>
    </p:spTree>
    <p:extLst>
      <p:ext uri="{BB962C8B-B14F-4D97-AF65-F5344CB8AC3E}">
        <p14:creationId xmlns:p14="http://schemas.microsoft.com/office/powerpoint/2010/main" val="2597440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F9438-40E9-869D-EBCB-6BA49778576C}"/>
              </a:ext>
            </a:extLst>
          </p:cNvPr>
          <p:cNvSpPr>
            <a:spLocks noGrp="1"/>
          </p:cNvSpPr>
          <p:nvPr>
            <p:ph type="title"/>
          </p:nvPr>
        </p:nvSpPr>
        <p:spPr/>
        <p:txBody>
          <a:bodyPr/>
          <a:lstStyle/>
          <a:p>
            <a:r>
              <a:rPr lang="en-US" b="1" i="1" u="sng" dirty="0"/>
              <a:t>Extracting data from the RAM</a:t>
            </a:r>
          </a:p>
        </p:txBody>
      </p:sp>
      <p:sp>
        <p:nvSpPr>
          <p:cNvPr id="3" name="Content Placeholder 2">
            <a:extLst>
              <a:ext uri="{FF2B5EF4-FFF2-40B4-BE49-F238E27FC236}">
                <a16:creationId xmlns:a16="http://schemas.microsoft.com/office/drawing/2014/main" id="{BEFE350B-E707-FB0E-2655-0297DEE0A98F}"/>
              </a:ext>
            </a:extLst>
          </p:cNvPr>
          <p:cNvSpPr>
            <a:spLocks noGrp="1"/>
          </p:cNvSpPr>
          <p:nvPr>
            <p:ph idx="1"/>
          </p:nvPr>
        </p:nvSpPr>
        <p:spPr/>
        <p:txBody>
          <a:bodyPr/>
          <a:lstStyle/>
          <a:p>
            <a:r>
              <a:rPr lang="en-US" dirty="0"/>
              <a:t>Using FTK Imager : 1) making portable FTK Imager</a:t>
            </a:r>
          </a:p>
        </p:txBody>
      </p:sp>
      <p:pic>
        <p:nvPicPr>
          <p:cNvPr id="5" name="Picture 4">
            <a:extLst>
              <a:ext uri="{FF2B5EF4-FFF2-40B4-BE49-F238E27FC236}">
                <a16:creationId xmlns:a16="http://schemas.microsoft.com/office/drawing/2014/main" id="{5F85BA59-DFF4-1958-0A0B-BA46D7A7E654}"/>
              </a:ext>
            </a:extLst>
          </p:cNvPr>
          <p:cNvPicPr>
            <a:picLocks noChangeAspect="1"/>
          </p:cNvPicPr>
          <p:nvPr/>
        </p:nvPicPr>
        <p:blipFill>
          <a:blip r:embed="rId2"/>
          <a:srcRect l="9315"/>
          <a:stretch/>
        </p:blipFill>
        <p:spPr>
          <a:xfrm>
            <a:off x="2045864" y="2924321"/>
            <a:ext cx="6108291" cy="3788824"/>
          </a:xfrm>
          <a:prstGeom prst="rect">
            <a:avLst/>
          </a:prstGeom>
        </p:spPr>
      </p:pic>
    </p:spTree>
    <p:extLst>
      <p:ext uri="{BB962C8B-B14F-4D97-AF65-F5344CB8AC3E}">
        <p14:creationId xmlns:p14="http://schemas.microsoft.com/office/powerpoint/2010/main" val="1198596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175B13-6353-0F7D-8FEC-E41D4627906C}"/>
              </a:ext>
            </a:extLst>
          </p:cNvPr>
          <p:cNvSpPr>
            <a:spLocks noGrp="1"/>
          </p:cNvSpPr>
          <p:nvPr>
            <p:ph idx="1"/>
          </p:nvPr>
        </p:nvSpPr>
        <p:spPr>
          <a:xfrm>
            <a:off x="838200" y="309716"/>
            <a:ext cx="10515600" cy="5867247"/>
          </a:xfrm>
        </p:spPr>
        <p:txBody>
          <a:bodyPr/>
          <a:lstStyle/>
          <a:p>
            <a:pPr marL="0" indent="0">
              <a:buNone/>
            </a:pPr>
            <a:endParaRPr lang="en-US" dirty="0"/>
          </a:p>
          <a:p>
            <a:pPr marL="0" indent="0">
              <a:buNone/>
            </a:pPr>
            <a:r>
              <a:rPr lang="en-US" dirty="0">
                <a:solidFill>
                  <a:schemeClr val="bg1"/>
                </a:solidFill>
              </a:rPr>
              <a:t>2) Connect the USB to the Device.</a:t>
            </a:r>
          </a:p>
          <a:p>
            <a:pPr marL="0" indent="0">
              <a:buNone/>
            </a:pPr>
            <a:r>
              <a:rPr lang="en-US" dirty="0">
                <a:solidFill>
                  <a:schemeClr val="bg1"/>
                </a:solidFill>
              </a:rPr>
              <a:t>3) Go to USB Folder where FTK imager is Present</a:t>
            </a:r>
          </a:p>
          <a:p>
            <a:pPr marL="0" indent="0">
              <a:buNone/>
            </a:pPr>
            <a:r>
              <a:rPr lang="en-US" dirty="0">
                <a:solidFill>
                  <a:schemeClr val="bg1"/>
                </a:solidFill>
              </a:rPr>
              <a:t>4) Double Click </a:t>
            </a:r>
          </a:p>
          <a:p>
            <a:endParaRPr lang="en-US" dirty="0"/>
          </a:p>
          <a:p>
            <a:endParaRPr lang="en-US" dirty="0"/>
          </a:p>
          <a:p>
            <a:endParaRPr lang="en-US" dirty="0"/>
          </a:p>
          <a:p>
            <a:endParaRPr lang="en-US" dirty="0"/>
          </a:p>
          <a:p>
            <a:endParaRPr lang="en-US" dirty="0"/>
          </a:p>
          <a:p>
            <a:endParaRPr lang="en-US" dirty="0"/>
          </a:p>
          <a:p>
            <a:pPr marL="0" indent="0">
              <a:buNone/>
            </a:pPr>
            <a:r>
              <a:rPr lang="en-US" dirty="0"/>
              <a:t>5) Click yes on the POP up.</a:t>
            </a:r>
          </a:p>
        </p:txBody>
      </p:sp>
      <p:pic>
        <p:nvPicPr>
          <p:cNvPr id="7" name="Picture 6">
            <a:extLst>
              <a:ext uri="{FF2B5EF4-FFF2-40B4-BE49-F238E27FC236}">
                <a16:creationId xmlns:a16="http://schemas.microsoft.com/office/drawing/2014/main" id="{DFCC6DC9-BBE4-5761-8292-94953006CFD1}"/>
              </a:ext>
            </a:extLst>
          </p:cNvPr>
          <p:cNvPicPr>
            <a:picLocks noChangeAspect="1"/>
          </p:cNvPicPr>
          <p:nvPr/>
        </p:nvPicPr>
        <p:blipFill>
          <a:blip r:embed="rId2"/>
          <a:stretch>
            <a:fillRect/>
          </a:stretch>
        </p:blipFill>
        <p:spPr>
          <a:xfrm>
            <a:off x="1000433" y="2581351"/>
            <a:ext cx="6296025" cy="1323975"/>
          </a:xfrm>
          <a:prstGeom prst="rect">
            <a:avLst/>
          </a:prstGeom>
        </p:spPr>
      </p:pic>
    </p:spTree>
    <p:extLst>
      <p:ext uri="{BB962C8B-B14F-4D97-AF65-F5344CB8AC3E}">
        <p14:creationId xmlns:p14="http://schemas.microsoft.com/office/powerpoint/2010/main" val="1551215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70569C-4EFB-D538-687C-6B1B379A0AE3}"/>
              </a:ext>
            </a:extLst>
          </p:cNvPr>
          <p:cNvPicPr>
            <a:picLocks noGrp="1" noChangeAspect="1"/>
          </p:cNvPicPr>
          <p:nvPr>
            <p:ph idx="1"/>
          </p:nvPr>
        </p:nvPicPr>
        <p:blipFill>
          <a:blip r:embed="rId2"/>
          <a:stretch>
            <a:fillRect/>
          </a:stretch>
        </p:blipFill>
        <p:spPr>
          <a:xfrm>
            <a:off x="1010216" y="1066413"/>
            <a:ext cx="10515600" cy="5539925"/>
          </a:xfrm>
        </p:spPr>
      </p:pic>
    </p:spTree>
    <p:extLst>
      <p:ext uri="{BB962C8B-B14F-4D97-AF65-F5344CB8AC3E}">
        <p14:creationId xmlns:p14="http://schemas.microsoft.com/office/powerpoint/2010/main" val="390060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322ED0F-BBF4-9836-21D2-6DE1D4AB1C0A}"/>
              </a:ext>
            </a:extLst>
          </p:cNvPr>
          <p:cNvSpPr>
            <a:spLocks noGrp="1"/>
          </p:cNvSpPr>
          <p:nvPr>
            <p:ph idx="1"/>
          </p:nvPr>
        </p:nvSpPr>
        <p:spPr>
          <a:xfrm>
            <a:off x="838200" y="162232"/>
            <a:ext cx="10515600" cy="6014731"/>
          </a:xfrm>
        </p:spPr>
        <p:txBody>
          <a:bodyPr/>
          <a:lstStyle/>
          <a:p>
            <a:pPr marL="0" indent="0">
              <a:buNone/>
            </a:pPr>
            <a:r>
              <a:rPr lang="en-US" dirty="0"/>
              <a:t>6) Click the File Tab : </a:t>
            </a:r>
          </a:p>
          <a:p>
            <a:endParaRPr lang="en-US" dirty="0"/>
          </a:p>
          <a:p>
            <a:endParaRPr lang="en-US" dirty="0"/>
          </a:p>
          <a:p>
            <a:endParaRPr lang="en-US" dirty="0"/>
          </a:p>
          <a:p>
            <a:endParaRPr lang="en-US" dirty="0"/>
          </a:p>
          <a:p>
            <a:endParaRPr lang="en-US" dirty="0"/>
          </a:p>
          <a:p>
            <a:endParaRPr lang="en-US" dirty="0"/>
          </a:p>
          <a:p>
            <a:pPr marL="0" indent="0">
              <a:buNone/>
            </a:pPr>
            <a:r>
              <a:rPr lang="en-US" dirty="0"/>
              <a:t>7) Click on the capture Memory  icon.</a:t>
            </a:r>
          </a:p>
          <a:p>
            <a:endParaRPr lang="en-US" dirty="0"/>
          </a:p>
        </p:txBody>
      </p:sp>
      <p:pic>
        <p:nvPicPr>
          <p:cNvPr id="8" name="Content Placeholder 4">
            <a:extLst>
              <a:ext uri="{FF2B5EF4-FFF2-40B4-BE49-F238E27FC236}">
                <a16:creationId xmlns:a16="http://schemas.microsoft.com/office/drawing/2014/main" id="{412F1768-1BD1-F346-88B8-F7E871D7839A}"/>
              </a:ext>
            </a:extLst>
          </p:cNvPr>
          <p:cNvPicPr>
            <a:picLocks noChangeAspect="1"/>
          </p:cNvPicPr>
          <p:nvPr/>
        </p:nvPicPr>
        <p:blipFill>
          <a:blip r:embed="rId2"/>
          <a:srcRect l="1706" t="2897" r="71787" b="46362"/>
          <a:stretch/>
        </p:blipFill>
        <p:spPr>
          <a:xfrm>
            <a:off x="5739165" y="771571"/>
            <a:ext cx="2787445" cy="3001297"/>
          </a:xfrm>
          <a:prstGeom prst="rect">
            <a:avLst/>
          </a:prstGeom>
        </p:spPr>
      </p:pic>
      <p:pic>
        <p:nvPicPr>
          <p:cNvPr id="10" name="Picture 9">
            <a:extLst>
              <a:ext uri="{FF2B5EF4-FFF2-40B4-BE49-F238E27FC236}">
                <a16:creationId xmlns:a16="http://schemas.microsoft.com/office/drawing/2014/main" id="{231B7153-4277-3A41-E9D8-EACB3B71A96C}"/>
              </a:ext>
            </a:extLst>
          </p:cNvPr>
          <p:cNvPicPr>
            <a:picLocks noChangeAspect="1"/>
          </p:cNvPicPr>
          <p:nvPr/>
        </p:nvPicPr>
        <p:blipFill>
          <a:blip r:embed="rId3"/>
          <a:srcRect l="1693" t="27311" r="82581" b="56345"/>
          <a:stretch/>
        </p:blipFill>
        <p:spPr>
          <a:xfrm>
            <a:off x="2117779" y="3998017"/>
            <a:ext cx="1917291" cy="1120878"/>
          </a:xfrm>
          <a:prstGeom prst="rect">
            <a:avLst/>
          </a:prstGeom>
        </p:spPr>
      </p:pic>
    </p:spTree>
    <p:extLst>
      <p:ext uri="{BB962C8B-B14F-4D97-AF65-F5344CB8AC3E}">
        <p14:creationId xmlns:p14="http://schemas.microsoft.com/office/powerpoint/2010/main" val="3283109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A816F29-FF8D-86AE-20D7-FF2A0BF9295B}"/>
              </a:ext>
            </a:extLst>
          </p:cNvPr>
          <p:cNvSpPr>
            <a:spLocks noGrp="1"/>
          </p:cNvSpPr>
          <p:nvPr>
            <p:ph idx="1"/>
          </p:nvPr>
        </p:nvSpPr>
        <p:spPr>
          <a:xfrm>
            <a:off x="838200" y="206477"/>
            <a:ext cx="10515600" cy="5970486"/>
          </a:xfrm>
        </p:spPr>
        <p:txBody>
          <a:bodyPr/>
          <a:lstStyle/>
          <a:p>
            <a:pPr marL="0" indent="0">
              <a:buNone/>
            </a:pPr>
            <a:endParaRPr lang="en-US" dirty="0"/>
          </a:p>
          <a:p>
            <a:pPr marL="0" indent="0">
              <a:buNone/>
            </a:pPr>
            <a:r>
              <a:rPr lang="en-US" dirty="0">
                <a:solidFill>
                  <a:schemeClr val="bg1"/>
                </a:solidFill>
              </a:rPr>
              <a:t>8)Click the Browse Button : </a:t>
            </a:r>
          </a:p>
        </p:txBody>
      </p:sp>
      <p:pic>
        <p:nvPicPr>
          <p:cNvPr id="8" name="Content Placeholder 4">
            <a:extLst>
              <a:ext uri="{FF2B5EF4-FFF2-40B4-BE49-F238E27FC236}">
                <a16:creationId xmlns:a16="http://schemas.microsoft.com/office/drawing/2014/main" id="{8D46DC34-1838-EFCA-FC2B-8C4B87E1BF07}"/>
              </a:ext>
            </a:extLst>
          </p:cNvPr>
          <p:cNvPicPr>
            <a:picLocks noChangeAspect="1"/>
          </p:cNvPicPr>
          <p:nvPr/>
        </p:nvPicPr>
        <p:blipFill>
          <a:blip r:embed="rId2"/>
          <a:stretch>
            <a:fillRect/>
          </a:stretch>
        </p:blipFill>
        <p:spPr>
          <a:xfrm>
            <a:off x="998598" y="1335571"/>
            <a:ext cx="3286125" cy="2752725"/>
          </a:xfrm>
          <a:prstGeom prst="rect">
            <a:avLst/>
          </a:prstGeom>
        </p:spPr>
      </p:pic>
      <p:pic>
        <p:nvPicPr>
          <p:cNvPr id="10" name="Picture 9">
            <a:extLst>
              <a:ext uri="{FF2B5EF4-FFF2-40B4-BE49-F238E27FC236}">
                <a16:creationId xmlns:a16="http://schemas.microsoft.com/office/drawing/2014/main" id="{BAD8598F-CB0A-4373-4852-2265A33C6E6D}"/>
              </a:ext>
            </a:extLst>
          </p:cNvPr>
          <p:cNvPicPr>
            <a:picLocks noChangeAspect="1"/>
          </p:cNvPicPr>
          <p:nvPr/>
        </p:nvPicPr>
        <p:blipFill>
          <a:blip r:embed="rId3"/>
          <a:stretch>
            <a:fillRect/>
          </a:stretch>
        </p:blipFill>
        <p:spPr>
          <a:xfrm>
            <a:off x="5323501" y="2711933"/>
            <a:ext cx="6296025" cy="3486150"/>
          </a:xfrm>
          <a:prstGeom prst="rect">
            <a:avLst/>
          </a:prstGeom>
        </p:spPr>
      </p:pic>
    </p:spTree>
    <p:extLst>
      <p:ext uri="{BB962C8B-B14F-4D97-AF65-F5344CB8AC3E}">
        <p14:creationId xmlns:p14="http://schemas.microsoft.com/office/powerpoint/2010/main" val="18831879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59FED-C58F-8758-B9DB-7F646FA89F3C}"/>
              </a:ext>
            </a:extLst>
          </p:cNvPr>
          <p:cNvSpPr>
            <a:spLocks noGrp="1"/>
          </p:cNvSpPr>
          <p:nvPr>
            <p:ph idx="1"/>
          </p:nvPr>
        </p:nvSpPr>
        <p:spPr>
          <a:xfrm>
            <a:off x="838200" y="324465"/>
            <a:ext cx="10515600" cy="5852498"/>
          </a:xfrm>
        </p:spPr>
        <p:txBody>
          <a:bodyPr/>
          <a:lstStyle/>
          <a:p>
            <a:pPr marL="0" indent="0">
              <a:buNone/>
            </a:pPr>
            <a:endParaRPr lang="en-US" dirty="0"/>
          </a:p>
          <a:p>
            <a:pPr marL="0" indent="0">
              <a:buNone/>
            </a:pPr>
            <a:r>
              <a:rPr lang="en-US" dirty="0">
                <a:solidFill>
                  <a:schemeClr val="bg1"/>
                </a:solidFill>
              </a:rPr>
              <a:t>9) Select the destination folder and press ok:</a:t>
            </a:r>
          </a:p>
          <a:p>
            <a:endParaRPr lang="en-US" dirty="0">
              <a:solidFill>
                <a:schemeClr val="bg1"/>
              </a:solidFill>
            </a:endParaRPr>
          </a:p>
          <a:p>
            <a:endParaRPr lang="en-US" dirty="0"/>
          </a:p>
          <a:p>
            <a:endParaRPr lang="en-US" dirty="0"/>
          </a:p>
          <a:p>
            <a:endParaRPr lang="en-US" dirty="0"/>
          </a:p>
          <a:p>
            <a:endParaRPr lang="en-US" dirty="0"/>
          </a:p>
          <a:p>
            <a:endParaRPr lang="en-US" dirty="0"/>
          </a:p>
          <a:p>
            <a:endParaRPr lang="en-US" dirty="0"/>
          </a:p>
          <a:p>
            <a:pPr marL="0" indent="0">
              <a:buNone/>
            </a:pPr>
            <a:r>
              <a:rPr lang="en-US" dirty="0"/>
              <a:t>10) Check the  Include </a:t>
            </a:r>
            <a:r>
              <a:rPr lang="en-US" dirty="0" err="1"/>
              <a:t>pagefile</a:t>
            </a:r>
            <a:r>
              <a:rPr lang="en-US" dirty="0"/>
              <a:t>:</a:t>
            </a:r>
          </a:p>
        </p:txBody>
      </p:sp>
      <p:pic>
        <p:nvPicPr>
          <p:cNvPr id="5" name="Picture 4">
            <a:extLst>
              <a:ext uri="{FF2B5EF4-FFF2-40B4-BE49-F238E27FC236}">
                <a16:creationId xmlns:a16="http://schemas.microsoft.com/office/drawing/2014/main" id="{2D78351A-6200-CDCC-E27E-E7872E0371B1}"/>
              </a:ext>
            </a:extLst>
          </p:cNvPr>
          <p:cNvPicPr>
            <a:picLocks noChangeAspect="1"/>
          </p:cNvPicPr>
          <p:nvPr/>
        </p:nvPicPr>
        <p:blipFill>
          <a:blip r:embed="rId2"/>
          <a:srcRect l="29274" t="19355" r="34557" b="41505"/>
          <a:stretch/>
        </p:blipFill>
        <p:spPr>
          <a:xfrm>
            <a:off x="6290801" y="923744"/>
            <a:ext cx="4409767" cy="2684207"/>
          </a:xfrm>
          <a:prstGeom prst="rect">
            <a:avLst/>
          </a:prstGeom>
        </p:spPr>
      </p:pic>
      <p:pic>
        <p:nvPicPr>
          <p:cNvPr id="9" name="Picture 8">
            <a:extLst>
              <a:ext uri="{FF2B5EF4-FFF2-40B4-BE49-F238E27FC236}">
                <a16:creationId xmlns:a16="http://schemas.microsoft.com/office/drawing/2014/main" id="{EA5226E6-6CCB-B275-D63D-9E0100C6A087}"/>
              </a:ext>
            </a:extLst>
          </p:cNvPr>
          <p:cNvPicPr>
            <a:picLocks noChangeAspect="1"/>
          </p:cNvPicPr>
          <p:nvPr/>
        </p:nvPicPr>
        <p:blipFill>
          <a:blip r:embed="rId3"/>
          <a:stretch>
            <a:fillRect/>
          </a:stretch>
        </p:blipFill>
        <p:spPr>
          <a:xfrm>
            <a:off x="8373098" y="3906144"/>
            <a:ext cx="3295650" cy="2781300"/>
          </a:xfrm>
          <a:prstGeom prst="rect">
            <a:avLst/>
          </a:prstGeom>
        </p:spPr>
      </p:pic>
    </p:spTree>
    <p:extLst>
      <p:ext uri="{BB962C8B-B14F-4D97-AF65-F5344CB8AC3E}">
        <p14:creationId xmlns:p14="http://schemas.microsoft.com/office/powerpoint/2010/main" val="185178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BD9F3C-F18B-2CBE-1E22-1D9606BF9E3E}"/>
              </a:ext>
            </a:extLst>
          </p:cNvPr>
          <p:cNvSpPr>
            <a:spLocks noGrp="1"/>
          </p:cNvSpPr>
          <p:nvPr>
            <p:ph idx="1"/>
          </p:nvPr>
        </p:nvSpPr>
        <p:spPr>
          <a:xfrm>
            <a:off x="838200" y="250723"/>
            <a:ext cx="10515600" cy="5926240"/>
          </a:xfrm>
        </p:spPr>
        <p:txBody>
          <a:bodyPr/>
          <a:lstStyle/>
          <a:p>
            <a:pPr marL="0" indent="0">
              <a:buNone/>
            </a:pPr>
            <a:endParaRPr lang="en-US" dirty="0"/>
          </a:p>
          <a:p>
            <a:pPr marL="0" indent="0">
              <a:buNone/>
            </a:pPr>
            <a:r>
              <a:rPr lang="en-US" dirty="0">
                <a:solidFill>
                  <a:schemeClr val="bg1"/>
                </a:solidFill>
              </a:rPr>
              <a:t>11) Click Capture Memory Button:</a:t>
            </a:r>
          </a:p>
          <a:p>
            <a:endParaRPr lang="en-US" dirty="0"/>
          </a:p>
          <a:p>
            <a:endParaRPr lang="en-US" dirty="0"/>
          </a:p>
          <a:p>
            <a:endParaRPr lang="en-US" dirty="0"/>
          </a:p>
          <a:p>
            <a:endParaRPr lang="en-US" dirty="0"/>
          </a:p>
          <a:p>
            <a:endParaRPr lang="en-US" dirty="0"/>
          </a:p>
          <a:p>
            <a:pPr marL="0" indent="0">
              <a:buNone/>
            </a:pPr>
            <a:r>
              <a:rPr lang="en-US" dirty="0"/>
              <a:t>12) The Capture of the memory has now begun.</a:t>
            </a:r>
          </a:p>
        </p:txBody>
      </p:sp>
      <p:pic>
        <p:nvPicPr>
          <p:cNvPr id="5" name="Picture 4">
            <a:extLst>
              <a:ext uri="{FF2B5EF4-FFF2-40B4-BE49-F238E27FC236}">
                <a16:creationId xmlns:a16="http://schemas.microsoft.com/office/drawing/2014/main" id="{9776240F-3977-B12F-1BB2-03FA317F25A1}"/>
              </a:ext>
            </a:extLst>
          </p:cNvPr>
          <p:cNvPicPr>
            <a:picLocks noChangeAspect="1"/>
          </p:cNvPicPr>
          <p:nvPr/>
        </p:nvPicPr>
        <p:blipFill>
          <a:blip r:embed="rId2"/>
          <a:srcRect l="29637" t="22796" r="51371" b="47312"/>
          <a:stretch/>
        </p:blipFill>
        <p:spPr>
          <a:xfrm>
            <a:off x="5312777" y="731825"/>
            <a:ext cx="2315497" cy="2050026"/>
          </a:xfrm>
          <a:prstGeom prst="rect">
            <a:avLst/>
          </a:prstGeom>
        </p:spPr>
      </p:pic>
      <p:pic>
        <p:nvPicPr>
          <p:cNvPr id="7" name="Picture 6">
            <a:extLst>
              <a:ext uri="{FF2B5EF4-FFF2-40B4-BE49-F238E27FC236}">
                <a16:creationId xmlns:a16="http://schemas.microsoft.com/office/drawing/2014/main" id="{5D5CA50A-F398-FF32-D660-34893217E597}"/>
              </a:ext>
            </a:extLst>
          </p:cNvPr>
          <p:cNvPicPr>
            <a:picLocks noChangeAspect="1"/>
          </p:cNvPicPr>
          <p:nvPr/>
        </p:nvPicPr>
        <p:blipFill>
          <a:blip r:embed="rId3"/>
          <a:stretch>
            <a:fillRect/>
          </a:stretch>
        </p:blipFill>
        <p:spPr>
          <a:xfrm>
            <a:off x="6470525" y="3952540"/>
            <a:ext cx="3971925" cy="1885950"/>
          </a:xfrm>
          <a:prstGeom prst="rect">
            <a:avLst/>
          </a:prstGeom>
        </p:spPr>
      </p:pic>
    </p:spTree>
    <p:extLst>
      <p:ext uri="{BB962C8B-B14F-4D97-AF65-F5344CB8AC3E}">
        <p14:creationId xmlns:p14="http://schemas.microsoft.com/office/powerpoint/2010/main" val="15834954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F0B8E-38EA-1794-BB48-C0E97847D32D}"/>
              </a:ext>
            </a:extLst>
          </p:cNvPr>
          <p:cNvSpPr>
            <a:spLocks noGrp="1"/>
          </p:cNvSpPr>
          <p:nvPr>
            <p:ph idx="1"/>
          </p:nvPr>
        </p:nvSpPr>
        <p:spPr>
          <a:xfrm>
            <a:off x="838200" y="206477"/>
            <a:ext cx="10515600" cy="5970486"/>
          </a:xfrm>
        </p:spPr>
        <p:txBody>
          <a:bodyPr>
            <a:normAutofit/>
          </a:bodyPr>
          <a:lstStyle/>
          <a:p>
            <a:pPr marL="0" indent="0">
              <a:buNone/>
            </a:pPr>
            <a:endParaRPr lang="en-US" dirty="0">
              <a:solidFill>
                <a:schemeClr val="bg1"/>
              </a:solidFill>
            </a:endParaRPr>
          </a:p>
          <a:p>
            <a:pPr marL="0" indent="0">
              <a:buNone/>
            </a:pPr>
            <a:r>
              <a:rPr lang="en-US" dirty="0">
                <a:solidFill>
                  <a:schemeClr val="bg1"/>
                </a:solidFill>
              </a:rPr>
              <a:t>13) After Completing the Task the result will look like:</a:t>
            </a:r>
          </a:p>
          <a:p>
            <a:pPr marL="0" indent="0">
              <a:buNone/>
            </a:pPr>
            <a:r>
              <a:rPr lang="en-US" dirty="0"/>
              <a:t> </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298496DC-79F1-29E9-723C-2B55969FE6EF}"/>
              </a:ext>
            </a:extLst>
          </p:cNvPr>
          <p:cNvPicPr>
            <a:picLocks noChangeAspect="1"/>
          </p:cNvPicPr>
          <p:nvPr/>
        </p:nvPicPr>
        <p:blipFill>
          <a:blip r:embed="rId2"/>
          <a:stretch>
            <a:fillRect/>
          </a:stretch>
        </p:blipFill>
        <p:spPr>
          <a:xfrm>
            <a:off x="1971624" y="1162050"/>
            <a:ext cx="7524750" cy="5695950"/>
          </a:xfrm>
          <a:prstGeom prst="rect">
            <a:avLst/>
          </a:prstGeom>
        </p:spPr>
      </p:pic>
    </p:spTree>
    <p:extLst>
      <p:ext uri="{BB962C8B-B14F-4D97-AF65-F5344CB8AC3E}">
        <p14:creationId xmlns:p14="http://schemas.microsoft.com/office/powerpoint/2010/main" val="54559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89721-42FD-8013-3975-C79D289C494F}"/>
              </a:ext>
            </a:extLst>
          </p:cNvPr>
          <p:cNvSpPr>
            <a:spLocks noGrp="1"/>
          </p:cNvSpPr>
          <p:nvPr>
            <p:ph type="title"/>
          </p:nvPr>
        </p:nvSpPr>
        <p:spPr>
          <a:xfrm>
            <a:off x="838200" y="365125"/>
            <a:ext cx="10515600" cy="1120775"/>
          </a:xfrm>
        </p:spPr>
        <p:txBody>
          <a:bodyPr/>
          <a:lstStyle/>
          <a:p>
            <a:br>
              <a:rPr lang="en-US" b="1" i="1" u="sng" dirty="0"/>
            </a:br>
            <a:r>
              <a:rPr lang="en-US" b="1" i="1" u="sng" dirty="0"/>
              <a:t>RAM Extraction in MAC</a:t>
            </a:r>
          </a:p>
        </p:txBody>
      </p:sp>
      <p:sp>
        <p:nvSpPr>
          <p:cNvPr id="3" name="Content Placeholder 2">
            <a:extLst>
              <a:ext uri="{FF2B5EF4-FFF2-40B4-BE49-F238E27FC236}">
                <a16:creationId xmlns:a16="http://schemas.microsoft.com/office/drawing/2014/main" id="{BBBC6704-0F40-FA2B-11DE-EF6D64A71D33}"/>
              </a:ext>
            </a:extLst>
          </p:cNvPr>
          <p:cNvSpPr>
            <a:spLocks noGrp="1"/>
          </p:cNvSpPr>
          <p:nvPr>
            <p:ph idx="1"/>
          </p:nvPr>
        </p:nvSpPr>
        <p:spPr>
          <a:xfrm>
            <a:off x="838200" y="1485900"/>
            <a:ext cx="10515600" cy="4691063"/>
          </a:xfrm>
        </p:spPr>
        <p:txBody>
          <a:bodyPr/>
          <a:lstStyle/>
          <a:p>
            <a:endParaRPr lang="en-US" b="1" dirty="0"/>
          </a:p>
          <a:p>
            <a:endParaRPr lang="en-US" b="1" dirty="0"/>
          </a:p>
          <a:p>
            <a:r>
              <a:rPr lang="en-US" b="1" dirty="0"/>
              <a:t>Volatility Framework</a:t>
            </a:r>
          </a:p>
          <a:p>
            <a:r>
              <a:rPr lang="en-US" dirty="0"/>
              <a:t>Volatility is a powerful open-source memory forensics framework that can extract RAM contents and analyze memory dumps. However, it requires advanced knowledge and installation of both Volatility and a compatible memory dump.</a:t>
            </a:r>
          </a:p>
          <a:p>
            <a:pPr marL="0" indent="0">
              <a:buNone/>
            </a:pPr>
            <a:endParaRPr lang="en-US" dirty="0"/>
          </a:p>
          <a:p>
            <a:r>
              <a:rPr lang="en-US" b="1" dirty="0"/>
              <a:t>OSXPMEM</a:t>
            </a:r>
          </a:p>
          <a:p>
            <a:r>
              <a:rPr lang="en-US" dirty="0"/>
              <a:t>OSXPMEM is a tool for acquiring physical memory on macOS. It creates a memory dump from the system RAM, which you can then analyze using tools like Volatility.</a:t>
            </a:r>
          </a:p>
          <a:p>
            <a:pPr marL="0" indent="0">
              <a:buNone/>
            </a:pPr>
            <a:endParaRPr lang="en-US" dirty="0"/>
          </a:p>
        </p:txBody>
      </p:sp>
    </p:spTree>
    <p:extLst>
      <p:ext uri="{BB962C8B-B14F-4D97-AF65-F5344CB8AC3E}">
        <p14:creationId xmlns:p14="http://schemas.microsoft.com/office/powerpoint/2010/main" val="2702583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B8FF2-B1CF-639A-DB35-6BF51D7555FD}"/>
              </a:ext>
            </a:extLst>
          </p:cNvPr>
          <p:cNvSpPr>
            <a:spLocks noGrp="1"/>
          </p:cNvSpPr>
          <p:nvPr>
            <p:ph type="title"/>
          </p:nvPr>
        </p:nvSpPr>
        <p:spPr/>
        <p:txBody>
          <a:bodyPr>
            <a:normAutofit fontScale="90000"/>
          </a:bodyPr>
          <a:lstStyle/>
          <a:p>
            <a:r>
              <a:rPr lang="en-US" sz="3600" b="1" i="1" u="sng" dirty="0"/>
              <a:t>Why RAM Extraction is easy on Computer than MOIBLE</a:t>
            </a:r>
          </a:p>
        </p:txBody>
      </p:sp>
      <p:sp>
        <p:nvSpPr>
          <p:cNvPr id="3" name="Content Placeholder 2">
            <a:extLst>
              <a:ext uri="{FF2B5EF4-FFF2-40B4-BE49-F238E27FC236}">
                <a16:creationId xmlns:a16="http://schemas.microsoft.com/office/drawing/2014/main" id="{332D82DF-E96A-C54B-3021-C0B131B6DB06}"/>
              </a:ext>
            </a:extLst>
          </p:cNvPr>
          <p:cNvSpPr>
            <a:spLocks noGrp="1"/>
          </p:cNvSpPr>
          <p:nvPr>
            <p:ph idx="1"/>
          </p:nvPr>
        </p:nvSpPr>
        <p:spPr>
          <a:xfrm>
            <a:off x="838200" y="1557196"/>
            <a:ext cx="10515600" cy="5300804"/>
          </a:xfrm>
        </p:spPr>
        <p:txBody>
          <a:bodyPr>
            <a:normAutofit/>
          </a:bodyPr>
          <a:lstStyle/>
          <a:p>
            <a:endParaRPr lang="en-US" dirty="0"/>
          </a:p>
          <a:p>
            <a:endParaRPr lang="en-US" dirty="0"/>
          </a:p>
          <a:p>
            <a:endParaRPr lang="en-US" dirty="0"/>
          </a:p>
          <a:p>
            <a:r>
              <a:rPr lang="en-US" dirty="0"/>
              <a:t>Fewer security restrictions on computers, such as the ability to directly access memory or use built-in tools for memory dumps.</a:t>
            </a:r>
          </a:p>
          <a:p>
            <a:pPr marL="0" indent="0">
              <a:buNone/>
            </a:pPr>
            <a:endParaRPr lang="en-US" dirty="0"/>
          </a:p>
          <a:p>
            <a:r>
              <a:rPr lang="en-US" dirty="0"/>
              <a:t>Advance tools for computer systems that support memory extraction without requiring special exploits.</a:t>
            </a:r>
          </a:p>
          <a:p>
            <a:endParaRPr lang="en-US" dirty="0"/>
          </a:p>
          <a:p>
            <a:r>
              <a:rPr lang="en-US" dirty="0"/>
              <a:t>Lower hardware and OS-level constraints on computers that allow direct interaction with system memory..</a:t>
            </a:r>
          </a:p>
          <a:p>
            <a:pPr marL="0" indent="0">
              <a:buNone/>
            </a:pPr>
            <a:endParaRPr lang="en-US" dirty="0"/>
          </a:p>
          <a:p>
            <a:r>
              <a:rPr lang="en-US" dirty="0"/>
              <a:t>Lower risk of damaging or bricking the device when dumping memory on computers compared to the more risky and complex processes required for mobile devices.</a:t>
            </a:r>
          </a:p>
        </p:txBody>
      </p:sp>
    </p:spTree>
    <p:extLst>
      <p:ext uri="{BB962C8B-B14F-4D97-AF65-F5344CB8AC3E}">
        <p14:creationId xmlns:p14="http://schemas.microsoft.com/office/powerpoint/2010/main" val="280297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D4AC-F94E-D7F8-2250-867CD3CABC20}"/>
              </a:ext>
            </a:extLst>
          </p:cNvPr>
          <p:cNvSpPr>
            <a:spLocks noGrp="1"/>
          </p:cNvSpPr>
          <p:nvPr>
            <p:ph type="title"/>
          </p:nvPr>
        </p:nvSpPr>
        <p:spPr/>
        <p:txBody>
          <a:bodyPr/>
          <a:lstStyle/>
          <a:p>
            <a:r>
              <a:rPr lang="en-US" b="1" i="1" u="sng" dirty="0"/>
              <a:t>Pen Drive Imaging</a:t>
            </a:r>
          </a:p>
        </p:txBody>
      </p:sp>
      <p:sp>
        <p:nvSpPr>
          <p:cNvPr id="3" name="Content Placeholder 2">
            <a:extLst>
              <a:ext uri="{FF2B5EF4-FFF2-40B4-BE49-F238E27FC236}">
                <a16:creationId xmlns:a16="http://schemas.microsoft.com/office/drawing/2014/main" id="{DF0363BF-0F14-7AA4-4927-5156D20E299E}"/>
              </a:ext>
            </a:extLst>
          </p:cNvPr>
          <p:cNvSpPr>
            <a:spLocks noGrp="1"/>
          </p:cNvSpPr>
          <p:nvPr>
            <p:ph idx="1"/>
          </p:nvPr>
        </p:nvSpPr>
        <p:spPr/>
        <p:txBody>
          <a:bodyPr/>
          <a:lstStyle/>
          <a:p>
            <a:r>
              <a:rPr lang="en-US" dirty="0"/>
              <a:t>1 Click File Menu, then Select Create Disk Image:</a:t>
            </a:r>
          </a:p>
        </p:txBody>
      </p:sp>
      <p:pic>
        <p:nvPicPr>
          <p:cNvPr id="4098" name="Picture 2">
            <a:extLst>
              <a:ext uri="{FF2B5EF4-FFF2-40B4-BE49-F238E27FC236}">
                <a16:creationId xmlns:a16="http://schemas.microsoft.com/office/drawing/2014/main" id="{2A740143-91EC-2933-7B94-789ED1936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3457" y="3094191"/>
            <a:ext cx="6056895" cy="3668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6930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C9CD2-20FE-CA4C-9BFB-42767FDA2EFA}"/>
              </a:ext>
            </a:extLst>
          </p:cNvPr>
          <p:cNvSpPr>
            <a:spLocks noGrp="1"/>
          </p:cNvSpPr>
          <p:nvPr>
            <p:ph idx="1"/>
          </p:nvPr>
        </p:nvSpPr>
        <p:spPr>
          <a:xfrm>
            <a:off x="838200" y="400050"/>
            <a:ext cx="10515600" cy="5776913"/>
          </a:xfrm>
        </p:spPr>
        <p:txBody>
          <a:bodyPr/>
          <a:lstStyle/>
          <a:p>
            <a:endParaRPr lang="en-US" dirty="0">
              <a:solidFill>
                <a:schemeClr val="bg1"/>
              </a:solidFill>
            </a:endParaRPr>
          </a:p>
          <a:p>
            <a:r>
              <a:rPr lang="en-US" dirty="0">
                <a:solidFill>
                  <a:schemeClr val="bg1"/>
                </a:solidFill>
              </a:rPr>
              <a:t>2 Select the source or device to be imaged </a:t>
            </a:r>
          </a:p>
          <a:p>
            <a:pPr marL="0" indent="0">
              <a:buNone/>
            </a:pPr>
            <a:endParaRPr lang="en-US" dirty="0"/>
          </a:p>
        </p:txBody>
      </p:sp>
      <p:pic>
        <p:nvPicPr>
          <p:cNvPr id="5122" name="Picture 2">
            <a:extLst>
              <a:ext uri="{FF2B5EF4-FFF2-40B4-BE49-F238E27FC236}">
                <a16:creationId xmlns:a16="http://schemas.microsoft.com/office/drawing/2014/main" id="{DAB499A7-E050-5197-20B2-172A939FFB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088" y="1906366"/>
            <a:ext cx="5505450" cy="406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21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3BC0F-E735-3E27-A2C7-96A5C72A680C}"/>
              </a:ext>
            </a:extLst>
          </p:cNvPr>
          <p:cNvSpPr>
            <a:spLocks noGrp="1"/>
          </p:cNvSpPr>
          <p:nvPr>
            <p:ph idx="1"/>
          </p:nvPr>
        </p:nvSpPr>
        <p:spPr>
          <a:xfrm>
            <a:off x="838200" y="442913"/>
            <a:ext cx="10515600" cy="5734050"/>
          </a:xfrm>
        </p:spPr>
        <p:txBody>
          <a:bodyPr/>
          <a:lstStyle/>
          <a:p>
            <a:r>
              <a:rPr lang="en-US" dirty="0">
                <a:solidFill>
                  <a:schemeClr val="bg1"/>
                </a:solidFill>
              </a:rPr>
              <a:t>3 Select </a:t>
            </a:r>
            <a:r>
              <a:rPr lang="en-US" dirty="0" err="1">
                <a:solidFill>
                  <a:schemeClr val="bg1"/>
                </a:solidFill>
              </a:rPr>
              <a:t>Flashdisk</a:t>
            </a:r>
            <a:r>
              <a:rPr lang="en-US" dirty="0">
                <a:solidFill>
                  <a:schemeClr val="bg1"/>
                </a:solidFill>
              </a:rPr>
              <a:t> and Finish </a:t>
            </a:r>
          </a:p>
        </p:txBody>
      </p:sp>
      <p:pic>
        <p:nvPicPr>
          <p:cNvPr id="6146" name="Picture 2">
            <a:extLst>
              <a:ext uri="{FF2B5EF4-FFF2-40B4-BE49-F238E27FC236}">
                <a16:creationId xmlns:a16="http://schemas.microsoft.com/office/drawing/2014/main" id="{05305018-58FD-0A12-6E94-3981A80F6F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9143" y="1821397"/>
            <a:ext cx="5505450" cy="404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1455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9E3048-C400-C779-6EB7-B4692AAD539F}"/>
              </a:ext>
            </a:extLst>
          </p:cNvPr>
          <p:cNvSpPr>
            <a:spLocks noGrp="1"/>
          </p:cNvSpPr>
          <p:nvPr>
            <p:ph idx="1"/>
          </p:nvPr>
        </p:nvSpPr>
        <p:spPr>
          <a:xfrm>
            <a:off x="838200" y="485775"/>
            <a:ext cx="10515600" cy="5691188"/>
          </a:xfrm>
        </p:spPr>
        <p:txBody>
          <a:bodyPr/>
          <a:lstStyle/>
          <a:p>
            <a:r>
              <a:rPr lang="en-US" dirty="0">
                <a:solidFill>
                  <a:schemeClr val="bg1"/>
                </a:solidFill>
              </a:rPr>
              <a:t>4  Select Add</a:t>
            </a:r>
          </a:p>
        </p:txBody>
      </p:sp>
      <p:pic>
        <p:nvPicPr>
          <p:cNvPr id="7170" name="Picture 2">
            <a:extLst>
              <a:ext uri="{FF2B5EF4-FFF2-40B4-BE49-F238E27FC236}">
                <a16:creationId xmlns:a16="http://schemas.microsoft.com/office/drawing/2014/main" id="{31AB871D-9E78-B895-29E2-A4A03044B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365" y="1595438"/>
            <a:ext cx="4743450" cy="458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236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AF10B2-82B3-A9D4-303F-0D18DF3CFC7D}"/>
              </a:ext>
            </a:extLst>
          </p:cNvPr>
          <p:cNvSpPr>
            <a:spLocks noGrp="1"/>
          </p:cNvSpPr>
          <p:nvPr>
            <p:ph idx="1"/>
          </p:nvPr>
        </p:nvSpPr>
        <p:spPr>
          <a:xfrm>
            <a:off x="838200" y="471488"/>
            <a:ext cx="10515600" cy="5705475"/>
          </a:xfrm>
        </p:spPr>
        <p:txBody>
          <a:bodyPr/>
          <a:lstStyle/>
          <a:p>
            <a:r>
              <a:rPr lang="en-US" dirty="0">
                <a:solidFill>
                  <a:schemeClr val="bg1"/>
                </a:solidFill>
              </a:rPr>
              <a:t>5  Choose the Appropriate Image format</a:t>
            </a:r>
          </a:p>
        </p:txBody>
      </p:sp>
      <p:pic>
        <p:nvPicPr>
          <p:cNvPr id="8194" name="Picture 2">
            <a:extLst>
              <a:ext uri="{FF2B5EF4-FFF2-40B4-BE49-F238E27FC236}">
                <a16:creationId xmlns:a16="http://schemas.microsoft.com/office/drawing/2014/main" id="{BE0B5E41-C588-3F9D-5D8E-4AB1519E7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4701" y="1843088"/>
            <a:ext cx="4791075"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3000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3FFCF9-103E-F49C-B5A5-8073239FC563}"/>
              </a:ext>
            </a:extLst>
          </p:cNvPr>
          <p:cNvSpPr>
            <a:spLocks noGrp="1"/>
          </p:cNvSpPr>
          <p:nvPr>
            <p:ph idx="1"/>
          </p:nvPr>
        </p:nvSpPr>
        <p:spPr>
          <a:xfrm>
            <a:off x="838200" y="485775"/>
            <a:ext cx="10515600" cy="5691188"/>
          </a:xfrm>
        </p:spPr>
        <p:txBody>
          <a:bodyPr/>
          <a:lstStyle/>
          <a:p>
            <a:r>
              <a:rPr lang="en-US" dirty="0">
                <a:solidFill>
                  <a:schemeClr val="bg1"/>
                </a:solidFill>
              </a:rPr>
              <a:t>6 Fill in the imaging information on the Evidence form, then Next</a:t>
            </a:r>
          </a:p>
        </p:txBody>
      </p:sp>
      <p:pic>
        <p:nvPicPr>
          <p:cNvPr id="9218" name="Picture 2">
            <a:extLst>
              <a:ext uri="{FF2B5EF4-FFF2-40B4-BE49-F238E27FC236}">
                <a16:creationId xmlns:a16="http://schemas.microsoft.com/office/drawing/2014/main" id="{071531A7-1527-837B-7824-A268C81DB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2825" y="1776413"/>
            <a:ext cx="4829175" cy="376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675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9FCD38-3658-4642-505D-062DF8E398DE}"/>
              </a:ext>
            </a:extLst>
          </p:cNvPr>
          <p:cNvSpPr>
            <a:spLocks noGrp="1"/>
          </p:cNvSpPr>
          <p:nvPr>
            <p:ph idx="1"/>
          </p:nvPr>
        </p:nvSpPr>
        <p:spPr>
          <a:xfrm>
            <a:off x="838200" y="300038"/>
            <a:ext cx="10515600" cy="5876925"/>
          </a:xfrm>
        </p:spPr>
        <p:txBody>
          <a:bodyPr/>
          <a:lstStyle/>
          <a:p>
            <a:endParaRPr lang="en-US" dirty="0"/>
          </a:p>
          <a:p>
            <a:r>
              <a:rPr lang="en-US" dirty="0">
                <a:solidFill>
                  <a:schemeClr val="bg1"/>
                </a:solidFill>
              </a:rPr>
              <a:t>7  Select the storage location of the imaging file and give the imaging file a name, then Finish</a:t>
            </a:r>
          </a:p>
        </p:txBody>
      </p:sp>
      <p:pic>
        <p:nvPicPr>
          <p:cNvPr id="10242" name="Picture 2">
            <a:extLst>
              <a:ext uri="{FF2B5EF4-FFF2-40B4-BE49-F238E27FC236}">
                <a16:creationId xmlns:a16="http://schemas.microsoft.com/office/drawing/2014/main" id="{52722197-FEDF-22B1-921C-BDE9193B3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6175" y="1519238"/>
            <a:ext cx="4819650" cy="381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1037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FC37A8-280A-9A91-E331-077A0C78B235}"/>
              </a:ext>
            </a:extLst>
          </p:cNvPr>
          <p:cNvSpPr>
            <a:spLocks noGrp="1"/>
          </p:cNvSpPr>
          <p:nvPr>
            <p:ph idx="1"/>
          </p:nvPr>
        </p:nvSpPr>
        <p:spPr>
          <a:xfrm>
            <a:off x="838200" y="485775"/>
            <a:ext cx="10515600" cy="5691188"/>
          </a:xfrm>
        </p:spPr>
        <p:txBody>
          <a:bodyPr/>
          <a:lstStyle/>
          <a:p>
            <a:r>
              <a:rPr lang="en-US" dirty="0">
                <a:solidFill>
                  <a:schemeClr val="bg1"/>
                </a:solidFill>
              </a:rPr>
              <a:t>8 Click Start </a:t>
            </a:r>
          </a:p>
        </p:txBody>
      </p:sp>
      <p:pic>
        <p:nvPicPr>
          <p:cNvPr id="11266" name="Picture 2">
            <a:extLst>
              <a:ext uri="{FF2B5EF4-FFF2-40B4-BE49-F238E27FC236}">
                <a16:creationId xmlns:a16="http://schemas.microsoft.com/office/drawing/2014/main" id="{6F45C14F-F89B-119F-3251-8856B284E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0463" y="1133475"/>
            <a:ext cx="4791075" cy="459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243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40609-AA1C-AABB-3619-2A9DC378AF8C}"/>
              </a:ext>
            </a:extLst>
          </p:cNvPr>
          <p:cNvSpPr>
            <a:spLocks noGrp="1"/>
          </p:cNvSpPr>
          <p:nvPr>
            <p:ph idx="1"/>
          </p:nvPr>
        </p:nvSpPr>
        <p:spPr>
          <a:xfrm>
            <a:off x="838200" y="371475"/>
            <a:ext cx="10515600" cy="5805488"/>
          </a:xfrm>
        </p:spPr>
        <p:txBody>
          <a:bodyPr/>
          <a:lstStyle/>
          <a:p>
            <a:endParaRPr lang="en-US" dirty="0"/>
          </a:p>
          <a:p>
            <a:r>
              <a:rPr lang="en-US" dirty="0">
                <a:solidFill>
                  <a:schemeClr val="bg1"/>
                </a:solidFill>
              </a:rPr>
              <a:t>9 Wait for the imaging and file verification process to complete.</a:t>
            </a:r>
          </a:p>
        </p:txBody>
      </p:sp>
      <p:pic>
        <p:nvPicPr>
          <p:cNvPr id="12290" name="Picture 2">
            <a:extLst>
              <a:ext uri="{FF2B5EF4-FFF2-40B4-BE49-F238E27FC236}">
                <a16:creationId xmlns:a16="http://schemas.microsoft.com/office/drawing/2014/main" id="{8578F860-A610-4B6D-3F17-8B4361AF9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0036" y="2192259"/>
            <a:ext cx="438150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1280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D325-09E7-5B12-1959-62E7C43465B0}"/>
              </a:ext>
            </a:extLst>
          </p:cNvPr>
          <p:cNvSpPr>
            <a:spLocks noGrp="1"/>
          </p:cNvSpPr>
          <p:nvPr>
            <p:ph type="title"/>
          </p:nvPr>
        </p:nvSpPr>
        <p:spPr/>
        <p:txBody>
          <a:bodyPr/>
          <a:lstStyle/>
          <a:p>
            <a:r>
              <a:rPr lang="en-US" b="1" i="1" u="sng" dirty="0"/>
              <a:t>Hard Disk/SSD Imaging</a:t>
            </a:r>
          </a:p>
        </p:txBody>
      </p:sp>
      <p:sp>
        <p:nvSpPr>
          <p:cNvPr id="3" name="Content Placeholder 2">
            <a:extLst>
              <a:ext uri="{FF2B5EF4-FFF2-40B4-BE49-F238E27FC236}">
                <a16:creationId xmlns:a16="http://schemas.microsoft.com/office/drawing/2014/main" id="{BD8A659D-5EEC-DF1A-5743-55DD8CC6FAC8}"/>
              </a:ext>
            </a:extLst>
          </p:cNvPr>
          <p:cNvSpPr>
            <a:spLocks noGrp="1"/>
          </p:cNvSpPr>
          <p:nvPr>
            <p:ph idx="1"/>
          </p:nvPr>
        </p:nvSpPr>
        <p:spPr>
          <a:xfrm>
            <a:off x="838200" y="1690688"/>
            <a:ext cx="10515600" cy="4486275"/>
          </a:xfrm>
        </p:spPr>
        <p:txBody>
          <a:bodyPr>
            <a:normAutofit/>
          </a:bodyPr>
          <a:lstStyle/>
          <a:p>
            <a:endParaRPr lang="en-US" dirty="0"/>
          </a:p>
          <a:p>
            <a:endParaRPr lang="en-US" dirty="0"/>
          </a:p>
          <a:p>
            <a:r>
              <a:rPr lang="en-US" dirty="0"/>
              <a:t>External storage: You'll need a destination to store the disk image. This can be another hard drive, a network location, or a cloud service.</a:t>
            </a:r>
          </a:p>
          <a:p>
            <a:endParaRPr lang="en-US" dirty="0"/>
          </a:p>
          <a:p>
            <a:r>
              <a:rPr lang="en-US" dirty="0"/>
              <a:t>Free space: Make sure the destination drive has </a:t>
            </a:r>
            <a:r>
              <a:rPr lang="en-US" b="1" u="sng" dirty="0"/>
              <a:t>enough free space </a:t>
            </a:r>
            <a:r>
              <a:rPr lang="en-US" dirty="0"/>
              <a:t>to store the disk image, as the image file can be as large as the entire used space of the original drive.</a:t>
            </a:r>
          </a:p>
          <a:p>
            <a:pPr marL="0" indent="0">
              <a:buNone/>
            </a:pPr>
            <a:endParaRPr lang="en-US" dirty="0"/>
          </a:p>
          <a:p>
            <a:r>
              <a:rPr lang="en-US" dirty="0"/>
              <a:t>Can use tool like Falcon to create and image or clone whatever is required.</a:t>
            </a:r>
          </a:p>
          <a:p>
            <a:r>
              <a:rPr lang="en-US" dirty="0"/>
              <a:t>MUST USE WRITE BLOCKER IF USING FTK TO MAKE IMAGE.</a:t>
            </a:r>
          </a:p>
        </p:txBody>
      </p:sp>
    </p:spTree>
    <p:extLst>
      <p:ext uri="{BB962C8B-B14F-4D97-AF65-F5344CB8AC3E}">
        <p14:creationId xmlns:p14="http://schemas.microsoft.com/office/powerpoint/2010/main" val="35642524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B8AE-258C-D2C5-CB10-8FBF36526B75}"/>
              </a:ext>
            </a:extLst>
          </p:cNvPr>
          <p:cNvSpPr>
            <a:spLocks noGrp="1"/>
          </p:cNvSpPr>
          <p:nvPr>
            <p:ph type="title"/>
          </p:nvPr>
        </p:nvSpPr>
        <p:spPr/>
        <p:txBody>
          <a:bodyPr/>
          <a:lstStyle/>
          <a:p>
            <a:r>
              <a:rPr lang="en-US" dirty="0"/>
              <a:t>Analysis of Pen Drive using AUTOPSY</a:t>
            </a:r>
          </a:p>
        </p:txBody>
      </p:sp>
      <p:sp>
        <p:nvSpPr>
          <p:cNvPr id="3" name="Content Placeholder 2">
            <a:extLst>
              <a:ext uri="{FF2B5EF4-FFF2-40B4-BE49-F238E27FC236}">
                <a16:creationId xmlns:a16="http://schemas.microsoft.com/office/drawing/2014/main" id="{12624694-1113-DAD5-5AFE-DDB1ADB39250}"/>
              </a:ext>
            </a:extLst>
          </p:cNvPr>
          <p:cNvSpPr>
            <a:spLocks noGrp="1"/>
          </p:cNvSpPr>
          <p:nvPr>
            <p:ph idx="1"/>
          </p:nvPr>
        </p:nvSpPr>
        <p:spPr>
          <a:xfrm>
            <a:off x="838199" y="1690688"/>
            <a:ext cx="10515600" cy="4351338"/>
          </a:xfrm>
        </p:spPr>
        <p:txBody>
          <a:bodyPr/>
          <a:lstStyle/>
          <a:p>
            <a:r>
              <a:rPr lang="en-US" dirty="0">
                <a:solidFill>
                  <a:schemeClr val="bg1"/>
                </a:solidFill>
              </a:rPr>
              <a:t>1 Select New Case</a:t>
            </a:r>
            <a:r>
              <a:rPr lang="en-US" b="1" dirty="0">
                <a:solidFill>
                  <a:schemeClr val="bg1"/>
                </a:solidFill>
              </a:rPr>
              <a:t> </a:t>
            </a:r>
            <a:endParaRPr lang="en-US" dirty="0">
              <a:solidFill>
                <a:schemeClr val="bg1"/>
              </a:solidFill>
            </a:endParaRPr>
          </a:p>
        </p:txBody>
      </p:sp>
      <p:pic>
        <p:nvPicPr>
          <p:cNvPr id="13314" name="Picture 2">
            <a:extLst>
              <a:ext uri="{FF2B5EF4-FFF2-40B4-BE49-F238E27FC236}">
                <a16:creationId xmlns:a16="http://schemas.microsoft.com/office/drawing/2014/main" id="{74AF01B1-49BC-21F4-95F5-06F2E1DAA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2861" y="2568223"/>
            <a:ext cx="4486275"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02276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47824C-166E-B0BE-5236-46F8FA2A5BB8}"/>
              </a:ext>
            </a:extLst>
          </p:cNvPr>
          <p:cNvSpPr>
            <a:spLocks noGrp="1"/>
          </p:cNvSpPr>
          <p:nvPr>
            <p:ph idx="1"/>
          </p:nvPr>
        </p:nvSpPr>
        <p:spPr>
          <a:xfrm>
            <a:off x="838200" y="300038"/>
            <a:ext cx="10515600" cy="5876925"/>
          </a:xfrm>
        </p:spPr>
        <p:txBody>
          <a:bodyPr/>
          <a:lstStyle/>
          <a:p>
            <a:endParaRPr lang="en-US" dirty="0"/>
          </a:p>
          <a:p>
            <a:r>
              <a:rPr lang="en-US" dirty="0">
                <a:solidFill>
                  <a:schemeClr val="bg1"/>
                </a:solidFill>
              </a:rPr>
              <a:t>2 Fill in the Name case and select the location where the autopsy results will be stored.</a:t>
            </a:r>
          </a:p>
          <a:p>
            <a:pPr marL="0" indent="0">
              <a:buNone/>
            </a:pPr>
            <a:endParaRPr lang="en-US" dirty="0"/>
          </a:p>
        </p:txBody>
      </p:sp>
      <p:pic>
        <p:nvPicPr>
          <p:cNvPr id="14338" name="Picture 2">
            <a:extLst>
              <a:ext uri="{FF2B5EF4-FFF2-40B4-BE49-F238E27FC236}">
                <a16:creationId xmlns:a16="http://schemas.microsoft.com/office/drawing/2014/main" id="{29236767-901F-7904-69DC-FED6C6A5C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214563"/>
            <a:ext cx="66675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771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C09A5B-C9A6-25B6-4574-92D64DEE87CE}"/>
              </a:ext>
            </a:extLst>
          </p:cNvPr>
          <p:cNvSpPr>
            <a:spLocks noGrp="1"/>
          </p:cNvSpPr>
          <p:nvPr>
            <p:ph idx="1"/>
          </p:nvPr>
        </p:nvSpPr>
        <p:spPr>
          <a:xfrm>
            <a:off x="838200" y="528638"/>
            <a:ext cx="10515600" cy="5648325"/>
          </a:xfrm>
        </p:spPr>
        <p:txBody>
          <a:bodyPr/>
          <a:lstStyle/>
          <a:p>
            <a:r>
              <a:rPr lang="en-US" dirty="0">
                <a:solidFill>
                  <a:schemeClr val="bg1"/>
                </a:solidFill>
              </a:rPr>
              <a:t>3 Fill in Optional Information, then Finish</a:t>
            </a:r>
          </a:p>
          <a:p>
            <a:pPr marL="0" indent="0">
              <a:buNone/>
            </a:pPr>
            <a:endParaRPr lang="en-US" dirty="0"/>
          </a:p>
        </p:txBody>
      </p:sp>
      <p:pic>
        <p:nvPicPr>
          <p:cNvPr id="15362" name="Picture 2">
            <a:extLst>
              <a:ext uri="{FF2B5EF4-FFF2-40B4-BE49-F238E27FC236}">
                <a16:creationId xmlns:a16="http://schemas.microsoft.com/office/drawing/2014/main" id="{CCCD3AC1-19E5-AB56-C06B-5AD8D4F9C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785" y="2195513"/>
            <a:ext cx="6667500"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1283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042892-C18A-EADA-0231-3F98A015070F}"/>
              </a:ext>
            </a:extLst>
          </p:cNvPr>
          <p:cNvSpPr>
            <a:spLocks noGrp="1"/>
          </p:cNvSpPr>
          <p:nvPr>
            <p:ph idx="1"/>
          </p:nvPr>
        </p:nvSpPr>
        <p:spPr>
          <a:xfrm>
            <a:off x="838200" y="371476"/>
            <a:ext cx="10515600" cy="5795962"/>
          </a:xfrm>
        </p:spPr>
        <p:txBody>
          <a:bodyPr/>
          <a:lstStyle/>
          <a:p>
            <a:r>
              <a:rPr lang="en-US" dirty="0">
                <a:solidFill>
                  <a:schemeClr val="bg1"/>
                </a:solidFill>
              </a:rPr>
              <a:t>4 Select Disk Image, then Next </a:t>
            </a:r>
          </a:p>
        </p:txBody>
      </p:sp>
      <p:pic>
        <p:nvPicPr>
          <p:cNvPr id="16386" name="Picture 2">
            <a:extLst>
              <a:ext uri="{FF2B5EF4-FFF2-40B4-BE49-F238E27FC236}">
                <a16:creationId xmlns:a16="http://schemas.microsoft.com/office/drawing/2014/main" id="{FB1250C6-61FF-A63B-5CD5-6C9E89E03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1352550"/>
            <a:ext cx="6667500" cy="415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5829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75AC8-9668-A66A-F5A8-45235A285E59}"/>
              </a:ext>
            </a:extLst>
          </p:cNvPr>
          <p:cNvSpPr>
            <a:spLocks noGrp="1"/>
          </p:cNvSpPr>
          <p:nvPr>
            <p:ph idx="1"/>
          </p:nvPr>
        </p:nvSpPr>
        <p:spPr>
          <a:xfrm>
            <a:off x="838200" y="500063"/>
            <a:ext cx="10515600" cy="5676900"/>
          </a:xfrm>
        </p:spPr>
        <p:txBody>
          <a:bodyPr/>
          <a:lstStyle/>
          <a:p>
            <a:r>
              <a:rPr lang="en-US" dirty="0">
                <a:solidFill>
                  <a:schemeClr val="bg1"/>
                </a:solidFill>
              </a:rPr>
              <a:t>5 Select the data source image, then next </a:t>
            </a:r>
          </a:p>
        </p:txBody>
      </p:sp>
      <p:pic>
        <p:nvPicPr>
          <p:cNvPr id="17410" name="Picture 2">
            <a:extLst>
              <a:ext uri="{FF2B5EF4-FFF2-40B4-BE49-F238E27FC236}">
                <a16:creationId xmlns:a16="http://schemas.microsoft.com/office/drawing/2014/main" id="{257CA93C-1EFC-80FB-64FB-425B698E8A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1362075"/>
            <a:ext cx="66675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6505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5EFEB-219F-0874-AD39-E04071810299}"/>
              </a:ext>
            </a:extLst>
          </p:cNvPr>
          <p:cNvSpPr>
            <a:spLocks noGrp="1"/>
          </p:cNvSpPr>
          <p:nvPr>
            <p:ph idx="1"/>
          </p:nvPr>
        </p:nvSpPr>
        <p:spPr>
          <a:xfrm>
            <a:off x="838200" y="314325"/>
            <a:ext cx="10515600" cy="5862638"/>
          </a:xfrm>
        </p:spPr>
        <p:txBody>
          <a:bodyPr/>
          <a:lstStyle/>
          <a:p>
            <a:endParaRPr lang="en-US" dirty="0"/>
          </a:p>
          <a:p>
            <a:r>
              <a:rPr lang="en-US" dirty="0">
                <a:solidFill>
                  <a:schemeClr val="bg1"/>
                </a:solidFill>
              </a:rPr>
              <a:t>6 Select the information that will be required in configure ingest</a:t>
            </a:r>
          </a:p>
          <a:p>
            <a:pPr marL="0" indent="0">
              <a:buNone/>
            </a:pPr>
            <a:endParaRPr lang="en-US" dirty="0"/>
          </a:p>
        </p:txBody>
      </p:sp>
      <p:pic>
        <p:nvPicPr>
          <p:cNvPr id="18434" name="Picture 2">
            <a:extLst>
              <a:ext uri="{FF2B5EF4-FFF2-40B4-BE49-F238E27FC236}">
                <a16:creationId xmlns:a16="http://schemas.microsoft.com/office/drawing/2014/main" id="{64555E24-AD60-EF6B-7FA5-7826833E7C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609" y="2352675"/>
            <a:ext cx="66675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64114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C4F845-DE62-48ED-7749-ED254EDB125E}"/>
              </a:ext>
            </a:extLst>
          </p:cNvPr>
          <p:cNvSpPr>
            <a:spLocks noGrp="1"/>
          </p:cNvSpPr>
          <p:nvPr>
            <p:ph idx="1"/>
          </p:nvPr>
        </p:nvSpPr>
        <p:spPr>
          <a:xfrm>
            <a:off x="838200" y="314325"/>
            <a:ext cx="10515600" cy="5862638"/>
          </a:xfrm>
        </p:spPr>
        <p:txBody>
          <a:bodyPr/>
          <a:lstStyle/>
          <a:p>
            <a:endParaRPr lang="en-US" dirty="0"/>
          </a:p>
          <a:p>
            <a:r>
              <a:rPr lang="en-US" dirty="0">
                <a:solidFill>
                  <a:schemeClr val="bg1"/>
                </a:solidFill>
              </a:rPr>
              <a:t>7 Wait for the add source to complete</a:t>
            </a:r>
          </a:p>
          <a:p>
            <a:pPr marL="0" indent="0">
              <a:buNone/>
            </a:pPr>
            <a:endParaRPr lang="en-US" dirty="0"/>
          </a:p>
        </p:txBody>
      </p:sp>
      <p:pic>
        <p:nvPicPr>
          <p:cNvPr id="19458" name="Picture 2">
            <a:extLst>
              <a:ext uri="{FF2B5EF4-FFF2-40B4-BE49-F238E27FC236}">
                <a16:creationId xmlns:a16="http://schemas.microsoft.com/office/drawing/2014/main" id="{29CADE3E-1B4C-C4BA-D531-50DB6DA30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390775"/>
            <a:ext cx="6667500" cy="415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9173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4032B-2857-D2D8-D6D9-377E7BABF48E}"/>
              </a:ext>
            </a:extLst>
          </p:cNvPr>
          <p:cNvSpPr>
            <a:spLocks noGrp="1"/>
          </p:cNvSpPr>
          <p:nvPr>
            <p:ph idx="1"/>
          </p:nvPr>
        </p:nvSpPr>
        <p:spPr>
          <a:xfrm>
            <a:off x="838200" y="500063"/>
            <a:ext cx="10515600" cy="5676900"/>
          </a:xfrm>
        </p:spPr>
        <p:txBody>
          <a:bodyPr/>
          <a:lstStyle/>
          <a:p>
            <a:r>
              <a:rPr lang="en-US" dirty="0">
                <a:solidFill>
                  <a:schemeClr val="bg1"/>
                </a:solidFill>
              </a:rPr>
              <a:t>8 Result of Scanning </a:t>
            </a:r>
            <a:r>
              <a:rPr lang="en-US" dirty="0" err="1">
                <a:solidFill>
                  <a:schemeClr val="bg1"/>
                </a:solidFill>
              </a:rPr>
              <a:t>Flashdisk</a:t>
            </a:r>
            <a:endParaRPr lang="en-US" dirty="0">
              <a:solidFill>
                <a:schemeClr val="bg1"/>
              </a:solidFill>
            </a:endParaRPr>
          </a:p>
          <a:p>
            <a:pPr marL="0" indent="0">
              <a:buNone/>
            </a:pPr>
            <a:endParaRPr lang="en-US" dirty="0"/>
          </a:p>
        </p:txBody>
      </p:sp>
      <p:pic>
        <p:nvPicPr>
          <p:cNvPr id="20482" name="Picture 2">
            <a:extLst>
              <a:ext uri="{FF2B5EF4-FFF2-40B4-BE49-F238E27FC236}">
                <a16:creationId xmlns:a16="http://schemas.microsoft.com/office/drawing/2014/main" id="{75C78F57-BB07-B083-279A-554B779EBF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558878"/>
            <a:ext cx="6667500" cy="351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8513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3F2E76-4AE8-DC16-98C0-B181AB1D53E7}"/>
              </a:ext>
            </a:extLst>
          </p:cNvPr>
          <p:cNvSpPr>
            <a:spLocks noGrp="1"/>
          </p:cNvSpPr>
          <p:nvPr>
            <p:ph idx="1"/>
          </p:nvPr>
        </p:nvSpPr>
        <p:spPr>
          <a:xfrm>
            <a:off x="838200" y="371475"/>
            <a:ext cx="10515600" cy="5805488"/>
          </a:xfrm>
        </p:spPr>
        <p:txBody>
          <a:bodyPr/>
          <a:lstStyle/>
          <a:p>
            <a:endParaRPr lang="en-US" dirty="0"/>
          </a:p>
          <a:p>
            <a:r>
              <a:rPr lang="en-US" dirty="0">
                <a:solidFill>
                  <a:schemeClr val="bg1"/>
                </a:solidFill>
              </a:rPr>
              <a:t>9 The results of digital data retrieval using Autopsy there are the results of deleted files totaling 333 files</a:t>
            </a:r>
          </a:p>
          <a:p>
            <a:pPr marL="0" indent="0">
              <a:buNone/>
            </a:pPr>
            <a:endParaRPr lang="en-US" dirty="0"/>
          </a:p>
        </p:txBody>
      </p:sp>
      <p:pic>
        <p:nvPicPr>
          <p:cNvPr id="21506" name="Picture 2">
            <a:extLst>
              <a:ext uri="{FF2B5EF4-FFF2-40B4-BE49-F238E27FC236}">
                <a16:creationId xmlns:a16="http://schemas.microsoft.com/office/drawing/2014/main" id="{52927815-1C07-4EF2-157F-39300DC1EF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309200"/>
            <a:ext cx="6667500"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4105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3A4065-B8DC-927B-7231-A8A9D1EBF20B}"/>
              </a:ext>
            </a:extLst>
          </p:cNvPr>
          <p:cNvSpPr>
            <a:spLocks noGrp="1"/>
          </p:cNvSpPr>
          <p:nvPr>
            <p:ph idx="1"/>
          </p:nvPr>
        </p:nvSpPr>
        <p:spPr>
          <a:xfrm>
            <a:off x="838200" y="542925"/>
            <a:ext cx="10515600" cy="5634038"/>
          </a:xfrm>
        </p:spPr>
        <p:txBody>
          <a:bodyPr/>
          <a:lstStyle/>
          <a:p>
            <a:r>
              <a:rPr lang="en-US" dirty="0">
                <a:solidFill>
                  <a:schemeClr val="bg1"/>
                </a:solidFill>
              </a:rPr>
              <a:t>10 There is a result of file metadata that has been deleted</a:t>
            </a:r>
          </a:p>
          <a:p>
            <a:pPr marL="0" indent="0">
              <a:buNone/>
            </a:pPr>
            <a:endParaRPr lang="en-US" dirty="0"/>
          </a:p>
        </p:txBody>
      </p:sp>
      <p:pic>
        <p:nvPicPr>
          <p:cNvPr id="22530" name="Picture 2">
            <a:extLst>
              <a:ext uri="{FF2B5EF4-FFF2-40B4-BE49-F238E27FC236}">
                <a16:creationId xmlns:a16="http://schemas.microsoft.com/office/drawing/2014/main" id="{6BEC84C1-8814-69B8-6CAF-2A23EE03A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332541"/>
            <a:ext cx="6667500" cy="351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4936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D7CD55-26F5-3E75-EE52-E4E4A6469E70}"/>
              </a:ext>
            </a:extLst>
          </p:cNvPr>
          <p:cNvSpPr>
            <a:spLocks noGrp="1"/>
          </p:cNvSpPr>
          <p:nvPr>
            <p:ph idx="1"/>
          </p:nvPr>
        </p:nvSpPr>
        <p:spPr>
          <a:xfrm>
            <a:off x="838200" y="414338"/>
            <a:ext cx="10515600" cy="5762625"/>
          </a:xfrm>
        </p:spPr>
        <p:txBody>
          <a:bodyPr/>
          <a:lstStyle/>
          <a:p>
            <a:endParaRPr lang="en-US" dirty="0">
              <a:solidFill>
                <a:schemeClr val="bg1"/>
              </a:solidFill>
            </a:endParaRPr>
          </a:p>
          <a:p>
            <a:r>
              <a:rPr lang="en-US" dirty="0">
                <a:solidFill>
                  <a:schemeClr val="bg1"/>
                </a:solidFill>
              </a:rPr>
              <a:t>11 To recover deleted data, click extract files</a:t>
            </a:r>
            <a:br>
              <a:rPr lang="en-US" dirty="0">
                <a:solidFill>
                  <a:schemeClr val="bg1"/>
                </a:solidFill>
                <a:effectLst/>
              </a:rPr>
            </a:br>
            <a:endParaRPr lang="en-US" dirty="0">
              <a:solidFill>
                <a:schemeClr val="bg1"/>
              </a:solidFill>
            </a:endParaRPr>
          </a:p>
        </p:txBody>
      </p:sp>
      <p:pic>
        <p:nvPicPr>
          <p:cNvPr id="23554" name="Picture 2">
            <a:extLst>
              <a:ext uri="{FF2B5EF4-FFF2-40B4-BE49-F238E27FC236}">
                <a16:creationId xmlns:a16="http://schemas.microsoft.com/office/drawing/2014/main" id="{A1B323EA-82FB-1EAF-E444-A9FB28607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4678" y="2671763"/>
            <a:ext cx="66675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1916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A429C7-EC24-3F82-E051-F0A1FEBFA282}"/>
              </a:ext>
            </a:extLst>
          </p:cNvPr>
          <p:cNvSpPr>
            <a:spLocks noGrp="1"/>
          </p:cNvSpPr>
          <p:nvPr>
            <p:ph idx="1"/>
          </p:nvPr>
        </p:nvSpPr>
        <p:spPr>
          <a:xfrm>
            <a:off x="838200" y="242888"/>
            <a:ext cx="10515600" cy="5934075"/>
          </a:xfrm>
        </p:spPr>
        <p:txBody>
          <a:bodyPr/>
          <a:lstStyle/>
          <a:p>
            <a:endParaRPr lang="en-US" dirty="0"/>
          </a:p>
          <a:p>
            <a:r>
              <a:rPr lang="en-US" dirty="0">
                <a:solidFill>
                  <a:schemeClr val="bg1"/>
                </a:solidFill>
              </a:rPr>
              <a:t>12 Right-click data sources-&gt; Flasdisk.001-&gt; View Summary Information.</a:t>
            </a:r>
          </a:p>
          <a:p>
            <a:endParaRPr lang="en-US" dirty="0"/>
          </a:p>
        </p:txBody>
      </p:sp>
      <p:pic>
        <p:nvPicPr>
          <p:cNvPr id="24578" name="Picture 2">
            <a:extLst>
              <a:ext uri="{FF2B5EF4-FFF2-40B4-BE49-F238E27FC236}">
                <a16:creationId xmlns:a16="http://schemas.microsoft.com/office/drawing/2014/main" id="{A0279D0F-5D9D-1E64-4956-10C07F85C6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8052" y="2430809"/>
            <a:ext cx="6667500" cy="3933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3980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971ADB-833F-CA17-8234-A37DDCAAECD0}"/>
              </a:ext>
            </a:extLst>
          </p:cNvPr>
          <p:cNvSpPr>
            <a:spLocks noGrp="1"/>
          </p:cNvSpPr>
          <p:nvPr>
            <p:ph idx="1"/>
          </p:nvPr>
        </p:nvSpPr>
        <p:spPr>
          <a:xfrm>
            <a:off x="838200" y="328613"/>
            <a:ext cx="10515600" cy="5848350"/>
          </a:xfrm>
        </p:spPr>
        <p:txBody>
          <a:bodyPr>
            <a:normAutofit/>
          </a:bodyPr>
          <a:lstStyle/>
          <a:p>
            <a:pPr algn="ctr"/>
            <a:endParaRPr lang="en-US" sz="7200" dirty="0"/>
          </a:p>
          <a:p>
            <a:pPr algn="ctr"/>
            <a:endParaRPr lang="en-US" sz="7200" dirty="0"/>
          </a:p>
          <a:p>
            <a:pPr marL="0" indent="0" algn="ctr">
              <a:buNone/>
            </a:pPr>
            <a:r>
              <a:rPr lang="en-US" sz="7200" dirty="0"/>
              <a:t>Any Questions!</a:t>
            </a:r>
          </a:p>
        </p:txBody>
      </p:sp>
      <p:pic>
        <p:nvPicPr>
          <p:cNvPr id="1028" name="Picture 4" descr="Question Cartoon Images - Free Download ...">
            <a:extLst>
              <a:ext uri="{FF2B5EF4-FFF2-40B4-BE49-F238E27FC236}">
                <a16:creationId xmlns:a16="http://schemas.microsoft.com/office/drawing/2014/main" id="{3BAA4DD5-4D97-3F01-38C2-C7388F0B3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0999" y="1302851"/>
            <a:ext cx="2581275"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3041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926A93-4E97-4CDD-18C9-183A04C09ECA}"/>
              </a:ext>
            </a:extLst>
          </p:cNvPr>
          <p:cNvSpPr>
            <a:spLocks noGrp="1"/>
          </p:cNvSpPr>
          <p:nvPr>
            <p:ph idx="1"/>
          </p:nvPr>
        </p:nvSpPr>
        <p:spPr>
          <a:xfrm>
            <a:off x="838200" y="314325"/>
            <a:ext cx="10515600" cy="5862638"/>
          </a:xfrm>
        </p:spPr>
        <p:txBody>
          <a:bodyPr/>
          <a:lstStyle/>
          <a:p>
            <a:pPr algn="ctr"/>
            <a:endParaRPr lang="en-US" dirty="0"/>
          </a:p>
          <a:p>
            <a:pPr algn="ctr"/>
            <a:endParaRPr lang="en-US" dirty="0"/>
          </a:p>
          <a:p>
            <a:pPr algn="ctr"/>
            <a:endParaRPr lang="en-US" dirty="0"/>
          </a:p>
          <a:p>
            <a:pPr algn="ctr"/>
            <a:endParaRPr lang="en-US" dirty="0"/>
          </a:p>
          <a:p>
            <a:pPr marL="0" indent="0" algn="ctr">
              <a:buNone/>
            </a:pPr>
            <a:endParaRPr lang="en-US" sz="8000" dirty="0"/>
          </a:p>
          <a:p>
            <a:pPr marL="0" indent="0" algn="ctr">
              <a:buNone/>
            </a:pPr>
            <a:r>
              <a:rPr lang="en-US" sz="8000" dirty="0"/>
              <a:t>Thank you !</a:t>
            </a:r>
          </a:p>
        </p:txBody>
      </p:sp>
    </p:spTree>
    <p:extLst>
      <p:ext uri="{BB962C8B-B14F-4D97-AF65-F5344CB8AC3E}">
        <p14:creationId xmlns:p14="http://schemas.microsoft.com/office/powerpoint/2010/main" val="26456962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1422</TotalTime>
  <Words>1853</Words>
  <Application>Microsoft Office PowerPoint</Application>
  <PresentationFormat>Widescreen</PresentationFormat>
  <Paragraphs>297</Paragraphs>
  <Slides>67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Calibri</vt:lpstr>
      <vt:lpstr>Calibri (Body)</vt:lpstr>
      <vt:lpstr>Century Gothic</vt:lpstr>
      <vt:lpstr>Wingdings 3</vt:lpstr>
      <vt:lpstr>Ion Boardroom</vt:lpstr>
      <vt:lpstr>Computer Forensics</vt:lpstr>
      <vt:lpstr>Devices which holds the forensic value</vt:lpstr>
      <vt:lpstr>PowerPoint Presentation</vt:lpstr>
      <vt:lpstr>PowerPoint Presentation</vt:lpstr>
      <vt:lpstr>PowerPoint Presentation</vt:lpstr>
      <vt:lpstr>PowerPoint Presentation</vt:lpstr>
      <vt:lpstr>Parts of Computer</vt:lpstr>
      <vt:lpstr>Laptops:</vt:lpstr>
      <vt:lpstr>Why Computer need Memory(storage) ?</vt:lpstr>
      <vt:lpstr>Primary(Temporary) and Secondary Memory(Permanent)</vt:lpstr>
      <vt:lpstr>PowerPoint Presentation</vt:lpstr>
      <vt:lpstr>RAM(MEMORY) (Temporary Storage)</vt:lpstr>
      <vt:lpstr>RAM(MEMORY) and its importance in forensics</vt:lpstr>
      <vt:lpstr>Hard Disk and Solid State Drives</vt:lpstr>
      <vt:lpstr>Evidence present into the HDD or SSD</vt:lpstr>
      <vt:lpstr>Collection of Evidence:</vt:lpstr>
      <vt:lpstr>PowerPoint Presentation</vt:lpstr>
      <vt:lpstr>PowerPoint Presentation</vt:lpstr>
      <vt:lpstr>PowerPoint Presentation</vt:lpstr>
      <vt:lpstr>PowerPoint Presentation</vt:lpstr>
      <vt:lpstr>PowerPoint Presentation</vt:lpstr>
      <vt:lpstr>Procedure in case of Switched off System</vt:lpstr>
      <vt:lpstr>PowerPoint Presentation</vt:lpstr>
      <vt:lpstr>PowerPoint Presentation</vt:lpstr>
      <vt:lpstr> FOR MAKE and MODEL info </vt:lpstr>
      <vt:lpstr>Procedure in case of live system( switched-on)</vt:lpstr>
      <vt:lpstr>PowerPoint Presentation</vt:lpstr>
      <vt:lpstr>PowerPoint Presentation</vt:lpstr>
      <vt:lpstr>PowerPoint Presentation</vt:lpstr>
      <vt:lpstr>Bit Locker Drive</vt:lpstr>
      <vt:lpstr>PowerPoint Presentation</vt:lpstr>
      <vt:lpstr>What is hash and it is important.</vt:lpstr>
      <vt:lpstr>PowerPoint Presentation</vt:lpstr>
      <vt:lpstr>Extracting data from the 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RAM Extraction in MAC</vt:lpstr>
      <vt:lpstr>Why RAM Extraction is easy on Computer than MOIBLE</vt:lpstr>
      <vt:lpstr>Pen Drive Imaging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Hard Disk/SSD Imaging</vt:lpstr>
      <vt:lpstr>Analysis of Pen Drive using AUTOPSY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Cencops Support</dc:creator>
  <cp:lastModifiedBy>Cencops Support</cp:lastModifiedBy>
  <cp:revision>47</cp:revision>
  <dcterms:created xsi:type="dcterms:W3CDTF">2024-11-06T11:48:28Z</dcterms:created>
  <dcterms:modified xsi:type="dcterms:W3CDTF">2024-11-13T05:50:02Z</dcterms:modified>
</cp:coreProperties>
</file>