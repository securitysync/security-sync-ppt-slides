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Inter SemiBold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Urbanist SemiBold"/>
      <p:regular r:id="rId30"/>
      <p:bold r:id="rId31"/>
      <p:italic r:id="rId32"/>
      <p:boldItalic r:id="rId33"/>
    </p:embeddedFont>
    <p:embeddedFont>
      <p:font typeface="Urbanist"/>
      <p:regular r:id="rId34"/>
      <p:bold r:id="rId35"/>
      <p:italic r:id="rId36"/>
      <p:boldItalic r:id="rId37"/>
    </p:embeddedFont>
    <p:embeddedFont>
      <p:font typeface="Urbanist ExtraBold"/>
      <p:bold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0F0BB7-A739-45E3-B2AA-41E101DCD98A}">
  <a:tblStyle styleId="{C40F0BB7-A739-45E3-B2AA-41E101DCD98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InterSemiBold-regular.fntdata"/><Relationship Id="rId21" Type="http://schemas.openxmlformats.org/officeDocument/2006/relationships/slide" Target="slides/slide15.xml"/><Relationship Id="rId24" Type="http://schemas.openxmlformats.org/officeDocument/2006/relationships/font" Target="fonts/InterSemiBold-italic.fntdata"/><Relationship Id="rId23" Type="http://schemas.openxmlformats.org/officeDocument/2006/relationships/font" Target="fonts/Inter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regular.fntdata"/><Relationship Id="rId25" Type="http://schemas.openxmlformats.org/officeDocument/2006/relationships/font" Target="fonts/InterSemiBold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SemiBold-bold.fntdata"/><Relationship Id="rId30" Type="http://schemas.openxmlformats.org/officeDocument/2006/relationships/font" Target="fonts/Urbanist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UrbanistSemiBold-boldItalic.fntdata"/><Relationship Id="rId10" Type="http://schemas.openxmlformats.org/officeDocument/2006/relationships/slide" Target="slides/slide4.xml"/><Relationship Id="rId32" Type="http://schemas.openxmlformats.org/officeDocument/2006/relationships/font" Target="fonts/UrbanistSemiBold-italic.fntdata"/><Relationship Id="rId13" Type="http://schemas.openxmlformats.org/officeDocument/2006/relationships/slide" Target="slides/slide7.xml"/><Relationship Id="rId35" Type="http://schemas.openxmlformats.org/officeDocument/2006/relationships/font" Target="fonts/Urbanist-bold.fntdata"/><Relationship Id="rId12" Type="http://schemas.openxmlformats.org/officeDocument/2006/relationships/slide" Target="slides/slide6.xml"/><Relationship Id="rId34" Type="http://schemas.openxmlformats.org/officeDocument/2006/relationships/font" Target="fonts/Urbanist-regular.fntdata"/><Relationship Id="rId15" Type="http://schemas.openxmlformats.org/officeDocument/2006/relationships/slide" Target="slides/slide9.xml"/><Relationship Id="rId37" Type="http://schemas.openxmlformats.org/officeDocument/2006/relationships/font" Target="fonts/Urbanist-boldItalic.fntdata"/><Relationship Id="rId14" Type="http://schemas.openxmlformats.org/officeDocument/2006/relationships/slide" Target="slides/slide8.xml"/><Relationship Id="rId36" Type="http://schemas.openxmlformats.org/officeDocument/2006/relationships/font" Target="fonts/Urbanist-italic.fntdata"/><Relationship Id="rId17" Type="http://schemas.openxmlformats.org/officeDocument/2006/relationships/slide" Target="slides/slide11.xml"/><Relationship Id="rId39" Type="http://schemas.openxmlformats.org/officeDocument/2006/relationships/font" Target="fonts/UrbanistExtraBold-boldItalic.fntdata"/><Relationship Id="rId16" Type="http://schemas.openxmlformats.org/officeDocument/2006/relationships/slide" Target="slides/slide10.xml"/><Relationship Id="rId38" Type="http://schemas.openxmlformats.org/officeDocument/2006/relationships/font" Target="fonts/UrbanistExtraBold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9" Type="http://schemas.openxmlformats.org/officeDocument/2006/relationships/image" Target="../media/image21.png"/><Relationship Id="rId5" Type="http://schemas.openxmlformats.org/officeDocument/2006/relationships/image" Target="../media/image14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080373" y="2683222"/>
            <a:ext cx="10031253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Post-Scan </a:t>
            </a:r>
            <a:r>
              <a:rPr b="1" i="0" lang="en-US" sz="54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AppSec</a:t>
            </a: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Engineering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886075" y="3580358"/>
            <a:ext cx="64198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Managing Vulnerability Triage and Practical Hands-on Labs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524500" y="2338387"/>
            <a:ext cx="11430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1565433" y="2681287"/>
            <a:ext cx="9061132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Vulnerability Lifecycle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857375" y="3776662"/>
            <a:ext cx="8477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Navigating Raw SAST Data and Reaching Scalable Remediation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/>
          <p:nvPr/>
        </p:nvSpPr>
        <p:spPr>
          <a:xfrm>
            <a:off x="581025" y="3838575"/>
            <a:ext cx="11029950" cy="38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520362" y="4200525"/>
            <a:ext cx="25478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01. Scan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81025" y="4591050"/>
            <a:ext cx="2426493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Automated execution of SAST policies triggered inside pipeline or runner environments.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3388131" y="2091779"/>
            <a:ext cx="25478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02. Triage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3448794" y="2482304"/>
            <a:ext cx="2426493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Filtering scans in the central platform dashboard to identify actual business risks.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255900" y="4200525"/>
            <a:ext cx="25478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03. Prioritize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316563" y="4591050"/>
            <a:ext cx="2426493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Verifying input routing, dependency versions, and data-flow paths in the platform UI.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123670" y="1817489"/>
            <a:ext cx="25478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04. Fix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184332" y="2208014"/>
            <a:ext cx="2426493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Fostering developer trust using context-rich remediation guidelines in code views.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Path from Discovery to Fix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581025" y="581025"/>
            <a:ext cx="57150" cy="438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1679971" y="37242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4547741" y="37242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7415510" y="37242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10283279" y="37242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81262"/>
            <a:ext cx="5276850" cy="2714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81262"/>
            <a:ext cx="5276850" cy="271447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971550" y="2871787"/>
            <a:ext cx="472059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Unified Dashboard Triage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71550" y="3262312"/>
            <a:ext cx="44958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Standard developer-focused workflows require centralized visibility. Managing raw terminal logs causes friction. A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centralized security portal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aggregates findings dynamically across teams to prioritize critical exposures.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724650" y="2871787"/>
            <a:ext cx="472059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Global Exclusion Policies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724650" y="3262312"/>
            <a:ext cx="44958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Suppressing scan static noise can be managed easily. Code paths containing mockup parameters, testing frameworks, and third-party packages can be suppressed globally through configurations in the platform's console.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Triage &amp; Noise Management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81025" y="581025"/>
            <a:ext cx="57150" cy="438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581025" y="2976562"/>
            <a:ext cx="28765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0" u="none" cap="none" strike="noStrike">
                <a:solidFill>
                  <a:srgbClr val="10B981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80%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581025" y="4405312"/>
            <a:ext cx="28765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Decrease in Triage Time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4029075" y="3065115"/>
            <a:ext cx="796099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Contextual Reachability Rules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4029075" y="3617565"/>
            <a:ext cx="75819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Applying traditional, legacy SAST tools introduces huge operational overhead. By focusing effort only on reachable vulnerabilities highlighted dynamically inside modern context-aware analysis platforms, organizations accelerate audit cycles.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Triage Speedup Metrics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581025" y="581025"/>
            <a:ext cx="57150" cy="438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1009650" y="2889944"/>
            <a:ext cx="10601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Sanitized Paths: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Safely structured sources that are mistakenly flagged by shallow syntax parsers.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1009650" y="3402359"/>
            <a:ext cx="10601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Non-Production Code: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Vulnerability patterns existing solely in mock test files or development containers.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1009650" y="3914775"/>
            <a:ext cx="10601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Unreachable Sinks: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Flawed functions that have zero exposed invocation channels leading from the exterior boundary.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1009650" y="4427190"/>
            <a:ext cx="10601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Console Suppression: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One-click global status updates in the central web console to prevent future pipeline blocks.</a:t>
            </a:r>
            <a:endParaRPr/>
          </a:p>
        </p:txBody>
      </p:sp>
      <p:pic>
        <p:nvPicPr>
          <p:cNvPr descr="image.png"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28044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440459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95287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465290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Managing False Positives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581025" y="581025"/>
            <a:ext cx="57150" cy="438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28825"/>
            <a:ext cx="52768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581025" y="2198489"/>
            <a:ext cx="55406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The Security-Dev Feedback Loop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485775" y="2569011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1009650" y="2569964"/>
            <a:ext cx="48482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Platform Insights: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Share direct links to security issues in the centralized dashboard with development leads.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485775" y="335571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1009650" y="3356669"/>
            <a:ext cx="48482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Context-Aware Fixes: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Provide clear, copy-pasteable remediation patches tailored to the developer's environment.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485775" y="441671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1009650" y="4417665"/>
            <a:ext cx="48482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Continuous Guardrails: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Turn resolved issues into custom block-policies directly inside the platform configuration to prevent recurrence.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Collaborative Remediation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581025" y="581025"/>
            <a:ext cx="57150" cy="438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19" title="Gemini_Generated_Image_5hpfut5hpfut5hpf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2025" y="2028825"/>
            <a:ext cx="5238951" cy="36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19300"/>
            <a:ext cx="11029950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/>
          <p:nvPr/>
        </p:nvSpPr>
        <p:spPr>
          <a:xfrm>
            <a:off x="590550" y="2028825"/>
            <a:ext cx="11010900" cy="3619500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7" name="Google Shape;177;p20"/>
          <p:cNvGraphicFramePr/>
          <p:nvPr/>
        </p:nvGraphicFramePr>
        <p:xfrm>
          <a:off x="590550" y="20288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{C40F0BB7-A739-45E3-B2AA-41E101DCD98A}</a:tableStyleId>
              </a:tblPr>
              <a:tblGrid>
                <a:gridCol w="1353900"/>
                <a:gridCol w="4227600"/>
                <a:gridCol w="1732350"/>
                <a:gridCol w="3697050"/>
              </a:tblGrid>
              <a:tr h="72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0B98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Risk Severity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0B98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Definition / Impact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0B98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Remediation SLA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0B98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Recommended Action Plan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43F5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Critical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Active exploit path from the public internet; remote code execution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24 Hours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Immediate patch deployment or runtime mitigation block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9731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Local privilege escalation, major data leakage without pre-auth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Prioritize in upcoming sprint; assign to tech lead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EAB3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Insecure configuration, authenticated abuse of application logic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30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Add to standard product development backlogs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B82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Minor framework version mismatch, dead-code block security smell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90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Evaluate and resolve during scheduled library upgrades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</a:tr>
            </a:tbl>
          </a:graphicData>
        </a:graphic>
      </p:graphicFrame>
      <p:sp>
        <p:nvSpPr>
          <p:cNvPr id="178" name="Google Shape;178;p20"/>
          <p:cNvSpPr/>
          <p:nvPr/>
        </p:nvSpPr>
        <p:spPr>
          <a:xfrm>
            <a:off x="590550" y="2871787"/>
            <a:ext cx="135388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1944439" y="2871787"/>
            <a:ext cx="422761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6172051" y="2871787"/>
            <a:ext cx="173235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7904410" y="2871787"/>
            <a:ext cx="369703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590550" y="3567112"/>
            <a:ext cx="135388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1944439" y="3567112"/>
            <a:ext cx="422761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6172051" y="3567112"/>
            <a:ext cx="173235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7904410" y="3567112"/>
            <a:ext cx="369703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590550" y="4262437"/>
            <a:ext cx="135388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1944439" y="4262437"/>
            <a:ext cx="422761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6172051" y="4262437"/>
            <a:ext cx="173235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7904410" y="4262437"/>
            <a:ext cx="369703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90550" y="4957762"/>
            <a:ext cx="135388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1944439" y="4957762"/>
            <a:ext cx="422761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6172051" y="4957762"/>
            <a:ext cx="173235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7904410" y="4957762"/>
            <a:ext cx="369703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Severity &amp; Remediation SLAs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581025" y="581025"/>
            <a:ext cx="57150" cy="438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/>
          <p:nvPr/>
        </p:nvSpPr>
        <p:spPr>
          <a:xfrm>
            <a:off x="5524500" y="2338387"/>
            <a:ext cx="11430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2220515" y="2681287"/>
            <a:ext cx="7750968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Hands-On SAST Demo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809625" y="3776662"/>
            <a:ext cx="10572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Applying Triage and Scanning Concepts with Semgrep and OWASP Juice Shop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771525" y="581025"/>
            <a:ext cx="499062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Lab Architecture</a:t>
            </a: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581025" y="581025"/>
            <a:ext cx="57150" cy="438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581025" y="1400175"/>
            <a:ext cx="519064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Local Targets, Cloud Insights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581025" y="2085975"/>
            <a:ext cx="49434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Our lab connects a local dockerized instance of a vulnerable target (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OWASP Juice Shop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 with a centralized SAST web portal.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581025" y="3251745"/>
            <a:ext cx="49434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Findings are analyzed locally with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Semgrep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and synchronized directly to the web interface for unified triage, rule customization, and remediation exercises.</a:t>
            </a:r>
            <a:endParaRPr/>
          </a:p>
        </p:txBody>
      </p:sp>
      <p:pic>
        <p:nvPicPr>
          <p:cNvPr id="214" name="Google Shape;214;p22" title="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2875" y="1053375"/>
            <a:ext cx="6477102" cy="410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37494"/>
            <a:ext cx="3486150" cy="3002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337494"/>
            <a:ext cx="3486150" cy="3002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337494"/>
            <a:ext cx="3486150" cy="300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 txBox="1"/>
          <p:nvPr/>
        </p:nvSpPr>
        <p:spPr>
          <a:xfrm>
            <a:off x="803910" y="3385244"/>
            <a:ext cx="30403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1. Run Juice Shop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876300" y="3775769"/>
            <a:ext cx="28956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Launch the vulnerable OWASP Juice Shop locally in Docker: docker run -d -p 3000:3000 bkimminich/juice-shop.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4575810" y="3385244"/>
            <a:ext cx="30403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2. Setup Dashboard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4648200" y="3775769"/>
            <a:ext cx="28956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Log in to the SAST web platform, configure your project workspace, and generate your secure access token.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8347710" y="3385244"/>
            <a:ext cx="30403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3. Scan &amp; Sync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8420100" y="3775769"/>
            <a:ext cx="28956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Run the Semgrep engine with your token to scan Juice Shop locally and auto-push findings to your central Web UI.</a:t>
            </a:r>
            <a:endParaRPr/>
          </a:p>
        </p:txBody>
      </p:sp>
      <p:pic>
        <p:nvPicPr>
          <p:cNvPr descr="image.png" id="229" name="Google Shape;22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38350" y="2680394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680394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9300" y="268039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Connection Steps</a:t>
            </a:r>
            <a:endParaRPr/>
          </a:p>
        </p:txBody>
      </p:sp>
      <p:sp>
        <p:nvSpPr>
          <p:cNvPr id="233" name="Google Shape;233;p23"/>
          <p:cNvSpPr/>
          <p:nvPr/>
        </p:nvSpPr>
        <p:spPr>
          <a:xfrm>
            <a:off x="581025" y="581025"/>
            <a:ext cx="57150" cy="438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14600"/>
            <a:ext cx="11029950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/>
          <p:nvPr/>
        </p:nvSpPr>
        <p:spPr>
          <a:xfrm>
            <a:off x="590550" y="2524125"/>
            <a:ext cx="11010900" cy="2628900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1" name="Google Shape;241;p24"/>
          <p:cNvGraphicFramePr/>
          <p:nvPr/>
        </p:nvGraphicFramePr>
        <p:xfrm>
          <a:off x="590550" y="25241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{C40F0BB7-A739-45E3-B2AA-41E101DCD98A}</a:tableStyleId>
              </a:tblPr>
              <a:tblGrid>
                <a:gridCol w="2138500"/>
                <a:gridCol w="4436125"/>
                <a:gridCol w="2993975"/>
                <a:gridCol w="1442300"/>
              </a:tblGrid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0B98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Lab Exercise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0B98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Objective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0B98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SAST Platform 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0B98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Difficulty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Dashboard Triage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Review and ignore test code vulnerabilities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Triage Status tagging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Easy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</a:tr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Custom Policies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Disable noisy rules on the rule board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Policy Editor interface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EA5E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</a:tr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Reachability Map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Verify source-to-sink data paths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Visual Taint Engine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43F5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</a:tr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Integration Flow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Configure Slack alert for high-risk SQLi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Integrations webhooks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EA5E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</a:tr>
            </a:tbl>
          </a:graphicData>
        </a:graphic>
      </p:graphicFrame>
      <p:sp>
        <p:nvSpPr>
          <p:cNvPr id="242" name="Google Shape;242;p24"/>
          <p:cNvSpPr/>
          <p:nvPr/>
        </p:nvSpPr>
        <p:spPr>
          <a:xfrm>
            <a:off x="590550" y="3138487"/>
            <a:ext cx="213851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2729061" y="3138487"/>
            <a:ext cx="443611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7165181" y="3138487"/>
            <a:ext cx="29939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10159156" y="3138487"/>
            <a:ext cx="144229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590550" y="3643312"/>
            <a:ext cx="213851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2729061" y="3643312"/>
            <a:ext cx="443611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7165181" y="3643312"/>
            <a:ext cx="29939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10159156" y="3643312"/>
            <a:ext cx="144229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590550" y="4148137"/>
            <a:ext cx="213851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2729061" y="4148137"/>
            <a:ext cx="443611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7165181" y="4148137"/>
            <a:ext cx="29939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10159156" y="4148137"/>
            <a:ext cx="144229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590550" y="4652962"/>
            <a:ext cx="213851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2729061" y="4652962"/>
            <a:ext cx="443611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7165181" y="4652962"/>
            <a:ext cx="29939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10159156" y="4652962"/>
            <a:ext cx="144229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Web Lab Exercises</a:t>
            </a:r>
            <a:endParaRPr/>
          </a:p>
        </p:txBody>
      </p:sp>
      <p:sp>
        <p:nvSpPr>
          <p:cNvPr id="259" name="Google Shape;259;p24"/>
          <p:cNvSpPr/>
          <p:nvPr/>
        </p:nvSpPr>
        <p:spPr>
          <a:xfrm>
            <a:off x="581025" y="581025"/>
            <a:ext cx="57150" cy="438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18482"/>
            <a:ext cx="5276850" cy="24401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618482"/>
            <a:ext cx="5276850" cy="244018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971550" y="3009007"/>
            <a:ext cx="4720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Meta variables &amp; Operators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971550" y="3399532"/>
            <a:ext cx="44958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When default patterns aren't enough, we construct custom rules. We utilize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meta variables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(e.g., $USER_INPUT) to enforce schema controls and track variables from source parameters down to SQL sinks.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6724650" y="3009007"/>
            <a:ext cx="472059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Centralized Policy Distribution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6724650" y="3399532"/>
            <a:ext cx="44958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Once validated locally, custom rules are published directly inside the centralized policy registry. This immediately rolls them out globally across all active organization projects and CI runtimes with one click.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Custom Rule Writing Clinic</a:t>
            </a:r>
            <a:endParaRPr/>
          </a:p>
        </p:txBody>
      </p:sp>
      <p:sp>
        <p:nvSpPr>
          <p:cNvPr id="272" name="Google Shape;272;p25"/>
          <p:cNvSpPr/>
          <p:nvPr/>
        </p:nvSpPr>
        <p:spPr>
          <a:xfrm>
            <a:off x="581025" y="581025"/>
            <a:ext cx="57150" cy="438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00175"/>
            <a:ext cx="1102995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6"/>
          <p:cNvSpPr txBox="1"/>
          <p:nvPr/>
        </p:nvSpPr>
        <p:spPr>
          <a:xfrm>
            <a:off x="581025" y="4740622"/>
            <a:ext cx="11029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Adopting a centralized web portal drastically drops Mean Time to Resolution (MTTR) by avoiding developer pipeline blocks and focusing triage strictly on reachable codepaths.</a:t>
            </a:r>
            <a:endParaRPr/>
          </a:p>
        </p:txBody>
      </p:sp>
      <p:sp>
        <p:nvSpPr>
          <p:cNvPr id="280" name="Google Shape;280;p26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Remediation Success Metrics</a:t>
            </a:r>
            <a:endParaRPr/>
          </a:p>
        </p:txBody>
      </p:sp>
      <p:sp>
        <p:nvSpPr>
          <p:cNvPr id="281" name="Google Shape;281;p26"/>
          <p:cNvSpPr/>
          <p:nvPr/>
        </p:nvSpPr>
        <p:spPr>
          <a:xfrm>
            <a:off x="581025" y="581025"/>
            <a:ext cx="57150" cy="438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6" name="Google Shape;28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7"/>
          <p:cNvSpPr txBox="1"/>
          <p:nvPr/>
        </p:nvSpPr>
        <p:spPr>
          <a:xfrm>
            <a:off x="2035492" y="2507902"/>
            <a:ext cx="812101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Questions &amp; Discussion</a:t>
            </a:r>
            <a:endParaRPr/>
          </a:p>
        </p:txBody>
      </p:sp>
      <p:sp>
        <p:nvSpPr>
          <p:cNvPr id="288" name="Google Shape;288;p27"/>
          <p:cNvSpPr txBox="1"/>
          <p:nvPr/>
        </p:nvSpPr>
        <p:spPr>
          <a:xfrm>
            <a:off x="2419350" y="3755677"/>
            <a:ext cx="73533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Secure your applications at dev speed using central AppSec portals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