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Lst>
  <p:sldSz cy="10287000" cx="18288000"/>
  <p:notesSz cx="6858000" cy="9144000"/>
  <p:embeddedFontLst>
    <p:embeddedFont>
      <p:font typeface="Geo"/>
      <p:regular r:id="rId25"/>
      <p:italic r:id="rId26"/>
    </p:embeddedFont>
    <p:embeddedFont>
      <p:font typeface="Helvetica Neue"/>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1" roundtripDataSignature="AMtx7misfTyO414cH2GB4TECdtTqcjqBL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Geo-italic.fntdata"/><Relationship Id="rId25" Type="http://schemas.openxmlformats.org/officeDocument/2006/relationships/font" Target="fonts/Geo-regular.fntdata"/><Relationship Id="rId28" Type="http://schemas.openxmlformats.org/officeDocument/2006/relationships/font" Target="fonts/HelveticaNeue-bold.fntdata"/><Relationship Id="rId27" Type="http://schemas.openxmlformats.org/officeDocument/2006/relationships/font" Target="fonts/HelveticaNeue-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HelveticaNeue-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HelveticaNeue-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p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2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3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3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3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3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3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3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3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3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3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3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3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3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3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3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3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3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3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3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3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3"/>
          <p:cNvSpPr/>
          <p:nvPr>
            <p:ph idx="2" type="pic"/>
          </p:nvPr>
        </p:nvSpPr>
        <p:spPr>
          <a:xfrm>
            <a:off x="1792288" y="612775"/>
            <a:ext cx="5486400" cy="4114800"/>
          </a:xfrm>
          <a:prstGeom prst="rect">
            <a:avLst/>
          </a:prstGeom>
          <a:noFill/>
          <a:ln>
            <a:noFill/>
          </a:ln>
        </p:spPr>
      </p:sp>
      <p:sp>
        <p:nvSpPr>
          <p:cNvPr id="64" name="Google Shape;64;p3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3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3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3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3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3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3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3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3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png"/><Relationship Id="rId4" Type="http://schemas.openxmlformats.org/officeDocument/2006/relationships/image" Target="../media/image1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1.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6.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6.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8.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0.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83" name="Shape 83"/>
        <p:cNvGrpSpPr/>
        <p:nvPr/>
      </p:nvGrpSpPr>
      <p:grpSpPr>
        <a:xfrm>
          <a:off x="0" y="0"/>
          <a:ext cx="0" cy="0"/>
          <a:chOff x="0" y="0"/>
          <a:chExt cx="0" cy="0"/>
        </a:xfrm>
      </p:grpSpPr>
      <p:sp>
        <p:nvSpPr>
          <p:cNvPr id="84" name="Google Shape;84;p1"/>
          <p:cNvSpPr/>
          <p:nvPr/>
        </p:nvSpPr>
        <p:spPr>
          <a:xfrm>
            <a:off x="0" y="-12700"/>
            <a:ext cx="11201400" cy="10299700"/>
          </a:xfrm>
          <a:custGeom>
            <a:rect b="b" l="l" r="r" t="t"/>
            <a:pathLst>
              <a:path extrusionOk="0" h="885799" w="963348">
                <a:moveTo>
                  <a:pt x="0" y="0"/>
                </a:moveTo>
                <a:lnTo>
                  <a:pt x="963348" y="0"/>
                </a:lnTo>
                <a:lnTo>
                  <a:pt x="963348" y="885799"/>
                </a:lnTo>
                <a:lnTo>
                  <a:pt x="0" y="885799"/>
                </a:lnTo>
                <a:close/>
              </a:path>
            </a:pathLst>
          </a:custGeom>
          <a:solidFill>
            <a:srgbClr val="3E3E3E"/>
          </a:solidFill>
          <a:ln cap="flat" cmpd="sng" w="12700">
            <a:solidFill>
              <a:srgbClr val="000000"/>
            </a:solidFill>
            <a:prstDash val="solid"/>
            <a:round/>
            <a:headEnd len="sm" w="sm" type="none"/>
            <a:tailEnd len="sm" w="sm" type="none"/>
          </a:ln>
        </p:spPr>
      </p:sp>
      <p:sp>
        <p:nvSpPr>
          <p:cNvPr id="85" name="Google Shape;85;p1"/>
          <p:cNvSpPr/>
          <p:nvPr/>
        </p:nvSpPr>
        <p:spPr>
          <a:xfrm>
            <a:off x="11868150" y="666750"/>
            <a:ext cx="5753100" cy="8953500"/>
          </a:xfrm>
          <a:custGeom>
            <a:rect b="b" l="l" r="r" t="t"/>
            <a:pathLst>
              <a:path extrusionOk="0"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rotWithShape="1">
            <a:blip r:embed="rId3">
              <a:alphaModFix/>
            </a:blip>
            <a:stretch>
              <a:fillRect b="-199" l="0" r="0" t="-199"/>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
          <p:cNvSpPr txBox="1"/>
          <p:nvPr/>
        </p:nvSpPr>
        <p:spPr>
          <a:xfrm>
            <a:off x="666750" y="9001760"/>
            <a:ext cx="6886575" cy="618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800" u="none" cap="none" strike="noStrike">
                <a:solidFill>
                  <a:srgbClr val="FFFFFF"/>
                </a:solidFill>
                <a:latin typeface="Helvetica Neue"/>
                <a:ea typeface="Helvetica Neue"/>
                <a:cs typeface="Helvetica Neue"/>
                <a:sym typeface="Helvetica Neue"/>
              </a:rPr>
              <a:t>Presented by Aditya Bhandari</a:t>
            </a:r>
            <a:endParaRPr/>
          </a:p>
        </p:txBody>
      </p:sp>
      <p:sp>
        <p:nvSpPr>
          <p:cNvPr id="87" name="Google Shape;87;p1"/>
          <p:cNvSpPr txBox="1"/>
          <p:nvPr/>
        </p:nvSpPr>
        <p:spPr>
          <a:xfrm>
            <a:off x="675380" y="975068"/>
            <a:ext cx="9754495" cy="389460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956" u="none" cap="none" strike="noStrike">
                <a:solidFill>
                  <a:srgbClr val="FFFFFF"/>
                </a:solidFill>
                <a:latin typeface="Geo"/>
                <a:ea typeface="Geo"/>
                <a:cs typeface="Geo"/>
                <a:sym typeface="Geo"/>
              </a:rPr>
              <a:t>Threat Hunting 101</a:t>
            </a:r>
            <a:endParaRPr/>
          </a:p>
        </p:txBody>
      </p:sp>
      <p:sp>
        <p:nvSpPr>
          <p:cNvPr id="88" name="Google Shape;88;p1"/>
          <p:cNvSpPr/>
          <p:nvPr/>
        </p:nvSpPr>
        <p:spPr>
          <a:xfrm rot="-3117037">
            <a:off x="8947742" y="7656091"/>
            <a:ext cx="2112604" cy="1859092"/>
          </a:xfrm>
          <a:custGeom>
            <a:rect b="b" l="l" r="r" t="t"/>
            <a:pathLst>
              <a:path extrusionOk="0" h="1859092" w="2112604">
                <a:moveTo>
                  <a:pt x="0" y="0"/>
                </a:moveTo>
                <a:lnTo>
                  <a:pt x="2112604" y="0"/>
                </a:lnTo>
                <a:lnTo>
                  <a:pt x="2112604" y="1859091"/>
                </a:lnTo>
                <a:lnTo>
                  <a:pt x="0" y="1859091"/>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92" name="Shape 92"/>
        <p:cNvGrpSpPr/>
        <p:nvPr/>
      </p:nvGrpSpPr>
      <p:grpSpPr>
        <a:xfrm>
          <a:off x="0" y="0"/>
          <a:ext cx="0" cy="0"/>
          <a:chOff x="0" y="0"/>
          <a:chExt cx="0" cy="0"/>
        </a:xfrm>
      </p:grpSpPr>
      <p:sp>
        <p:nvSpPr>
          <p:cNvPr id="93" name="Google Shape;93;p2"/>
          <p:cNvSpPr/>
          <p:nvPr/>
        </p:nvSpPr>
        <p:spPr>
          <a:xfrm rot="-3117037">
            <a:off x="588284" y="7723621"/>
            <a:ext cx="2112604" cy="1859092"/>
          </a:xfrm>
          <a:custGeom>
            <a:rect b="b" l="l" r="r" t="t"/>
            <a:pathLst>
              <a:path extrusionOk="0" h="1859092" w="2112604">
                <a:moveTo>
                  <a:pt x="0" y="0"/>
                </a:moveTo>
                <a:lnTo>
                  <a:pt x="2112604" y="0"/>
                </a:lnTo>
                <a:lnTo>
                  <a:pt x="2112604" y="1859092"/>
                </a:lnTo>
                <a:lnTo>
                  <a:pt x="0" y="1859092"/>
                </a:lnTo>
                <a:lnTo>
                  <a:pt x="0" y="0"/>
                </a:lnTo>
                <a:close/>
              </a:path>
            </a:pathLst>
          </a:custGeom>
          <a:blipFill rotWithShape="1">
            <a:blip r:embed="rId3">
              <a:alphaModFix/>
            </a:blip>
            <a:stretch>
              <a:fillRect b="0" l="0" r="0" t="0"/>
            </a:stretch>
          </a:blipFill>
          <a:ln>
            <a:noFill/>
          </a:ln>
        </p:spPr>
      </p:sp>
      <p:sp>
        <p:nvSpPr>
          <p:cNvPr id="94" name="Google Shape;94;p2"/>
          <p:cNvSpPr/>
          <p:nvPr/>
        </p:nvSpPr>
        <p:spPr>
          <a:xfrm>
            <a:off x="10781512" y="2472414"/>
            <a:ext cx="7047823" cy="7047823"/>
          </a:xfrm>
          <a:custGeom>
            <a:rect b="b" l="l" r="r" t="t"/>
            <a:pathLst>
              <a:path extrusionOk="0" h="7047823" w="7047823">
                <a:moveTo>
                  <a:pt x="0" y="0"/>
                </a:moveTo>
                <a:lnTo>
                  <a:pt x="7047822" y="0"/>
                </a:lnTo>
                <a:lnTo>
                  <a:pt x="7047822" y="7047823"/>
                </a:lnTo>
                <a:lnTo>
                  <a:pt x="0" y="7047823"/>
                </a:lnTo>
                <a:lnTo>
                  <a:pt x="0" y="0"/>
                </a:lnTo>
                <a:close/>
              </a:path>
            </a:pathLst>
          </a:custGeom>
          <a:blipFill rotWithShape="1">
            <a:blip r:embed="rId4">
              <a:alphaModFix/>
            </a:blip>
            <a:stretch>
              <a:fillRect b="0" l="0" r="0" t="0"/>
            </a:stretch>
          </a:blipFill>
          <a:ln>
            <a:noFill/>
          </a:ln>
        </p:spPr>
      </p:sp>
      <p:sp>
        <p:nvSpPr>
          <p:cNvPr id="95" name="Google Shape;95;p2"/>
          <p:cNvSpPr txBox="1"/>
          <p:nvPr/>
        </p:nvSpPr>
        <p:spPr>
          <a:xfrm>
            <a:off x="882313" y="755968"/>
            <a:ext cx="9552092" cy="1121265"/>
          </a:xfrm>
          <a:prstGeom prst="rect">
            <a:avLst/>
          </a:prstGeom>
          <a:noFill/>
          <a:ln>
            <a:noFill/>
          </a:ln>
        </p:spPr>
        <p:txBody>
          <a:bodyPr anchorCtr="0" anchor="t" bIns="0" lIns="0" spcFirstLastPara="1" rIns="0" wrap="square" tIns="0">
            <a:spAutoFit/>
          </a:bodyPr>
          <a:lstStyle/>
          <a:p>
            <a:pPr indent="0" lvl="0" marL="0" marR="0" rtl="0" algn="ctr">
              <a:lnSpc>
                <a:spcPct val="140024"/>
              </a:lnSpc>
              <a:spcBef>
                <a:spcPts val="0"/>
              </a:spcBef>
              <a:spcAft>
                <a:spcPts val="0"/>
              </a:spcAft>
              <a:buNone/>
            </a:pPr>
            <a:r>
              <a:rPr b="1" i="0" lang="en-US" sz="6577" u="none" cap="none" strike="noStrike">
                <a:solidFill>
                  <a:srgbClr val="FFFFFF"/>
                </a:solidFill>
                <a:latin typeface="Arial"/>
                <a:ea typeface="Arial"/>
                <a:cs typeface="Arial"/>
                <a:sym typeface="Arial"/>
              </a:rPr>
              <a:t>What we’ll cover today:</a:t>
            </a:r>
            <a:endParaRPr/>
          </a:p>
        </p:txBody>
      </p:sp>
      <p:sp>
        <p:nvSpPr>
          <p:cNvPr id="96" name="Google Shape;96;p2"/>
          <p:cNvSpPr txBox="1"/>
          <p:nvPr/>
        </p:nvSpPr>
        <p:spPr>
          <a:xfrm>
            <a:off x="1464506" y="4481830"/>
            <a:ext cx="8135229" cy="1780540"/>
          </a:xfrm>
          <a:prstGeom prst="rect">
            <a:avLst/>
          </a:prstGeom>
          <a:noFill/>
          <a:ln>
            <a:noFill/>
          </a:ln>
        </p:spPr>
        <p:txBody>
          <a:bodyPr anchorCtr="0" anchor="t" bIns="0" lIns="0" spcFirstLastPara="1" rIns="0" wrap="square" tIns="0">
            <a:spAutoFit/>
          </a:bodyPr>
          <a:lstStyle/>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ial"/>
                <a:ea typeface="Arial"/>
                <a:cs typeface="Arial"/>
                <a:sym typeface="Arial"/>
              </a:rPr>
              <a:t>What is Threat Hunting?</a:t>
            </a:r>
            <a:endParaRPr/>
          </a:p>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ial"/>
                <a:ea typeface="Arial"/>
                <a:cs typeface="Arial"/>
                <a:sym typeface="Arial"/>
              </a:rPr>
              <a:t>SOC vs Threat Hunting</a:t>
            </a:r>
            <a:endParaRPr/>
          </a:p>
          <a:p>
            <a:pPr indent="-367030" lvl="1" marL="734059" marR="0" rtl="0" algn="l">
              <a:lnSpc>
                <a:spcPct val="140011"/>
              </a:lnSpc>
              <a:spcBef>
                <a:spcPts val="0"/>
              </a:spcBef>
              <a:spcAft>
                <a:spcPts val="0"/>
              </a:spcAft>
              <a:buClr>
                <a:srgbClr val="FFFFFF"/>
              </a:buClr>
              <a:buSzPts val="3399"/>
              <a:buFont typeface="Arial"/>
              <a:buChar char="•"/>
            </a:pPr>
            <a:r>
              <a:rPr b="0" i="0" lang="en-US" sz="3399" u="none" cap="none" strike="noStrike">
                <a:solidFill>
                  <a:srgbClr val="FFFFFF"/>
                </a:solidFill>
                <a:latin typeface="Arial"/>
                <a:ea typeface="Arial"/>
                <a:cs typeface="Arial"/>
                <a:sym typeface="Arial"/>
              </a:rPr>
              <a:t>Threat Hunting mindset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00" name="Shape 100"/>
        <p:cNvGrpSpPr/>
        <p:nvPr/>
      </p:nvGrpSpPr>
      <p:grpSpPr>
        <a:xfrm>
          <a:off x="0" y="0"/>
          <a:ext cx="0" cy="0"/>
          <a:chOff x="0" y="0"/>
          <a:chExt cx="0" cy="0"/>
        </a:xfrm>
      </p:grpSpPr>
      <p:grpSp>
        <p:nvGrpSpPr>
          <p:cNvPr id="101" name="Google Shape;101;p3"/>
          <p:cNvGrpSpPr/>
          <p:nvPr/>
        </p:nvGrpSpPr>
        <p:grpSpPr>
          <a:xfrm>
            <a:off x="9296400" y="-216991"/>
            <a:ext cx="8991600" cy="3569791"/>
            <a:chOff x="0" y="-57150"/>
            <a:chExt cx="2368158" cy="940192"/>
          </a:xfrm>
        </p:grpSpPr>
        <p:sp>
          <p:nvSpPr>
            <p:cNvPr id="102" name="Google Shape;102;p3"/>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103" name="Google Shape;103;p3"/>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04" name="Google Shape;104;p3"/>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105" name="Google Shape;105;p3"/>
          <p:cNvSpPr txBox="1"/>
          <p:nvPr/>
        </p:nvSpPr>
        <p:spPr>
          <a:xfrm>
            <a:off x="666750" y="3453971"/>
            <a:ext cx="7727237" cy="2802255"/>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7200" u="none" cap="none" strike="noStrike">
                <a:solidFill>
                  <a:srgbClr val="FFFFFF"/>
                </a:solidFill>
                <a:latin typeface="Geo"/>
                <a:ea typeface="Geo"/>
                <a:cs typeface="Geo"/>
                <a:sym typeface="Geo"/>
              </a:rPr>
              <a:t>If no alerts are getting triggered are we safe?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09" name="Shape 109"/>
        <p:cNvGrpSpPr/>
        <p:nvPr/>
      </p:nvGrpSpPr>
      <p:grpSpPr>
        <a:xfrm>
          <a:off x="0" y="0"/>
          <a:ext cx="0" cy="0"/>
          <a:chOff x="0" y="0"/>
          <a:chExt cx="0" cy="0"/>
        </a:xfrm>
      </p:grpSpPr>
      <p:grpSp>
        <p:nvGrpSpPr>
          <p:cNvPr id="110" name="Google Shape;110;p4"/>
          <p:cNvGrpSpPr/>
          <p:nvPr/>
        </p:nvGrpSpPr>
        <p:grpSpPr>
          <a:xfrm>
            <a:off x="9296400" y="-216991"/>
            <a:ext cx="8991600" cy="3569791"/>
            <a:chOff x="0" y="-57150"/>
            <a:chExt cx="2368158" cy="940192"/>
          </a:xfrm>
        </p:grpSpPr>
        <p:sp>
          <p:nvSpPr>
            <p:cNvPr id="111" name="Google Shape;111;p4"/>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112" name="Google Shape;112;p4"/>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13" name="Google Shape;113;p4"/>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114" name="Google Shape;114;p4"/>
          <p:cNvSpPr txBox="1"/>
          <p:nvPr/>
        </p:nvSpPr>
        <p:spPr>
          <a:xfrm>
            <a:off x="666750" y="809625"/>
            <a:ext cx="6886575" cy="207962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Introduction to Threat Hunting</a:t>
            </a:r>
            <a:endParaRPr/>
          </a:p>
        </p:txBody>
      </p:sp>
      <p:sp>
        <p:nvSpPr>
          <p:cNvPr id="115" name="Google Shape;115;p4"/>
          <p:cNvSpPr txBox="1"/>
          <p:nvPr/>
        </p:nvSpPr>
        <p:spPr>
          <a:xfrm>
            <a:off x="666750" y="3933825"/>
            <a:ext cx="7243931" cy="23526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3300" u="none" cap="none" strike="noStrike">
                <a:solidFill>
                  <a:srgbClr val="FFFFFF"/>
                </a:solidFill>
                <a:latin typeface="Helvetica Neue"/>
                <a:ea typeface="Helvetica Neue"/>
                <a:cs typeface="Helvetica Neue"/>
                <a:sym typeface="Helvetica Neue"/>
              </a:rPr>
              <a:t>Threat hunting is a </a:t>
            </a:r>
            <a:r>
              <a:rPr b="1" i="0" lang="en-US" sz="3300" u="none" cap="none" strike="noStrike">
                <a:solidFill>
                  <a:srgbClr val="FFFFFF"/>
                </a:solidFill>
                <a:latin typeface="Helvetica Neue"/>
                <a:ea typeface="Helvetica Neue"/>
                <a:cs typeface="Helvetica Neue"/>
                <a:sym typeface="Helvetica Neue"/>
              </a:rPr>
              <a:t>proactive approach</a:t>
            </a:r>
            <a:r>
              <a:rPr b="0" i="0" lang="en-US" sz="3300" u="none" cap="none" strike="noStrike">
                <a:solidFill>
                  <a:srgbClr val="FFFFFF"/>
                </a:solidFill>
                <a:latin typeface="Helvetica Neue"/>
                <a:ea typeface="Helvetica Neue"/>
                <a:cs typeface="Helvetica Neue"/>
                <a:sym typeface="Helvetica Neue"/>
              </a:rPr>
              <a:t> focusing on identifying and mitigating hidden threats before they turn into significant breaches.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19" name="Shape 119"/>
        <p:cNvGrpSpPr/>
        <p:nvPr/>
      </p:nvGrpSpPr>
      <p:grpSpPr>
        <a:xfrm>
          <a:off x="0" y="0"/>
          <a:ext cx="0" cy="0"/>
          <a:chOff x="0" y="0"/>
          <a:chExt cx="0" cy="0"/>
        </a:xfrm>
      </p:grpSpPr>
      <p:sp>
        <p:nvSpPr>
          <p:cNvPr id="120" name="Google Shape;120;p5"/>
          <p:cNvSpPr txBox="1"/>
          <p:nvPr/>
        </p:nvSpPr>
        <p:spPr>
          <a:xfrm>
            <a:off x="17259300" y="9201150"/>
            <a:ext cx="152400" cy="209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5</a:t>
            </a:r>
            <a:endParaRPr/>
          </a:p>
        </p:txBody>
      </p:sp>
      <p:grpSp>
        <p:nvGrpSpPr>
          <p:cNvPr id="121" name="Google Shape;121;p5"/>
          <p:cNvGrpSpPr/>
          <p:nvPr/>
        </p:nvGrpSpPr>
        <p:grpSpPr>
          <a:xfrm>
            <a:off x="666750" y="238621"/>
            <a:ext cx="16954500" cy="9170495"/>
            <a:chOff x="0" y="-57150"/>
            <a:chExt cx="4465383" cy="2415274"/>
          </a:xfrm>
        </p:grpSpPr>
        <p:sp>
          <p:nvSpPr>
            <p:cNvPr id="122" name="Google Shape;122;p5"/>
            <p:cNvSpPr/>
            <p:nvPr/>
          </p:nvSpPr>
          <p:spPr>
            <a:xfrm>
              <a:off x="0" y="0"/>
              <a:ext cx="4465383" cy="2358124"/>
            </a:xfrm>
            <a:custGeom>
              <a:rect b="b" l="l" r="r" t="t"/>
              <a:pathLst>
                <a:path extrusionOk="0"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3E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txBox="1"/>
            <p:nvPr/>
          </p:nvSpPr>
          <p:spPr>
            <a:xfrm>
              <a:off x="0" y="-57150"/>
              <a:ext cx="4465383" cy="24152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24" name="Google Shape;124;p5"/>
          <p:cNvGrpSpPr/>
          <p:nvPr/>
        </p:nvGrpSpPr>
        <p:grpSpPr>
          <a:xfrm>
            <a:off x="1800225" y="1497806"/>
            <a:ext cx="13249275" cy="2093203"/>
            <a:chOff x="0" y="-85725"/>
            <a:chExt cx="17665700" cy="2790937"/>
          </a:xfrm>
        </p:grpSpPr>
        <p:sp>
          <p:nvSpPr>
            <p:cNvPr id="125" name="Google Shape;125;p5"/>
            <p:cNvSpPr txBox="1"/>
            <p:nvPr/>
          </p:nvSpPr>
          <p:spPr>
            <a:xfrm>
              <a:off x="0" y="-85725"/>
              <a:ext cx="17665700" cy="170285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8000" u="none" cap="none" strike="noStrike">
                  <a:solidFill>
                    <a:srgbClr val="FFFFFF"/>
                  </a:solidFill>
                  <a:latin typeface="Geo"/>
                  <a:ea typeface="Geo"/>
                  <a:cs typeface="Geo"/>
                  <a:sym typeface="Geo"/>
                </a:rPr>
                <a:t>Why Threat Hunting Matters</a:t>
              </a:r>
              <a:endParaRPr/>
            </a:p>
          </p:txBody>
        </p:sp>
        <p:sp>
          <p:nvSpPr>
            <p:cNvPr id="126" name="Google Shape;126;p5"/>
            <p:cNvSpPr txBox="1"/>
            <p:nvPr/>
          </p:nvSpPr>
          <p:spPr>
            <a:xfrm>
              <a:off x="0" y="2187687"/>
              <a:ext cx="17665700" cy="517525"/>
            </a:xfrm>
            <a:prstGeom prst="rect">
              <a:avLst/>
            </a:prstGeom>
            <a:noFill/>
            <a:ln>
              <a:noFill/>
            </a:ln>
          </p:spPr>
          <p:txBody>
            <a:bodyPr anchorCtr="0" anchor="t" bIns="0" lIns="0" spcFirstLastPara="1" rIns="0" wrap="square" tIns="0">
              <a:spAutoFit/>
            </a:bodyPr>
            <a:lstStyle/>
            <a:p>
              <a:pPr indent="0" lvl="0" marL="0" marR="0" rtl="0" algn="l">
                <a:lnSpc>
                  <a:spcPct val="166666"/>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27" name="Google Shape;127;p5"/>
          <p:cNvSpPr txBox="1"/>
          <p:nvPr/>
        </p:nvSpPr>
        <p:spPr>
          <a:xfrm>
            <a:off x="9645764" y="3863769"/>
            <a:ext cx="7262298" cy="344805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3500" u="none" cap="none" strike="noStrike">
                <a:solidFill>
                  <a:srgbClr val="FFFFFF"/>
                </a:solidFill>
                <a:latin typeface="Helvetica Neue"/>
                <a:ea typeface="Helvetica Neue"/>
                <a:cs typeface="Helvetica Neue"/>
                <a:sym typeface="Helvetica Neue"/>
              </a:rPr>
              <a:t>Threat Hunting:</a:t>
            </a:r>
            <a:endParaRPr/>
          </a:p>
          <a:p>
            <a:pPr indent="-377825" lvl="1" marL="755651" marR="0" rtl="0" algn="l">
              <a:lnSpc>
                <a:spcPct val="120000"/>
              </a:lnSpc>
              <a:spcBef>
                <a:spcPts val="0"/>
              </a:spcBef>
              <a:spcAft>
                <a:spcPts val="0"/>
              </a:spcAft>
              <a:buClr>
                <a:srgbClr val="FFFFFF"/>
              </a:buClr>
              <a:buSzPts val="3500"/>
              <a:buFont typeface="Arial"/>
              <a:buChar char="•"/>
            </a:pPr>
            <a:r>
              <a:rPr b="1" i="0" lang="en-US" sz="3500" u="none" cap="none" strike="noStrike">
                <a:solidFill>
                  <a:srgbClr val="FFFFFF"/>
                </a:solidFill>
                <a:latin typeface="Helvetica Neue"/>
                <a:ea typeface="Helvetica Neue"/>
                <a:cs typeface="Helvetica Neue"/>
                <a:sym typeface="Helvetica Neue"/>
              </a:rPr>
              <a:t>Proactive</a:t>
            </a:r>
            <a:endParaRPr/>
          </a:p>
          <a:p>
            <a:pPr indent="-377825" lvl="1" marL="755651" marR="0" rtl="0" algn="l">
              <a:lnSpc>
                <a:spcPct val="120000"/>
              </a:lnSpc>
              <a:spcBef>
                <a:spcPts val="0"/>
              </a:spcBef>
              <a:spcAft>
                <a:spcPts val="0"/>
              </a:spcAft>
              <a:buClr>
                <a:srgbClr val="FFFFFF"/>
              </a:buClr>
              <a:buSzPts val="3500"/>
              <a:buFont typeface="Arial"/>
              <a:buChar char="•"/>
            </a:pPr>
            <a:r>
              <a:rPr b="1" i="0" lang="en-US" sz="3500" u="none" cap="none" strike="noStrike">
                <a:solidFill>
                  <a:srgbClr val="FFFFFF"/>
                </a:solidFill>
                <a:latin typeface="Helvetica Neue"/>
                <a:ea typeface="Helvetica Neue"/>
                <a:cs typeface="Helvetica Neue"/>
                <a:sym typeface="Helvetica Neue"/>
              </a:rPr>
              <a:t>Hypothesis-driven</a:t>
            </a:r>
            <a:endParaRPr/>
          </a:p>
          <a:p>
            <a:pPr indent="-377825" lvl="1" marL="755651" marR="0" rtl="0" algn="l">
              <a:lnSpc>
                <a:spcPct val="120000"/>
              </a:lnSpc>
              <a:spcBef>
                <a:spcPts val="0"/>
              </a:spcBef>
              <a:spcAft>
                <a:spcPts val="0"/>
              </a:spcAft>
              <a:buClr>
                <a:srgbClr val="FFFFFF"/>
              </a:buClr>
              <a:buSzPts val="3500"/>
              <a:buFont typeface="Arial"/>
              <a:buChar char="•"/>
            </a:pPr>
            <a:r>
              <a:rPr b="1" i="0" lang="en-US" sz="3500" u="none" cap="none" strike="noStrike">
                <a:solidFill>
                  <a:srgbClr val="FFFFFF"/>
                </a:solidFill>
                <a:latin typeface="Helvetica Neue"/>
                <a:ea typeface="Helvetica Neue"/>
                <a:cs typeface="Helvetica Neue"/>
                <a:sym typeface="Helvetica Neue"/>
              </a:rPr>
              <a:t>Finds attackers hiding in plain sight</a:t>
            </a:r>
            <a:endParaRPr/>
          </a:p>
          <a:p>
            <a:pPr indent="0" lvl="0" marL="0" marR="0" rtl="0" algn="l">
              <a:lnSpc>
                <a:spcPct val="120000"/>
              </a:lnSpc>
              <a:spcBef>
                <a:spcPts val="0"/>
              </a:spcBef>
              <a:spcAft>
                <a:spcPts val="0"/>
              </a:spcAft>
              <a:buNone/>
            </a:pPr>
            <a:r>
              <a:t/>
            </a:r>
            <a:endParaRPr b="1" i="0" sz="3500" u="none" cap="none" strike="noStrike">
              <a:solidFill>
                <a:srgbClr val="FFFFFF"/>
              </a:solidFill>
              <a:latin typeface="Helvetica Neue"/>
              <a:ea typeface="Helvetica Neue"/>
              <a:cs typeface="Helvetica Neue"/>
              <a:sym typeface="Helvetica Neue"/>
            </a:endParaRPr>
          </a:p>
        </p:txBody>
      </p:sp>
      <p:sp>
        <p:nvSpPr>
          <p:cNvPr id="128" name="Google Shape;128;p5"/>
          <p:cNvSpPr txBox="1"/>
          <p:nvPr/>
        </p:nvSpPr>
        <p:spPr>
          <a:xfrm>
            <a:off x="1800225" y="3873294"/>
            <a:ext cx="6191207" cy="2823145"/>
          </a:xfrm>
          <a:prstGeom prst="rect">
            <a:avLst/>
          </a:prstGeom>
          <a:noFill/>
          <a:ln>
            <a:noFill/>
          </a:ln>
        </p:spPr>
        <p:txBody>
          <a:bodyPr anchorCtr="0" anchor="t" bIns="0" lIns="0" spcFirstLastPara="1" rIns="0" wrap="square" tIns="0">
            <a:spAutoFit/>
          </a:bodyPr>
          <a:lstStyle/>
          <a:p>
            <a:pPr indent="0" lvl="0" marL="0" marR="0" rtl="0" algn="l">
              <a:lnSpc>
                <a:spcPct val="120005"/>
              </a:lnSpc>
              <a:spcBef>
                <a:spcPts val="0"/>
              </a:spcBef>
              <a:spcAft>
                <a:spcPts val="0"/>
              </a:spcAft>
              <a:buNone/>
            </a:pPr>
            <a:r>
              <a:rPr b="1" i="0" lang="en-US" sz="3499" u="none" cap="none" strike="noStrike">
                <a:solidFill>
                  <a:srgbClr val="FFFFFF"/>
                </a:solidFill>
                <a:latin typeface="Helvetica Neue"/>
                <a:ea typeface="Helvetica Neue"/>
                <a:cs typeface="Helvetica Neue"/>
                <a:sym typeface="Helvetica Neue"/>
              </a:rPr>
              <a:t>Traditional Security:</a:t>
            </a:r>
            <a:endParaRPr/>
          </a:p>
          <a:p>
            <a:pPr indent="-377816" lvl="1" marL="755632" marR="0" rtl="0" algn="l">
              <a:lnSpc>
                <a:spcPct val="120005"/>
              </a:lnSpc>
              <a:spcBef>
                <a:spcPts val="0"/>
              </a:spcBef>
              <a:spcAft>
                <a:spcPts val="0"/>
              </a:spcAft>
              <a:buClr>
                <a:srgbClr val="FFFFFF"/>
              </a:buClr>
              <a:buSzPts val="3499"/>
              <a:buFont typeface="Arial"/>
              <a:buChar char="•"/>
            </a:pPr>
            <a:r>
              <a:rPr b="1" i="0" lang="en-US" sz="3499" u="none" cap="none" strike="noStrike">
                <a:solidFill>
                  <a:srgbClr val="FFFFFF"/>
                </a:solidFill>
                <a:latin typeface="Helvetica Neue"/>
                <a:ea typeface="Helvetica Neue"/>
                <a:cs typeface="Helvetica Neue"/>
                <a:sym typeface="Helvetica Neue"/>
              </a:rPr>
              <a:t>Alert-driven</a:t>
            </a:r>
            <a:endParaRPr/>
          </a:p>
          <a:p>
            <a:pPr indent="-377816" lvl="1" marL="755632" marR="0" rtl="0" algn="l">
              <a:lnSpc>
                <a:spcPct val="120005"/>
              </a:lnSpc>
              <a:spcBef>
                <a:spcPts val="0"/>
              </a:spcBef>
              <a:spcAft>
                <a:spcPts val="0"/>
              </a:spcAft>
              <a:buClr>
                <a:srgbClr val="FFFFFF"/>
              </a:buClr>
              <a:buSzPts val="3499"/>
              <a:buFont typeface="Arial"/>
              <a:buChar char="•"/>
            </a:pPr>
            <a:r>
              <a:rPr b="1" i="0" lang="en-US" sz="3499" u="none" cap="none" strike="noStrike">
                <a:solidFill>
                  <a:srgbClr val="FFFFFF"/>
                </a:solidFill>
                <a:latin typeface="Helvetica Neue"/>
                <a:ea typeface="Helvetica Neue"/>
                <a:cs typeface="Helvetica Neue"/>
                <a:sym typeface="Helvetica Neue"/>
              </a:rPr>
              <a:t>Reactive</a:t>
            </a:r>
            <a:endParaRPr/>
          </a:p>
          <a:p>
            <a:pPr indent="-377816" lvl="1" marL="755632" marR="0" rtl="0" algn="l">
              <a:lnSpc>
                <a:spcPct val="120005"/>
              </a:lnSpc>
              <a:spcBef>
                <a:spcPts val="0"/>
              </a:spcBef>
              <a:spcAft>
                <a:spcPts val="0"/>
              </a:spcAft>
              <a:buClr>
                <a:srgbClr val="FFFFFF"/>
              </a:buClr>
              <a:buSzPts val="3499"/>
              <a:buFont typeface="Arial"/>
              <a:buChar char="•"/>
            </a:pPr>
            <a:r>
              <a:rPr b="1" i="0" lang="en-US" sz="3499" u="none" cap="none" strike="noStrike">
                <a:solidFill>
                  <a:srgbClr val="FFFFFF"/>
                </a:solidFill>
                <a:latin typeface="Helvetica Neue"/>
                <a:ea typeface="Helvetica Neue"/>
                <a:cs typeface="Helvetica Neue"/>
                <a:sym typeface="Helvetica Neue"/>
              </a:rPr>
              <a:t>Misses stealthy attacks</a:t>
            </a:r>
            <a:endParaRPr/>
          </a:p>
          <a:p>
            <a:pPr indent="0" lvl="0" marL="0" marR="0" rtl="0" algn="l">
              <a:lnSpc>
                <a:spcPct val="120005"/>
              </a:lnSpc>
              <a:spcBef>
                <a:spcPts val="0"/>
              </a:spcBef>
              <a:spcAft>
                <a:spcPts val="0"/>
              </a:spcAft>
              <a:buNone/>
            </a:pPr>
            <a:r>
              <a:t/>
            </a:r>
            <a:endParaRPr b="1" i="0" sz="3499" u="none" cap="none" strike="noStrike">
              <a:solidFill>
                <a:srgbClr val="FFFFFF"/>
              </a:solidFill>
              <a:latin typeface="Helvetica Neue"/>
              <a:ea typeface="Helvetica Neue"/>
              <a:cs typeface="Helvetica Neue"/>
              <a:sym typeface="Helvetica Neue"/>
            </a:endParaRPr>
          </a:p>
        </p:txBody>
      </p:sp>
      <p:sp>
        <p:nvSpPr>
          <p:cNvPr id="129" name="Google Shape;129;p5"/>
          <p:cNvSpPr txBox="1"/>
          <p:nvPr/>
        </p:nvSpPr>
        <p:spPr>
          <a:xfrm>
            <a:off x="8099616" y="5075317"/>
            <a:ext cx="650492" cy="521970"/>
          </a:xfrm>
          <a:prstGeom prst="rect">
            <a:avLst/>
          </a:prstGeom>
          <a:noFill/>
          <a:ln>
            <a:noFill/>
          </a:ln>
        </p:spPr>
        <p:txBody>
          <a:bodyPr anchorCtr="0" anchor="t" bIns="0" lIns="0" spcFirstLastPara="1" rIns="0" wrap="square" tIns="0">
            <a:spAutoFit/>
          </a:bodyPr>
          <a:lstStyle/>
          <a:p>
            <a:pPr indent="0" lvl="0" marL="0" marR="0" rtl="0" algn="l">
              <a:lnSpc>
                <a:spcPct val="120006"/>
              </a:lnSpc>
              <a:spcBef>
                <a:spcPts val="0"/>
              </a:spcBef>
              <a:spcAft>
                <a:spcPts val="0"/>
              </a:spcAft>
              <a:buNone/>
            </a:pPr>
            <a:r>
              <a:rPr b="1" i="0" lang="en-US" sz="3099" u="none" cap="none" strike="noStrike">
                <a:solidFill>
                  <a:srgbClr val="FFFFFF"/>
                </a:solidFill>
                <a:latin typeface="Helvetica Neue"/>
                <a:ea typeface="Helvetica Neue"/>
                <a:cs typeface="Helvetica Neue"/>
                <a:sym typeface="Helvetica Neue"/>
              </a:rPr>
              <a:t>VS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33" name="Shape 133"/>
        <p:cNvGrpSpPr/>
        <p:nvPr/>
      </p:nvGrpSpPr>
      <p:grpSpPr>
        <a:xfrm>
          <a:off x="0" y="0"/>
          <a:ext cx="0" cy="0"/>
          <a:chOff x="0" y="0"/>
          <a:chExt cx="0" cy="0"/>
        </a:xfrm>
      </p:grpSpPr>
      <p:sp>
        <p:nvSpPr>
          <p:cNvPr id="134" name="Google Shape;134;p6"/>
          <p:cNvSpPr txBox="1"/>
          <p:nvPr/>
        </p:nvSpPr>
        <p:spPr>
          <a:xfrm>
            <a:off x="17259300" y="9201150"/>
            <a:ext cx="152400" cy="209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6</a:t>
            </a:r>
            <a:endParaRPr/>
          </a:p>
        </p:txBody>
      </p:sp>
      <p:grpSp>
        <p:nvGrpSpPr>
          <p:cNvPr id="135" name="Google Shape;135;p6"/>
          <p:cNvGrpSpPr/>
          <p:nvPr/>
        </p:nvGrpSpPr>
        <p:grpSpPr>
          <a:xfrm>
            <a:off x="666750" y="449759"/>
            <a:ext cx="16954500" cy="9170495"/>
            <a:chOff x="0" y="-57150"/>
            <a:chExt cx="4465383" cy="2415274"/>
          </a:xfrm>
        </p:grpSpPr>
        <p:sp>
          <p:nvSpPr>
            <p:cNvPr id="136" name="Google Shape;136;p6"/>
            <p:cNvSpPr/>
            <p:nvPr/>
          </p:nvSpPr>
          <p:spPr>
            <a:xfrm>
              <a:off x="0" y="0"/>
              <a:ext cx="4465383" cy="2358124"/>
            </a:xfrm>
            <a:custGeom>
              <a:rect b="b" l="l" r="r" t="t"/>
              <a:pathLst>
                <a:path extrusionOk="0"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3E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6"/>
            <p:cNvSpPr txBox="1"/>
            <p:nvPr/>
          </p:nvSpPr>
          <p:spPr>
            <a:xfrm>
              <a:off x="0" y="-57150"/>
              <a:ext cx="4465383" cy="24152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38" name="Google Shape;138;p6"/>
          <p:cNvGrpSpPr/>
          <p:nvPr/>
        </p:nvGrpSpPr>
        <p:grpSpPr>
          <a:xfrm>
            <a:off x="1800225" y="1497806"/>
            <a:ext cx="13249275" cy="2131303"/>
            <a:chOff x="0" y="-85725"/>
            <a:chExt cx="17665700" cy="2841737"/>
          </a:xfrm>
        </p:grpSpPr>
        <p:sp>
          <p:nvSpPr>
            <p:cNvPr id="139" name="Google Shape;139;p6"/>
            <p:cNvSpPr txBox="1"/>
            <p:nvPr/>
          </p:nvSpPr>
          <p:spPr>
            <a:xfrm>
              <a:off x="0" y="-85725"/>
              <a:ext cx="17665700" cy="170285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8000" u="none" cap="none" strike="noStrike">
                  <a:solidFill>
                    <a:srgbClr val="FFFFFF"/>
                  </a:solidFill>
                  <a:latin typeface="Geo"/>
                  <a:ea typeface="Geo"/>
                  <a:cs typeface="Geo"/>
                  <a:sym typeface="Geo"/>
                </a:rPr>
                <a:t>Why Threat Hunting Matters</a:t>
              </a:r>
              <a:endParaRPr/>
            </a:p>
          </p:txBody>
        </p:sp>
        <p:sp>
          <p:nvSpPr>
            <p:cNvPr id="140" name="Google Shape;140;p6"/>
            <p:cNvSpPr txBox="1"/>
            <p:nvPr/>
          </p:nvSpPr>
          <p:spPr>
            <a:xfrm>
              <a:off x="0" y="2187687"/>
              <a:ext cx="17665700" cy="568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00" u="none" cap="none" strike="noStrike">
                  <a:solidFill>
                    <a:srgbClr val="FFFFFF"/>
                  </a:solidFill>
                  <a:latin typeface="Helvetica Neue"/>
                  <a:ea typeface="Helvetica Neue"/>
                  <a:cs typeface="Helvetica Neue"/>
                  <a:sym typeface="Helvetica Neue"/>
                </a:rPr>
                <a:t>Proactive Defense and Threat Detection</a:t>
              </a:r>
              <a:endParaRPr/>
            </a:p>
          </p:txBody>
        </p:sp>
      </p:grpSp>
      <p:grpSp>
        <p:nvGrpSpPr>
          <p:cNvPr id="141" name="Google Shape;141;p6"/>
          <p:cNvGrpSpPr/>
          <p:nvPr/>
        </p:nvGrpSpPr>
        <p:grpSpPr>
          <a:xfrm>
            <a:off x="1800225" y="5143500"/>
            <a:ext cx="4308497" cy="2932430"/>
            <a:chOff x="0" y="0"/>
            <a:chExt cx="5744662" cy="3909907"/>
          </a:xfrm>
        </p:grpSpPr>
        <p:sp>
          <p:nvSpPr>
            <p:cNvPr id="142" name="Google Shape;142;p6"/>
            <p:cNvSpPr txBox="1"/>
            <p:nvPr/>
          </p:nvSpPr>
          <p:spPr>
            <a:xfrm>
              <a:off x="0" y="0"/>
              <a:ext cx="5744662"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Proactive vs Reactive</a:t>
              </a:r>
              <a:endParaRPr/>
            </a:p>
          </p:txBody>
        </p:sp>
        <p:sp>
          <p:nvSpPr>
            <p:cNvPr id="143" name="Google Shape;143;p6"/>
            <p:cNvSpPr txBox="1"/>
            <p:nvPr/>
          </p:nvSpPr>
          <p:spPr>
            <a:xfrm>
              <a:off x="0" y="1060450"/>
              <a:ext cx="5744662" cy="284945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Helvetica Neue"/>
                  <a:ea typeface="Helvetica Neue"/>
                  <a:cs typeface="Helvetica Neue"/>
                  <a:sym typeface="Helvetica Neue"/>
                </a:rPr>
                <a:t>Proactive threat hunting</a:t>
              </a:r>
              <a:r>
                <a:rPr b="0" i="0" lang="en-US" sz="2000" u="none" cap="none" strike="noStrike">
                  <a:solidFill>
                    <a:srgbClr val="FFFFFF"/>
                  </a:solidFill>
                  <a:latin typeface="Helvetica Neue"/>
                  <a:ea typeface="Helvetica Neue"/>
                  <a:cs typeface="Helvetica Neue"/>
                  <a:sym typeface="Helvetica Neue"/>
                </a:rPr>
                <a:t> enables organizations to identify potential threats before they cause damage, contrasting with reactive approaches that respond only after an incident occurs, enhancing overall security.</a:t>
              </a:r>
              <a:endParaRPr/>
            </a:p>
          </p:txBody>
        </p:sp>
      </p:grpSp>
      <p:grpSp>
        <p:nvGrpSpPr>
          <p:cNvPr id="144" name="Google Shape;144;p6"/>
          <p:cNvGrpSpPr/>
          <p:nvPr/>
        </p:nvGrpSpPr>
        <p:grpSpPr>
          <a:xfrm>
            <a:off x="7291388" y="5143500"/>
            <a:ext cx="4010025" cy="3311525"/>
            <a:chOff x="0" y="0"/>
            <a:chExt cx="5346700" cy="4415367"/>
          </a:xfrm>
        </p:grpSpPr>
        <p:sp>
          <p:nvSpPr>
            <p:cNvPr id="145" name="Google Shape;145;p6"/>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Detect Hidden Threats</a:t>
              </a:r>
              <a:endParaRPr/>
            </a:p>
          </p:txBody>
        </p:sp>
        <p:sp>
          <p:nvSpPr>
            <p:cNvPr id="146" name="Google Shape;146;p6"/>
            <p:cNvSpPr txBox="1"/>
            <p:nvPr/>
          </p:nvSpPr>
          <p:spPr>
            <a:xfrm>
              <a:off x="0" y="1060450"/>
              <a:ext cx="5346700" cy="33549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By focusing on </a:t>
              </a:r>
              <a:r>
                <a:rPr b="1" i="0" lang="en-US" sz="2000" u="none" cap="none" strike="noStrike">
                  <a:solidFill>
                    <a:srgbClr val="FFFFFF"/>
                  </a:solidFill>
                  <a:latin typeface="Helvetica Neue"/>
                  <a:ea typeface="Helvetica Neue"/>
                  <a:cs typeface="Helvetica Neue"/>
                  <a:sym typeface="Helvetica Neue"/>
                </a:rPr>
                <a:t>detection of hidden threats</a:t>
              </a:r>
              <a:r>
                <a:rPr b="0" i="0" lang="en-US" sz="2000" u="none" cap="none" strike="noStrike">
                  <a:solidFill>
                    <a:srgbClr val="FFFFFF"/>
                  </a:solidFill>
                  <a:latin typeface="Helvetica Neue"/>
                  <a:ea typeface="Helvetica Neue"/>
                  <a:cs typeface="Helvetica Neue"/>
                  <a:sym typeface="Helvetica Neue"/>
                </a:rPr>
                <a:t>, threat hunters can uncover malicious activities that traditional security measures may overlook, effectively strengthening the organization's defenses against sophisticated attacks.</a:t>
              </a:r>
              <a:endParaRPr/>
            </a:p>
          </p:txBody>
        </p:sp>
      </p:grpSp>
      <p:grpSp>
        <p:nvGrpSpPr>
          <p:cNvPr id="147" name="Google Shape;147;p6"/>
          <p:cNvGrpSpPr/>
          <p:nvPr/>
        </p:nvGrpSpPr>
        <p:grpSpPr>
          <a:xfrm>
            <a:off x="12172950" y="5143500"/>
            <a:ext cx="4010025" cy="2901950"/>
            <a:chOff x="0" y="0"/>
            <a:chExt cx="5346700" cy="3869267"/>
          </a:xfrm>
        </p:grpSpPr>
        <p:sp>
          <p:nvSpPr>
            <p:cNvPr id="148" name="Google Shape;148;p6"/>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Reduce Dwell Time</a:t>
              </a:r>
              <a:endParaRPr/>
            </a:p>
          </p:txBody>
        </p:sp>
        <p:sp>
          <p:nvSpPr>
            <p:cNvPr id="149" name="Google Shape;149;p6"/>
            <p:cNvSpPr txBox="1"/>
            <p:nvPr/>
          </p:nvSpPr>
          <p:spPr>
            <a:xfrm>
              <a:off x="0" y="1060450"/>
              <a:ext cx="5346700" cy="28088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Reducing dwell time is crucial; quicker detection and response to threats minimize the opportunity for attackers to exploit vulnerabilities, ensuring a more resilient security posture for the organization.</a:t>
              </a: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53" name="Shape 153"/>
        <p:cNvGrpSpPr/>
        <p:nvPr/>
      </p:nvGrpSpPr>
      <p:grpSpPr>
        <a:xfrm>
          <a:off x="0" y="0"/>
          <a:ext cx="0" cy="0"/>
          <a:chOff x="0" y="0"/>
          <a:chExt cx="0" cy="0"/>
        </a:xfrm>
      </p:grpSpPr>
      <p:grpSp>
        <p:nvGrpSpPr>
          <p:cNvPr id="154" name="Google Shape;154;p7"/>
          <p:cNvGrpSpPr/>
          <p:nvPr/>
        </p:nvGrpSpPr>
        <p:grpSpPr>
          <a:xfrm>
            <a:off x="9296400" y="-216991"/>
            <a:ext cx="8991600" cy="3569791"/>
            <a:chOff x="0" y="-57150"/>
            <a:chExt cx="2368158" cy="940192"/>
          </a:xfrm>
        </p:grpSpPr>
        <p:sp>
          <p:nvSpPr>
            <p:cNvPr id="155" name="Google Shape;155;p7"/>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156" name="Google Shape;156;p7"/>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57" name="Google Shape;157;p7"/>
          <p:cNvSpPr/>
          <p:nvPr/>
        </p:nvSpPr>
        <p:spPr>
          <a:xfrm>
            <a:off x="8433176" y="1263969"/>
            <a:ext cx="9602800" cy="7994331"/>
          </a:xfrm>
          <a:custGeom>
            <a:rect b="b" l="l" r="r" t="t"/>
            <a:pathLst>
              <a:path extrusionOk="0" h="7994331" w="9602800">
                <a:moveTo>
                  <a:pt x="0" y="0"/>
                </a:moveTo>
                <a:lnTo>
                  <a:pt x="9602801" y="0"/>
                </a:lnTo>
                <a:lnTo>
                  <a:pt x="9602801" y="7994331"/>
                </a:lnTo>
                <a:lnTo>
                  <a:pt x="0" y="7994331"/>
                </a:lnTo>
                <a:lnTo>
                  <a:pt x="0" y="0"/>
                </a:lnTo>
                <a:close/>
              </a:path>
            </a:pathLst>
          </a:custGeom>
          <a:blipFill rotWithShape="1">
            <a:blip r:embed="rId3">
              <a:alphaModFix/>
            </a:blip>
            <a:stretch>
              <a:fillRect b="0" l="0" r="0" t="0"/>
            </a:stretch>
          </a:blipFill>
          <a:ln>
            <a:noFill/>
          </a:ln>
        </p:spPr>
      </p:sp>
      <p:sp>
        <p:nvSpPr>
          <p:cNvPr id="158" name="Google Shape;158;p7"/>
          <p:cNvSpPr txBox="1"/>
          <p:nvPr/>
        </p:nvSpPr>
        <p:spPr>
          <a:xfrm>
            <a:off x="666750" y="809625"/>
            <a:ext cx="6886575" cy="409892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Understanding the Threat Hunting Lifecycle</a:t>
            </a:r>
            <a:endParaRPr/>
          </a:p>
        </p:txBody>
      </p:sp>
      <p:sp>
        <p:nvSpPr>
          <p:cNvPr id="159" name="Google Shape;159;p7"/>
          <p:cNvSpPr txBox="1"/>
          <p:nvPr/>
        </p:nvSpPr>
        <p:spPr>
          <a:xfrm>
            <a:off x="666750" y="5547995"/>
            <a:ext cx="6886575" cy="3957955"/>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799" u="none" cap="none" strike="noStrike">
                <a:solidFill>
                  <a:srgbClr val="FFFFFF"/>
                </a:solidFill>
                <a:latin typeface="Helvetica Neue"/>
                <a:ea typeface="Helvetica Neue"/>
                <a:cs typeface="Helvetica Neue"/>
                <a:sym typeface="Helvetica Neue"/>
              </a:rPr>
              <a:t>The threat hunting lifecycle consists of structured phases that include </a:t>
            </a:r>
            <a:endParaRPr/>
          </a:p>
          <a:p>
            <a:pPr indent="-302259" lvl="1" marL="604518"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Helvetica Neue"/>
                <a:ea typeface="Helvetica Neue"/>
                <a:cs typeface="Helvetica Neue"/>
                <a:sym typeface="Helvetica Neue"/>
              </a:rPr>
              <a:t>hypothesis generation, </a:t>
            </a:r>
            <a:endParaRPr/>
          </a:p>
          <a:p>
            <a:pPr indent="-302259" lvl="1" marL="604518"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Helvetica Neue"/>
                <a:ea typeface="Helvetica Neue"/>
                <a:cs typeface="Helvetica Neue"/>
                <a:sym typeface="Helvetica Neue"/>
              </a:rPr>
              <a:t>investigation, </a:t>
            </a:r>
            <a:endParaRPr/>
          </a:p>
          <a:p>
            <a:pPr indent="-302259" lvl="1" marL="604518"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Helvetica Neue"/>
                <a:ea typeface="Helvetica Neue"/>
                <a:cs typeface="Helvetica Neue"/>
                <a:sym typeface="Helvetica Neue"/>
              </a:rPr>
              <a:t>response, and </a:t>
            </a:r>
            <a:endParaRPr/>
          </a:p>
          <a:p>
            <a:pPr indent="-302259" lvl="1" marL="604518" marR="0" rtl="0" algn="l">
              <a:lnSpc>
                <a:spcPct val="140014"/>
              </a:lnSpc>
              <a:spcBef>
                <a:spcPts val="0"/>
              </a:spcBef>
              <a:spcAft>
                <a:spcPts val="0"/>
              </a:spcAft>
              <a:buClr>
                <a:srgbClr val="FFFFFF"/>
              </a:buClr>
              <a:buSzPts val="2799"/>
              <a:buFont typeface="Arial"/>
              <a:buChar char="•"/>
            </a:pPr>
            <a:r>
              <a:rPr b="0" i="0" lang="en-US" sz="2799" u="none" cap="none" strike="noStrike">
                <a:solidFill>
                  <a:srgbClr val="FFFFFF"/>
                </a:solidFill>
                <a:latin typeface="Helvetica Neue"/>
                <a:ea typeface="Helvetica Neue"/>
                <a:cs typeface="Helvetica Neue"/>
                <a:sym typeface="Helvetica Neue"/>
              </a:rPr>
              <a:t>feedback, </a:t>
            </a:r>
            <a:endParaRPr/>
          </a:p>
          <a:p>
            <a:pPr indent="0" lvl="0" marL="0" marR="0" rtl="0" algn="l">
              <a:lnSpc>
                <a:spcPct val="140014"/>
              </a:lnSpc>
              <a:spcBef>
                <a:spcPts val="0"/>
              </a:spcBef>
              <a:spcAft>
                <a:spcPts val="0"/>
              </a:spcAft>
              <a:buNone/>
            </a:pPr>
            <a:r>
              <a:rPr b="0" i="0" lang="en-US" sz="2799" u="none" cap="none" strike="noStrike">
                <a:solidFill>
                  <a:srgbClr val="FFFFFF"/>
                </a:solidFill>
                <a:latin typeface="Helvetica Neue"/>
                <a:ea typeface="Helvetica Neue"/>
                <a:cs typeface="Helvetica Neue"/>
                <a:sym typeface="Helvetica Neue"/>
              </a:rPr>
              <a:t>enabling security teams to effectively identify and mitigate potential threats.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63" name="Shape 163"/>
        <p:cNvGrpSpPr/>
        <p:nvPr/>
      </p:nvGrpSpPr>
      <p:grpSpPr>
        <a:xfrm>
          <a:off x="0" y="0"/>
          <a:ext cx="0" cy="0"/>
          <a:chOff x="0" y="0"/>
          <a:chExt cx="0" cy="0"/>
        </a:xfrm>
      </p:grpSpPr>
      <p:sp>
        <p:nvSpPr>
          <p:cNvPr id="164" name="Google Shape;164;p8"/>
          <p:cNvSpPr txBox="1"/>
          <p:nvPr/>
        </p:nvSpPr>
        <p:spPr>
          <a:xfrm>
            <a:off x="17259300" y="9201150"/>
            <a:ext cx="152400" cy="209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8</a:t>
            </a:r>
            <a:endParaRPr/>
          </a:p>
        </p:txBody>
      </p:sp>
      <p:grpSp>
        <p:nvGrpSpPr>
          <p:cNvPr id="165" name="Google Shape;165;p8"/>
          <p:cNvGrpSpPr/>
          <p:nvPr/>
        </p:nvGrpSpPr>
        <p:grpSpPr>
          <a:xfrm>
            <a:off x="666750" y="449759"/>
            <a:ext cx="16954500" cy="9170495"/>
            <a:chOff x="0" y="-57150"/>
            <a:chExt cx="4465383" cy="2415274"/>
          </a:xfrm>
        </p:grpSpPr>
        <p:sp>
          <p:nvSpPr>
            <p:cNvPr id="166" name="Google Shape;166;p8"/>
            <p:cNvSpPr/>
            <p:nvPr/>
          </p:nvSpPr>
          <p:spPr>
            <a:xfrm>
              <a:off x="0" y="0"/>
              <a:ext cx="4465383" cy="2358124"/>
            </a:xfrm>
            <a:custGeom>
              <a:rect b="b" l="l" r="r" t="t"/>
              <a:pathLst>
                <a:path extrusionOk="0"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3E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txBox="1"/>
            <p:nvPr/>
          </p:nvSpPr>
          <p:spPr>
            <a:xfrm>
              <a:off x="0" y="-57150"/>
              <a:ext cx="4465383" cy="24152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68" name="Google Shape;168;p8"/>
          <p:cNvGrpSpPr/>
          <p:nvPr/>
        </p:nvGrpSpPr>
        <p:grpSpPr>
          <a:xfrm>
            <a:off x="1800225" y="1497806"/>
            <a:ext cx="13249275" cy="2131303"/>
            <a:chOff x="0" y="-85725"/>
            <a:chExt cx="17665700" cy="2841737"/>
          </a:xfrm>
        </p:grpSpPr>
        <p:sp>
          <p:nvSpPr>
            <p:cNvPr id="169" name="Google Shape;169;p8"/>
            <p:cNvSpPr txBox="1"/>
            <p:nvPr/>
          </p:nvSpPr>
          <p:spPr>
            <a:xfrm>
              <a:off x="0" y="-85725"/>
              <a:ext cx="17665700" cy="170285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8000" u="none" cap="none" strike="noStrike">
                  <a:solidFill>
                    <a:srgbClr val="FFFFFF"/>
                  </a:solidFill>
                  <a:latin typeface="Geo"/>
                  <a:ea typeface="Geo"/>
                  <a:cs typeface="Geo"/>
                  <a:sym typeface="Geo"/>
                </a:rPr>
                <a:t>Phases of Threat Hunting</a:t>
              </a:r>
              <a:endParaRPr/>
            </a:p>
          </p:txBody>
        </p:sp>
        <p:sp>
          <p:nvSpPr>
            <p:cNvPr id="170" name="Google Shape;170;p8"/>
            <p:cNvSpPr txBox="1"/>
            <p:nvPr/>
          </p:nvSpPr>
          <p:spPr>
            <a:xfrm>
              <a:off x="0" y="2187687"/>
              <a:ext cx="17665700" cy="568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00" u="none" cap="none" strike="noStrike">
                  <a:solidFill>
                    <a:srgbClr val="FFFFFF"/>
                  </a:solidFill>
                  <a:latin typeface="Helvetica Neue"/>
                  <a:ea typeface="Helvetica Neue"/>
                  <a:cs typeface="Helvetica Neue"/>
                  <a:sym typeface="Helvetica Neue"/>
                </a:rPr>
                <a:t>A Comprehensive Approach to Hunting</a:t>
              </a:r>
              <a:endParaRPr/>
            </a:p>
          </p:txBody>
        </p:sp>
      </p:grpSp>
      <p:grpSp>
        <p:nvGrpSpPr>
          <p:cNvPr id="171" name="Google Shape;171;p8"/>
          <p:cNvGrpSpPr/>
          <p:nvPr/>
        </p:nvGrpSpPr>
        <p:grpSpPr>
          <a:xfrm>
            <a:off x="1800225" y="5143500"/>
            <a:ext cx="4308497" cy="2549525"/>
            <a:chOff x="0" y="0"/>
            <a:chExt cx="5744662" cy="3399367"/>
          </a:xfrm>
        </p:grpSpPr>
        <p:sp>
          <p:nvSpPr>
            <p:cNvPr id="172" name="Google Shape;172;p8"/>
            <p:cNvSpPr txBox="1"/>
            <p:nvPr/>
          </p:nvSpPr>
          <p:spPr>
            <a:xfrm>
              <a:off x="0" y="0"/>
              <a:ext cx="5744662"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Preparation</a:t>
              </a:r>
              <a:endParaRPr/>
            </a:p>
          </p:txBody>
        </p:sp>
        <p:sp>
          <p:nvSpPr>
            <p:cNvPr id="173" name="Google Shape;173;p8"/>
            <p:cNvSpPr txBox="1"/>
            <p:nvPr/>
          </p:nvSpPr>
          <p:spPr>
            <a:xfrm>
              <a:off x="0" y="1060450"/>
              <a:ext cx="5744662" cy="23389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The preparation phase involves defining objectives, gathering necessary tools, and assembling a skilled team to set a solid foundation for effective threat hunting operations.</a:t>
              </a:r>
              <a:endParaRPr/>
            </a:p>
          </p:txBody>
        </p:sp>
      </p:grpSp>
      <p:grpSp>
        <p:nvGrpSpPr>
          <p:cNvPr id="174" name="Google Shape;174;p8"/>
          <p:cNvGrpSpPr/>
          <p:nvPr/>
        </p:nvGrpSpPr>
        <p:grpSpPr>
          <a:xfrm>
            <a:off x="7291388" y="5143500"/>
            <a:ext cx="4010025" cy="2901950"/>
            <a:chOff x="0" y="0"/>
            <a:chExt cx="5346700" cy="3869267"/>
          </a:xfrm>
        </p:grpSpPr>
        <p:sp>
          <p:nvSpPr>
            <p:cNvPr id="175" name="Google Shape;175;p8"/>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Hypothesis Generation</a:t>
              </a:r>
              <a:endParaRPr/>
            </a:p>
          </p:txBody>
        </p:sp>
        <p:sp>
          <p:nvSpPr>
            <p:cNvPr id="176" name="Google Shape;176;p8"/>
            <p:cNvSpPr txBox="1"/>
            <p:nvPr/>
          </p:nvSpPr>
          <p:spPr>
            <a:xfrm>
              <a:off x="0" y="1060450"/>
              <a:ext cx="5346700" cy="28088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In this phase, analysts create educated guesses based on threat intelligence and environment data, which guide the hunting process towards likely areas of compromise or vulnerability.</a:t>
              </a:r>
              <a:endParaRPr/>
            </a:p>
          </p:txBody>
        </p:sp>
      </p:grpSp>
      <p:grpSp>
        <p:nvGrpSpPr>
          <p:cNvPr id="177" name="Google Shape;177;p8"/>
          <p:cNvGrpSpPr/>
          <p:nvPr/>
        </p:nvGrpSpPr>
        <p:grpSpPr>
          <a:xfrm>
            <a:off x="12172950" y="5143500"/>
            <a:ext cx="4010025" cy="2549525"/>
            <a:chOff x="0" y="0"/>
            <a:chExt cx="5346700" cy="3399367"/>
          </a:xfrm>
        </p:grpSpPr>
        <p:sp>
          <p:nvSpPr>
            <p:cNvPr id="178" name="Google Shape;178;p8"/>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Investigation</a:t>
              </a:r>
              <a:endParaRPr/>
            </a:p>
          </p:txBody>
        </p:sp>
        <p:sp>
          <p:nvSpPr>
            <p:cNvPr id="179" name="Google Shape;179;p8"/>
            <p:cNvSpPr txBox="1"/>
            <p:nvPr/>
          </p:nvSpPr>
          <p:spPr>
            <a:xfrm>
              <a:off x="0" y="1060450"/>
              <a:ext cx="5346700" cy="23389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During investigation, analysts actively search for indicators of compromise, utilizing various data sources to uncover hidden threats and validate or refute the generated hypotheses.</a:t>
              </a:r>
              <a:endParaRPr/>
            </a:p>
          </p:txBody>
        </p:sp>
      </p:grpSp>
      <p:sp>
        <p:nvSpPr>
          <p:cNvPr id="180" name="Google Shape;180;p8"/>
          <p:cNvSpPr/>
          <p:nvPr/>
        </p:nvSpPr>
        <p:spPr>
          <a:xfrm rot="-3117037">
            <a:off x="16099474" y="7952721"/>
            <a:ext cx="2112604" cy="1859092"/>
          </a:xfrm>
          <a:custGeom>
            <a:rect b="b" l="l" r="r" t="t"/>
            <a:pathLst>
              <a:path extrusionOk="0" h="1859092" w="2112604">
                <a:moveTo>
                  <a:pt x="0" y="0"/>
                </a:moveTo>
                <a:lnTo>
                  <a:pt x="2112605" y="0"/>
                </a:lnTo>
                <a:lnTo>
                  <a:pt x="2112605" y="1859092"/>
                </a:lnTo>
                <a:lnTo>
                  <a:pt x="0" y="185909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184" name="Shape 184"/>
        <p:cNvGrpSpPr/>
        <p:nvPr/>
      </p:nvGrpSpPr>
      <p:grpSpPr>
        <a:xfrm>
          <a:off x="0" y="0"/>
          <a:ext cx="0" cy="0"/>
          <a:chOff x="0" y="0"/>
          <a:chExt cx="0" cy="0"/>
        </a:xfrm>
      </p:grpSpPr>
      <p:grpSp>
        <p:nvGrpSpPr>
          <p:cNvPr id="185" name="Google Shape;185;p9"/>
          <p:cNvGrpSpPr/>
          <p:nvPr/>
        </p:nvGrpSpPr>
        <p:grpSpPr>
          <a:xfrm>
            <a:off x="9296400" y="-216991"/>
            <a:ext cx="8991600" cy="3569791"/>
            <a:chOff x="0" y="-57150"/>
            <a:chExt cx="2368158" cy="940192"/>
          </a:xfrm>
        </p:grpSpPr>
        <p:sp>
          <p:nvSpPr>
            <p:cNvPr id="186" name="Google Shape;186;p9"/>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21212"/>
            </a:solidFill>
            <a:ln>
              <a:noFill/>
            </a:ln>
          </p:spPr>
        </p:sp>
        <p:sp>
          <p:nvSpPr>
            <p:cNvPr id="187" name="Google Shape;187;p9"/>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8" name="Google Shape;188;p9"/>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189" name="Google Shape;189;p9"/>
          <p:cNvSpPr txBox="1"/>
          <p:nvPr/>
        </p:nvSpPr>
        <p:spPr>
          <a:xfrm>
            <a:off x="666750" y="809625"/>
            <a:ext cx="6886575" cy="30892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Core Concepts of Threat Hunting</a:t>
            </a:r>
            <a:endParaRPr/>
          </a:p>
        </p:txBody>
      </p:sp>
      <p:sp>
        <p:nvSpPr>
          <p:cNvPr id="190" name="Google Shape;190;p9"/>
          <p:cNvSpPr txBox="1"/>
          <p:nvPr/>
        </p:nvSpPr>
        <p:spPr>
          <a:xfrm>
            <a:off x="666750" y="7407275"/>
            <a:ext cx="6886575" cy="22129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Understanding the </a:t>
            </a:r>
            <a:r>
              <a:rPr b="1" i="0" lang="en-US" sz="2499" u="none" cap="none" strike="noStrike">
                <a:solidFill>
                  <a:srgbClr val="FFFFFF"/>
                </a:solidFill>
                <a:latin typeface="Helvetica Neue"/>
                <a:ea typeface="Helvetica Neue"/>
                <a:cs typeface="Helvetica Neue"/>
                <a:sym typeface="Helvetica Neue"/>
              </a:rPr>
              <a:t>fundamentals</a:t>
            </a:r>
            <a:r>
              <a:rPr b="0" i="0" lang="en-US" sz="2499" u="none" cap="none" strike="noStrike">
                <a:solidFill>
                  <a:srgbClr val="FFFFFF"/>
                </a:solidFill>
                <a:latin typeface="Helvetica Neue"/>
                <a:ea typeface="Helvetica Neue"/>
                <a:cs typeface="Helvetica Neue"/>
                <a:sym typeface="Helvetica Neue"/>
              </a:rPr>
              <a:t> of threat hunting is essential. It involves recognizing various cyber threats, utilizing key terminology, and analyzing data sources to effectively protect and secure organizational assets.</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194" name="Shape 194"/>
        <p:cNvGrpSpPr/>
        <p:nvPr/>
      </p:nvGrpSpPr>
      <p:grpSpPr>
        <a:xfrm>
          <a:off x="0" y="0"/>
          <a:ext cx="0" cy="0"/>
          <a:chOff x="0" y="0"/>
          <a:chExt cx="0" cy="0"/>
        </a:xfrm>
      </p:grpSpPr>
      <p:sp>
        <p:nvSpPr>
          <p:cNvPr id="195" name="Google Shape;195;p10"/>
          <p:cNvSpPr txBox="1"/>
          <p:nvPr/>
        </p:nvSpPr>
        <p:spPr>
          <a:xfrm>
            <a:off x="17259300" y="9201150"/>
            <a:ext cx="152400" cy="209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10</a:t>
            </a:r>
            <a:endParaRPr/>
          </a:p>
        </p:txBody>
      </p:sp>
      <p:grpSp>
        <p:nvGrpSpPr>
          <p:cNvPr id="196" name="Google Shape;196;p10"/>
          <p:cNvGrpSpPr/>
          <p:nvPr/>
        </p:nvGrpSpPr>
        <p:grpSpPr>
          <a:xfrm>
            <a:off x="666750" y="449759"/>
            <a:ext cx="16954500" cy="9170495"/>
            <a:chOff x="0" y="-57150"/>
            <a:chExt cx="4465383" cy="2415274"/>
          </a:xfrm>
        </p:grpSpPr>
        <p:sp>
          <p:nvSpPr>
            <p:cNvPr id="197" name="Google Shape;197;p10"/>
            <p:cNvSpPr/>
            <p:nvPr/>
          </p:nvSpPr>
          <p:spPr>
            <a:xfrm>
              <a:off x="0" y="0"/>
              <a:ext cx="4465383" cy="2358124"/>
            </a:xfrm>
            <a:custGeom>
              <a:rect b="b" l="l" r="r" t="t"/>
              <a:pathLst>
                <a:path extrusionOk="0"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3E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10"/>
            <p:cNvSpPr txBox="1"/>
            <p:nvPr/>
          </p:nvSpPr>
          <p:spPr>
            <a:xfrm>
              <a:off x="0" y="-57150"/>
              <a:ext cx="4465383" cy="24152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9" name="Google Shape;199;p10"/>
          <p:cNvGrpSpPr/>
          <p:nvPr/>
        </p:nvGrpSpPr>
        <p:grpSpPr>
          <a:xfrm>
            <a:off x="1800225" y="1497806"/>
            <a:ext cx="13249275" cy="2131303"/>
            <a:chOff x="0" y="-85725"/>
            <a:chExt cx="17665700" cy="2841737"/>
          </a:xfrm>
        </p:grpSpPr>
        <p:sp>
          <p:nvSpPr>
            <p:cNvPr id="200" name="Google Shape;200;p10"/>
            <p:cNvSpPr txBox="1"/>
            <p:nvPr/>
          </p:nvSpPr>
          <p:spPr>
            <a:xfrm>
              <a:off x="0" y="-85725"/>
              <a:ext cx="17665700" cy="170285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8000" u="none" cap="none" strike="noStrike">
                  <a:solidFill>
                    <a:srgbClr val="FFFFFF"/>
                  </a:solidFill>
                  <a:latin typeface="Geo"/>
                  <a:ea typeface="Geo"/>
                  <a:cs typeface="Geo"/>
                  <a:sym typeface="Geo"/>
                </a:rPr>
                <a:t>Types of Threats</a:t>
              </a:r>
              <a:endParaRPr/>
            </a:p>
          </p:txBody>
        </p:sp>
        <p:sp>
          <p:nvSpPr>
            <p:cNvPr id="201" name="Google Shape;201;p10"/>
            <p:cNvSpPr txBox="1"/>
            <p:nvPr/>
          </p:nvSpPr>
          <p:spPr>
            <a:xfrm>
              <a:off x="0" y="2187687"/>
              <a:ext cx="17665700" cy="568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00" u="none" cap="none" strike="noStrike">
                  <a:solidFill>
                    <a:srgbClr val="FFFFFF"/>
                  </a:solidFill>
                  <a:latin typeface="Helvetica Neue"/>
                  <a:ea typeface="Helvetica Neue"/>
                  <a:cs typeface="Helvetica Neue"/>
                  <a:sym typeface="Helvetica Neue"/>
                </a:rPr>
                <a:t>Understanding Common Cybersecurity Challenges</a:t>
              </a:r>
              <a:endParaRPr/>
            </a:p>
          </p:txBody>
        </p:sp>
      </p:grpSp>
      <p:grpSp>
        <p:nvGrpSpPr>
          <p:cNvPr id="202" name="Google Shape;202;p10"/>
          <p:cNvGrpSpPr/>
          <p:nvPr/>
        </p:nvGrpSpPr>
        <p:grpSpPr>
          <a:xfrm>
            <a:off x="1800225" y="5143500"/>
            <a:ext cx="4308497" cy="3254375"/>
            <a:chOff x="0" y="0"/>
            <a:chExt cx="5744662" cy="4339167"/>
          </a:xfrm>
        </p:grpSpPr>
        <p:sp>
          <p:nvSpPr>
            <p:cNvPr id="203" name="Google Shape;203;p10"/>
            <p:cNvSpPr txBox="1"/>
            <p:nvPr/>
          </p:nvSpPr>
          <p:spPr>
            <a:xfrm>
              <a:off x="0" y="0"/>
              <a:ext cx="5744662"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Malware</a:t>
              </a:r>
              <a:endParaRPr/>
            </a:p>
          </p:txBody>
        </p:sp>
        <p:sp>
          <p:nvSpPr>
            <p:cNvPr id="204" name="Google Shape;204;p10"/>
            <p:cNvSpPr txBox="1"/>
            <p:nvPr/>
          </p:nvSpPr>
          <p:spPr>
            <a:xfrm>
              <a:off x="0" y="1060450"/>
              <a:ext cx="5744662" cy="32787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Malware is malicious software designed to disrupt, damage, or gain unauthorized access to computer systems. It encompasses various types, including viruses, worms, and ransomware, posing severe risks to organizations.</a:t>
              </a:r>
              <a:endParaRPr/>
            </a:p>
          </p:txBody>
        </p:sp>
      </p:grpSp>
      <p:grpSp>
        <p:nvGrpSpPr>
          <p:cNvPr id="205" name="Google Shape;205;p10"/>
          <p:cNvGrpSpPr/>
          <p:nvPr/>
        </p:nvGrpSpPr>
        <p:grpSpPr>
          <a:xfrm>
            <a:off x="7291388" y="5143500"/>
            <a:ext cx="4010025" cy="3254375"/>
            <a:chOff x="0" y="0"/>
            <a:chExt cx="5346700" cy="4339167"/>
          </a:xfrm>
        </p:grpSpPr>
        <p:sp>
          <p:nvSpPr>
            <p:cNvPr id="206" name="Google Shape;206;p10"/>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Insider Threats</a:t>
              </a:r>
              <a:endParaRPr/>
            </a:p>
          </p:txBody>
        </p:sp>
        <p:sp>
          <p:nvSpPr>
            <p:cNvPr id="207" name="Google Shape;207;p10"/>
            <p:cNvSpPr txBox="1"/>
            <p:nvPr/>
          </p:nvSpPr>
          <p:spPr>
            <a:xfrm>
              <a:off x="0" y="1060450"/>
              <a:ext cx="5346700" cy="32787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Insider threats arise from individuals within an organization who misuse their access to steal data or compromise security. These threats can be intentional or unintentional, making them particularly challenging to detect.</a:t>
              </a:r>
              <a:endParaRPr/>
            </a:p>
          </p:txBody>
        </p:sp>
      </p:grpSp>
      <p:grpSp>
        <p:nvGrpSpPr>
          <p:cNvPr id="208" name="Google Shape;208;p10"/>
          <p:cNvGrpSpPr/>
          <p:nvPr/>
        </p:nvGrpSpPr>
        <p:grpSpPr>
          <a:xfrm>
            <a:off x="12172950" y="5143500"/>
            <a:ext cx="4010025" cy="3302000"/>
            <a:chOff x="0" y="0"/>
            <a:chExt cx="5346700" cy="4402667"/>
          </a:xfrm>
        </p:grpSpPr>
        <p:sp>
          <p:nvSpPr>
            <p:cNvPr id="209" name="Google Shape;209;p10"/>
            <p:cNvSpPr txBox="1"/>
            <p:nvPr/>
          </p:nvSpPr>
          <p:spPr>
            <a:xfrm>
              <a:off x="0" y="0"/>
              <a:ext cx="5346700" cy="10668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Advanced Persistent Threats (APTs)</a:t>
              </a:r>
              <a:endParaRPr/>
            </a:p>
          </p:txBody>
        </p:sp>
        <p:sp>
          <p:nvSpPr>
            <p:cNvPr id="210" name="Google Shape;210;p10"/>
            <p:cNvSpPr txBox="1"/>
            <p:nvPr/>
          </p:nvSpPr>
          <p:spPr>
            <a:xfrm>
              <a:off x="0" y="1593850"/>
              <a:ext cx="5346700" cy="28088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APTs are prolonged and targeted cyberattacks where an intruder gains access to a network and remains undetected for an extended period. These threats aim to steal sensitive information or disrupt operations.</a:t>
              </a:r>
              <a:endParaRPr/>
            </a:p>
          </p:txBody>
        </p:sp>
      </p:grpSp>
      <p:sp>
        <p:nvSpPr>
          <p:cNvPr id="211" name="Google Shape;211;p10"/>
          <p:cNvSpPr/>
          <p:nvPr/>
        </p:nvSpPr>
        <p:spPr>
          <a:xfrm rot="-3117037">
            <a:off x="16099474" y="7952721"/>
            <a:ext cx="2112604" cy="1859092"/>
          </a:xfrm>
          <a:custGeom>
            <a:rect b="b" l="l" r="r" t="t"/>
            <a:pathLst>
              <a:path extrusionOk="0" h="1859092" w="2112604">
                <a:moveTo>
                  <a:pt x="0" y="0"/>
                </a:moveTo>
                <a:lnTo>
                  <a:pt x="2112605" y="0"/>
                </a:lnTo>
                <a:lnTo>
                  <a:pt x="2112605" y="1859092"/>
                </a:lnTo>
                <a:lnTo>
                  <a:pt x="0" y="185909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15" name="Shape 215"/>
        <p:cNvGrpSpPr/>
        <p:nvPr/>
      </p:nvGrpSpPr>
      <p:grpSpPr>
        <a:xfrm>
          <a:off x="0" y="0"/>
          <a:ext cx="0" cy="0"/>
          <a:chOff x="0" y="0"/>
          <a:chExt cx="0" cy="0"/>
        </a:xfrm>
      </p:grpSpPr>
      <p:grpSp>
        <p:nvGrpSpPr>
          <p:cNvPr id="216" name="Google Shape;216;p11"/>
          <p:cNvGrpSpPr/>
          <p:nvPr/>
        </p:nvGrpSpPr>
        <p:grpSpPr>
          <a:xfrm>
            <a:off x="9296400" y="-216991"/>
            <a:ext cx="8991600" cy="3569791"/>
            <a:chOff x="0" y="-57150"/>
            <a:chExt cx="2368158" cy="940192"/>
          </a:xfrm>
        </p:grpSpPr>
        <p:sp>
          <p:nvSpPr>
            <p:cNvPr id="217" name="Google Shape;217;p11"/>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21212"/>
            </a:solidFill>
            <a:ln>
              <a:noFill/>
            </a:ln>
          </p:spPr>
        </p:sp>
        <p:sp>
          <p:nvSpPr>
            <p:cNvPr id="218" name="Google Shape;218;p11"/>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19" name="Google Shape;219;p11"/>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220" name="Google Shape;220;p11"/>
          <p:cNvSpPr txBox="1"/>
          <p:nvPr/>
        </p:nvSpPr>
        <p:spPr>
          <a:xfrm>
            <a:off x="666750" y="809625"/>
            <a:ext cx="6886575" cy="207962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Key Terms in Threat Hunting</a:t>
            </a:r>
            <a:endParaRPr/>
          </a:p>
        </p:txBody>
      </p:sp>
      <p:sp>
        <p:nvSpPr>
          <p:cNvPr id="221" name="Google Shape;221;p11"/>
          <p:cNvSpPr txBox="1"/>
          <p:nvPr/>
        </p:nvSpPr>
        <p:spPr>
          <a:xfrm>
            <a:off x="666750" y="7331075"/>
            <a:ext cx="6886575" cy="22891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Understanding </a:t>
            </a:r>
            <a:r>
              <a:rPr b="1" i="0" lang="en-US" sz="2499" u="none" cap="none" strike="noStrike">
                <a:solidFill>
                  <a:srgbClr val="FFFFFF"/>
                </a:solidFill>
                <a:latin typeface="Helvetica Neue"/>
                <a:ea typeface="Helvetica Neue"/>
                <a:cs typeface="Helvetica Neue"/>
                <a:sym typeface="Helvetica Neue"/>
              </a:rPr>
              <a:t>Indicators of Compromise (IoCs)</a:t>
            </a:r>
            <a:r>
              <a:rPr b="0" i="0" lang="en-US" sz="2499" u="none" cap="none" strike="noStrike">
                <a:solidFill>
                  <a:srgbClr val="FFFFFF"/>
                </a:solidFill>
                <a:latin typeface="Helvetica Neue"/>
                <a:ea typeface="Helvetica Neue"/>
                <a:cs typeface="Helvetica Neue"/>
                <a:sym typeface="Helvetica Neue"/>
              </a:rPr>
              <a:t> and </a:t>
            </a:r>
            <a:r>
              <a:rPr b="1" i="0" lang="en-US" sz="2499" u="none" cap="none" strike="noStrike">
                <a:solidFill>
                  <a:srgbClr val="FFFFFF"/>
                </a:solidFill>
                <a:latin typeface="Helvetica Neue"/>
                <a:ea typeface="Helvetica Neue"/>
                <a:cs typeface="Helvetica Neue"/>
                <a:sym typeface="Helvetica Neue"/>
              </a:rPr>
              <a:t>Tactics, Techniques, and Procedures (TTPs)</a:t>
            </a:r>
            <a:r>
              <a:rPr b="0" i="0" lang="en-US" sz="2499" u="none" cap="none" strike="noStrike">
                <a:solidFill>
                  <a:srgbClr val="FFFFFF"/>
                </a:solidFill>
                <a:latin typeface="Helvetica Neue"/>
                <a:ea typeface="Helvetica Neue"/>
                <a:cs typeface="Helvetica Neue"/>
                <a:sym typeface="Helvetica Neue"/>
              </a:rPr>
              <a:t> is essential for effective threat hunting, enabling cybersecurity professionals to identify and mitigate potential threats proactively.</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25" name="Shape 225"/>
        <p:cNvGrpSpPr/>
        <p:nvPr/>
      </p:nvGrpSpPr>
      <p:grpSpPr>
        <a:xfrm>
          <a:off x="0" y="0"/>
          <a:ext cx="0" cy="0"/>
          <a:chOff x="0" y="0"/>
          <a:chExt cx="0" cy="0"/>
        </a:xfrm>
      </p:grpSpPr>
      <p:grpSp>
        <p:nvGrpSpPr>
          <p:cNvPr id="226" name="Google Shape;226;p12"/>
          <p:cNvGrpSpPr/>
          <p:nvPr/>
        </p:nvGrpSpPr>
        <p:grpSpPr>
          <a:xfrm>
            <a:off x="9296400" y="-216991"/>
            <a:ext cx="8991600" cy="3569791"/>
            <a:chOff x="0" y="-57150"/>
            <a:chExt cx="2368158" cy="940192"/>
          </a:xfrm>
        </p:grpSpPr>
        <p:sp>
          <p:nvSpPr>
            <p:cNvPr id="227" name="Google Shape;227;p12"/>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228" name="Google Shape;228;p12"/>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29" name="Google Shape;229;p12"/>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230" name="Google Shape;230;p12"/>
          <p:cNvSpPr txBox="1"/>
          <p:nvPr/>
        </p:nvSpPr>
        <p:spPr>
          <a:xfrm>
            <a:off x="666750" y="809625"/>
            <a:ext cx="6886575" cy="30892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Essential Data Sources for Threat Hunting</a:t>
            </a:r>
            <a:endParaRPr/>
          </a:p>
        </p:txBody>
      </p:sp>
      <p:sp>
        <p:nvSpPr>
          <p:cNvPr id="231" name="Google Shape;231;p12"/>
          <p:cNvSpPr txBox="1"/>
          <p:nvPr/>
        </p:nvSpPr>
        <p:spPr>
          <a:xfrm>
            <a:off x="666750" y="7445375"/>
            <a:ext cx="6886575" cy="21748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Effective threat hunting relies on diverse data sources such as logs, network traffic, and endpoint data. These sources provide critical insights, enabling analysts to identify and respond to potential threats swiftly.</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35" name="Shape 235"/>
        <p:cNvGrpSpPr/>
        <p:nvPr/>
      </p:nvGrpSpPr>
      <p:grpSpPr>
        <a:xfrm>
          <a:off x="0" y="0"/>
          <a:ext cx="0" cy="0"/>
          <a:chOff x="0" y="0"/>
          <a:chExt cx="0" cy="0"/>
        </a:xfrm>
      </p:grpSpPr>
      <p:grpSp>
        <p:nvGrpSpPr>
          <p:cNvPr id="236" name="Google Shape;236;p13"/>
          <p:cNvGrpSpPr/>
          <p:nvPr/>
        </p:nvGrpSpPr>
        <p:grpSpPr>
          <a:xfrm>
            <a:off x="9296400" y="-216991"/>
            <a:ext cx="8991600" cy="3569791"/>
            <a:chOff x="0" y="-57150"/>
            <a:chExt cx="2368158" cy="940192"/>
          </a:xfrm>
        </p:grpSpPr>
        <p:sp>
          <p:nvSpPr>
            <p:cNvPr id="237" name="Google Shape;237;p13"/>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21212"/>
            </a:solidFill>
            <a:ln>
              <a:noFill/>
            </a:ln>
          </p:spPr>
        </p:sp>
        <p:sp>
          <p:nvSpPr>
            <p:cNvPr id="238" name="Google Shape;238;p13"/>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39" name="Google Shape;239;p13"/>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240" name="Google Shape;240;p13"/>
          <p:cNvSpPr txBox="1"/>
          <p:nvPr/>
        </p:nvSpPr>
        <p:spPr>
          <a:xfrm>
            <a:off x="666750" y="809625"/>
            <a:ext cx="6886575" cy="30892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Techniques for Effective Threat Hunting</a:t>
            </a:r>
            <a:endParaRPr/>
          </a:p>
        </p:txBody>
      </p:sp>
      <p:sp>
        <p:nvSpPr>
          <p:cNvPr id="241" name="Google Shape;241;p13"/>
          <p:cNvSpPr txBox="1"/>
          <p:nvPr/>
        </p:nvSpPr>
        <p:spPr>
          <a:xfrm>
            <a:off x="666750" y="7331075"/>
            <a:ext cx="6886575" cy="22891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Utilizing </a:t>
            </a:r>
            <a:r>
              <a:rPr b="1" i="0" lang="en-US" sz="2499" u="none" cap="none" strike="noStrike">
                <a:solidFill>
                  <a:srgbClr val="FFFFFF"/>
                </a:solidFill>
                <a:latin typeface="Helvetica Neue"/>
                <a:ea typeface="Helvetica Neue"/>
                <a:cs typeface="Helvetica Neue"/>
                <a:sym typeface="Helvetica Neue"/>
              </a:rPr>
              <a:t>pattern recognition</a:t>
            </a:r>
            <a:r>
              <a:rPr b="0" i="0" lang="en-US" sz="2499" u="none" cap="none" strike="noStrike">
                <a:solidFill>
                  <a:srgbClr val="FFFFFF"/>
                </a:solidFill>
                <a:latin typeface="Helvetica Neue"/>
                <a:ea typeface="Helvetica Neue"/>
                <a:cs typeface="Helvetica Neue"/>
                <a:sym typeface="Helvetica Neue"/>
              </a:rPr>
              <a:t> and </a:t>
            </a:r>
            <a:r>
              <a:rPr b="1" i="0" lang="en-US" sz="2499" u="none" cap="none" strike="noStrike">
                <a:solidFill>
                  <a:srgbClr val="FFFFFF"/>
                </a:solidFill>
                <a:latin typeface="Helvetica Neue"/>
                <a:ea typeface="Helvetica Neue"/>
                <a:cs typeface="Helvetica Neue"/>
                <a:sym typeface="Helvetica Neue"/>
              </a:rPr>
              <a:t>anomaly detection</a:t>
            </a:r>
            <a:r>
              <a:rPr b="0" i="0" lang="en-US" sz="2499" u="none" cap="none" strike="noStrike">
                <a:solidFill>
                  <a:srgbClr val="FFFFFF"/>
                </a:solidFill>
                <a:latin typeface="Helvetica Neue"/>
                <a:ea typeface="Helvetica Neue"/>
                <a:cs typeface="Helvetica Neue"/>
                <a:sym typeface="Helvetica Neue"/>
              </a:rPr>
              <a:t> enhances detection capabilities, while integrating </a:t>
            </a:r>
            <a:r>
              <a:rPr b="1" i="0" lang="en-US" sz="2499" u="none" cap="none" strike="noStrike">
                <a:solidFill>
                  <a:srgbClr val="FFFFFF"/>
                </a:solidFill>
                <a:latin typeface="Helvetica Neue"/>
                <a:ea typeface="Helvetica Neue"/>
                <a:cs typeface="Helvetica Neue"/>
                <a:sym typeface="Helvetica Neue"/>
              </a:rPr>
              <a:t>threat intelligence</a:t>
            </a:r>
            <a:r>
              <a:rPr b="0" i="0" lang="en-US" sz="2499" u="none" cap="none" strike="noStrike">
                <a:solidFill>
                  <a:srgbClr val="FFFFFF"/>
                </a:solidFill>
                <a:latin typeface="Helvetica Neue"/>
                <a:ea typeface="Helvetica Neue"/>
                <a:cs typeface="Helvetica Neue"/>
                <a:sym typeface="Helvetica Neue"/>
              </a:rPr>
              <a:t> ensures hunters stay alert to evolving tactics, thus strengthening proactive defense measures against cyber threats.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45" name="Shape 245"/>
        <p:cNvGrpSpPr/>
        <p:nvPr/>
      </p:nvGrpSpPr>
      <p:grpSpPr>
        <a:xfrm>
          <a:off x="0" y="0"/>
          <a:ext cx="0" cy="0"/>
          <a:chOff x="0" y="0"/>
          <a:chExt cx="0" cy="0"/>
        </a:xfrm>
      </p:grpSpPr>
      <p:grpSp>
        <p:nvGrpSpPr>
          <p:cNvPr id="246" name="Google Shape;246;p14"/>
          <p:cNvGrpSpPr/>
          <p:nvPr/>
        </p:nvGrpSpPr>
        <p:grpSpPr>
          <a:xfrm>
            <a:off x="9296400" y="-216991"/>
            <a:ext cx="8991600" cy="3569791"/>
            <a:chOff x="0" y="-57150"/>
            <a:chExt cx="2368158" cy="940192"/>
          </a:xfrm>
        </p:grpSpPr>
        <p:sp>
          <p:nvSpPr>
            <p:cNvPr id="247" name="Google Shape;247;p14"/>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248" name="Google Shape;248;p14"/>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9" name="Google Shape;249;p14"/>
          <p:cNvSpPr/>
          <p:nvPr/>
        </p:nvSpPr>
        <p:spPr>
          <a:xfrm>
            <a:off x="8095189" y="2585473"/>
            <a:ext cx="9729594" cy="4646154"/>
          </a:xfrm>
          <a:custGeom>
            <a:rect b="b" l="l" r="r" t="t"/>
            <a:pathLst>
              <a:path extrusionOk="0" h="4646154" w="9729594">
                <a:moveTo>
                  <a:pt x="0" y="0"/>
                </a:moveTo>
                <a:lnTo>
                  <a:pt x="9729594" y="0"/>
                </a:lnTo>
                <a:lnTo>
                  <a:pt x="9729594" y="4646155"/>
                </a:lnTo>
                <a:lnTo>
                  <a:pt x="0" y="4646155"/>
                </a:lnTo>
                <a:lnTo>
                  <a:pt x="0" y="0"/>
                </a:lnTo>
                <a:close/>
              </a:path>
            </a:pathLst>
          </a:custGeom>
          <a:blipFill rotWithShape="1">
            <a:blip r:embed="rId3">
              <a:alphaModFix/>
            </a:blip>
            <a:stretch>
              <a:fillRect b="0" l="0" r="0" t="0"/>
            </a:stretch>
          </a:blipFill>
          <a:ln>
            <a:noFill/>
          </a:ln>
        </p:spPr>
      </p:sp>
      <p:sp>
        <p:nvSpPr>
          <p:cNvPr id="250" name="Google Shape;250;p14"/>
          <p:cNvSpPr txBox="1"/>
          <p:nvPr/>
        </p:nvSpPr>
        <p:spPr>
          <a:xfrm>
            <a:off x="666750" y="809625"/>
            <a:ext cx="6886575" cy="409892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Using MITRE ATT&amp;CK Framework Effectively</a:t>
            </a:r>
            <a:endParaRPr/>
          </a:p>
        </p:txBody>
      </p:sp>
      <p:sp>
        <p:nvSpPr>
          <p:cNvPr id="251" name="Google Shape;251;p14"/>
          <p:cNvSpPr txBox="1"/>
          <p:nvPr/>
        </p:nvSpPr>
        <p:spPr>
          <a:xfrm>
            <a:off x="666750" y="7445375"/>
            <a:ext cx="6886575" cy="21748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The MITRE ATT&amp;CK framework offers a structured approach to threat hunting, providing security teams with a comprehensive matrix of tactics and techniques that enhance detection and response capabilities against potential cyber threats.</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55" name="Shape 255"/>
        <p:cNvGrpSpPr/>
        <p:nvPr/>
      </p:nvGrpSpPr>
      <p:grpSpPr>
        <a:xfrm>
          <a:off x="0" y="0"/>
          <a:ext cx="0" cy="0"/>
          <a:chOff x="0" y="0"/>
          <a:chExt cx="0" cy="0"/>
        </a:xfrm>
      </p:grpSpPr>
      <p:grpSp>
        <p:nvGrpSpPr>
          <p:cNvPr id="256" name="Google Shape;256;p15"/>
          <p:cNvGrpSpPr/>
          <p:nvPr/>
        </p:nvGrpSpPr>
        <p:grpSpPr>
          <a:xfrm>
            <a:off x="9296400" y="-216991"/>
            <a:ext cx="8991600" cy="3569791"/>
            <a:chOff x="0" y="-57150"/>
            <a:chExt cx="2368158" cy="940192"/>
          </a:xfrm>
        </p:grpSpPr>
        <p:sp>
          <p:nvSpPr>
            <p:cNvPr id="257" name="Google Shape;257;p15"/>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258" name="Google Shape;258;p15"/>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59" name="Google Shape;259;p15"/>
          <p:cNvSpPr/>
          <p:nvPr/>
        </p:nvSpPr>
        <p:spPr>
          <a:xfrm>
            <a:off x="10116246" y="442974"/>
            <a:ext cx="7869514" cy="9177276"/>
          </a:xfrm>
          <a:custGeom>
            <a:rect b="b" l="l" r="r" t="t"/>
            <a:pathLst>
              <a:path extrusionOk="0" h="9177276" w="7869514">
                <a:moveTo>
                  <a:pt x="0" y="0"/>
                </a:moveTo>
                <a:lnTo>
                  <a:pt x="7869514" y="0"/>
                </a:lnTo>
                <a:lnTo>
                  <a:pt x="7869514" y="9177276"/>
                </a:lnTo>
                <a:lnTo>
                  <a:pt x="0" y="9177276"/>
                </a:lnTo>
                <a:lnTo>
                  <a:pt x="0" y="0"/>
                </a:lnTo>
                <a:close/>
              </a:path>
            </a:pathLst>
          </a:custGeom>
          <a:blipFill rotWithShape="1">
            <a:blip r:embed="rId3">
              <a:alphaModFix/>
            </a:blip>
            <a:stretch>
              <a:fillRect b="0" l="0" r="0" t="0"/>
            </a:stretch>
          </a:blipFill>
          <a:ln>
            <a:noFill/>
          </a:ln>
        </p:spPr>
      </p:sp>
      <p:sp>
        <p:nvSpPr>
          <p:cNvPr id="260" name="Google Shape;260;p15"/>
          <p:cNvSpPr txBox="1"/>
          <p:nvPr/>
        </p:nvSpPr>
        <p:spPr>
          <a:xfrm>
            <a:off x="666750" y="809625"/>
            <a:ext cx="6886575" cy="10699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Cyber Kill Chain</a:t>
            </a:r>
            <a:endParaRPr/>
          </a:p>
        </p:txBody>
      </p:sp>
      <p:sp>
        <p:nvSpPr>
          <p:cNvPr id="261" name="Google Shape;261;p15"/>
          <p:cNvSpPr txBox="1"/>
          <p:nvPr/>
        </p:nvSpPr>
        <p:spPr>
          <a:xfrm>
            <a:off x="666750" y="4392930"/>
            <a:ext cx="6886575" cy="5227320"/>
          </a:xfrm>
          <a:prstGeom prst="rect">
            <a:avLst/>
          </a:prstGeom>
          <a:noFill/>
          <a:ln>
            <a:noFill/>
          </a:ln>
        </p:spPr>
        <p:txBody>
          <a:bodyPr anchorCtr="0" anchor="t" bIns="0" lIns="0" spcFirstLastPara="1" rIns="0" wrap="square" tIns="0">
            <a:spAutoFit/>
          </a:bodyPr>
          <a:lstStyle/>
          <a:p>
            <a:pPr indent="0" lvl="0" marL="0" marR="0" rtl="0" algn="l">
              <a:lnSpc>
                <a:spcPct val="140014"/>
              </a:lnSpc>
              <a:spcBef>
                <a:spcPts val="0"/>
              </a:spcBef>
              <a:spcAft>
                <a:spcPts val="0"/>
              </a:spcAft>
              <a:buNone/>
            </a:pPr>
            <a:r>
              <a:rPr b="0" i="0" lang="en-US" sz="2699" u="none" cap="none" strike="noStrike">
                <a:solidFill>
                  <a:srgbClr val="FFFFFF"/>
                </a:solidFill>
                <a:latin typeface="Helvetica Neue"/>
                <a:ea typeface="Helvetica Neue"/>
                <a:cs typeface="Helvetica Neue"/>
                <a:sym typeface="Helvetica Neue"/>
              </a:rPr>
              <a:t>The Cyber Kill Chain, developed by Lockheed Martin, is a cybersecurity framework that breaks down cyberattacks into sequential stages, helping defenders detect and disrupt threats from initial reconnaissance to achieving objectives like data theft or system disruption, offering a clear way to build defenses at each phase. The core seven stages are: Reconnaissance, Weaponization, Delivery, Exploitation, Installation, Command &amp; Control (C2), and Actions on Objectives.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65" name="Shape 265"/>
        <p:cNvGrpSpPr/>
        <p:nvPr/>
      </p:nvGrpSpPr>
      <p:grpSpPr>
        <a:xfrm>
          <a:off x="0" y="0"/>
          <a:ext cx="0" cy="0"/>
          <a:chOff x="0" y="0"/>
          <a:chExt cx="0" cy="0"/>
        </a:xfrm>
      </p:grpSpPr>
      <p:sp>
        <p:nvSpPr>
          <p:cNvPr id="266" name="Google Shape;266;p16"/>
          <p:cNvSpPr txBox="1"/>
          <p:nvPr/>
        </p:nvSpPr>
        <p:spPr>
          <a:xfrm>
            <a:off x="17259300" y="9201150"/>
            <a:ext cx="152400" cy="209550"/>
          </a:xfrm>
          <a:prstGeom prst="rect">
            <a:avLst/>
          </a:prstGeom>
          <a:noFill/>
          <a:ln>
            <a:noFill/>
          </a:ln>
        </p:spPr>
        <p:txBody>
          <a:bodyPr anchorCtr="0" anchor="t" bIns="0" lIns="0" spcFirstLastPara="1" rIns="0" wrap="square" tIns="0">
            <a:spAutoFit/>
          </a:bodyPr>
          <a:lstStyle/>
          <a:p>
            <a:pPr indent="0" lvl="0" marL="0" marR="0" rtl="0" algn="ctr">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16</a:t>
            </a:r>
            <a:endParaRPr/>
          </a:p>
        </p:txBody>
      </p:sp>
      <p:grpSp>
        <p:nvGrpSpPr>
          <p:cNvPr id="267" name="Google Shape;267;p16"/>
          <p:cNvGrpSpPr/>
          <p:nvPr/>
        </p:nvGrpSpPr>
        <p:grpSpPr>
          <a:xfrm>
            <a:off x="666750" y="449759"/>
            <a:ext cx="16954500" cy="9170495"/>
            <a:chOff x="0" y="-57150"/>
            <a:chExt cx="4465383" cy="2415274"/>
          </a:xfrm>
        </p:grpSpPr>
        <p:sp>
          <p:nvSpPr>
            <p:cNvPr id="268" name="Google Shape;268;p16"/>
            <p:cNvSpPr/>
            <p:nvPr/>
          </p:nvSpPr>
          <p:spPr>
            <a:xfrm>
              <a:off x="0" y="0"/>
              <a:ext cx="4465383" cy="2358124"/>
            </a:xfrm>
            <a:custGeom>
              <a:rect b="b" l="l" r="r" t="t"/>
              <a:pathLst>
                <a:path extrusionOk="0" h="2358124" w="4465383">
                  <a:moveTo>
                    <a:pt x="20548" y="0"/>
                  </a:moveTo>
                  <a:lnTo>
                    <a:pt x="4444835" y="0"/>
                  </a:lnTo>
                  <a:cubicBezTo>
                    <a:pt x="4456183" y="0"/>
                    <a:pt x="4465383" y="9200"/>
                    <a:pt x="4465383" y="20548"/>
                  </a:cubicBezTo>
                  <a:lnTo>
                    <a:pt x="4465383" y="2337575"/>
                  </a:lnTo>
                  <a:cubicBezTo>
                    <a:pt x="4465383" y="2348924"/>
                    <a:pt x="4456183" y="2358124"/>
                    <a:pt x="4444835" y="2358124"/>
                  </a:cubicBezTo>
                  <a:lnTo>
                    <a:pt x="20548" y="2358124"/>
                  </a:lnTo>
                  <a:cubicBezTo>
                    <a:pt x="9200" y="2358124"/>
                    <a:pt x="0" y="2348924"/>
                    <a:pt x="0" y="2337575"/>
                  </a:cubicBezTo>
                  <a:lnTo>
                    <a:pt x="0" y="20548"/>
                  </a:lnTo>
                  <a:cubicBezTo>
                    <a:pt x="0" y="9200"/>
                    <a:pt x="9200" y="0"/>
                    <a:pt x="20548" y="0"/>
                  </a:cubicBezTo>
                  <a:close/>
                </a:path>
              </a:pathLst>
            </a:custGeom>
            <a:solidFill>
              <a:srgbClr val="3E3E3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6"/>
            <p:cNvSpPr txBox="1"/>
            <p:nvPr/>
          </p:nvSpPr>
          <p:spPr>
            <a:xfrm>
              <a:off x="0" y="-57150"/>
              <a:ext cx="4465383" cy="2415273"/>
            </a:xfrm>
            <a:prstGeom prst="rect">
              <a:avLst/>
            </a:prstGeom>
            <a:noFill/>
            <a:ln>
              <a:noFill/>
            </a:ln>
          </p:spPr>
          <p:txBody>
            <a:bodyPr anchorCtr="0" anchor="ctr" bIns="50800" lIns="50800" spcFirstLastPara="1" rIns="50800" wrap="square" tIns="50800">
              <a:noAutofit/>
            </a:bodyPr>
            <a:lstStyle/>
            <a:p>
              <a:pPr indent="0" lvl="0" marL="0" marR="0" rtl="0" algn="ctr">
                <a:lnSpc>
                  <a:spcPct val="186611"/>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0" name="Google Shape;270;p16"/>
          <p:cNvGrpSpPr/>
          <p:nvPr/>
        </p:nvGrpSpPr>
        <p:grpSpPr>
          <a:xfrm>
            <a:off x="1800225" y="1497806"/>
            <a:ext cx="13249275" cy="2131303"/>
            <a:chOff x="0" y="-85725"/>
            <a:chExt cx="17665700" cy="2841737"/>
          </a:xfrm>
        </p:grpSpPr>
        <p:sp>
          <p:nvSpPr>
            <p:cNvPr id="271" name="Google Shape;271;p16"/>
            <p:cNvSpPr txBox="1"/>
            <p:nvPr/>
          </p:nvSpPr>
          <p:spPr>
            <a:xfrm>
              <a:off x="0" y="-85725"/>
              <a:ext cx="17665700" cy="1702858"/>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8000" u="none" cap="none" strike="noStrike">
                  <a:solidFill>
                    <a:srgbClr val="FFFFFF"/>
                  </a:solidFill>
                  <a:latin typeface="Geo"/>
                  <a:ea typeface="Geo"/>
                  <a:cs typeface="Geo"/>
                  <a:sym typeface="Geo"/>
                </a:rPr>
                <a:t>SIEM Systems Overview</a:t>
              </a:r>
              <a:endParaRPr/>
            </a:p>
          </p:txBody>
        </p:sp>
        <p:sp>
          <p:nvSpPr>
            <p:cNvPr id="272" name="Google Shape;272;p16"/>
            <p:cNvSpPr txBox="1"/>
            <p:nvPr/>
          </p:nvSpPr>
          <p:spPr>
            <a:xfrm>
              <a:off x="0" y="2187687"/>
              <a:ext cx="17665700" cy="568325"/>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2500" u="none" cap="none" strike="noStrike">
                  <a:solidFill>
                    <a:srgbClr val="FFFFFF"/>
                  </a:solidFill>
                  <a:latin typeface="Helvetica Neue"/>
                  <a:ea typeface="Helvetica Neue"/>
                  <a:cs typeface="Helvetica Neue"/>
                  <a:sym typeface="Helvetica Neue"/>
                </a:rPr>
                <a:t>Understanding their role in threat hunting</a:t>
              </a:r>
              <a:endParaRPr/>
            </a:p>
          </p:txBody>
        </p:sp>
      </p:grpSp>
      <p:grpSp>
        <p:nvGrpSpPr>
          <p:cNvPr id="273" name="Google Shape;273;p16"/>
          <p:cNvGrpSpPr/>
          <p:nvPr/>
        </p:nvGrpSpPr>
        <p:grpSpPr>
          <a:xfrm>
            <a:off x="1800225" y="5143500"/>
            <a:ext cx="4308497" cy="2930525"/>
            <a:chOff x="0" y="0"/>
            <a:chExt cx="5744662" cy="3907367"/>
          </a:xfrm>
        </p:grpSpPr>
        <p:sp>
          <p:nvSpPr>
            <p:cNvPr id="274" name="Google Shape;274;p16"/>
            <p:cNvSpPr txBox="1"/>
            <p:nvPr/>
          </p:nvSpPr>
          <p:spPr>
            <a:xfrm>
              <a:off x="0" y="0"/>
              <a:ext cx="5744662"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Centralized Logging</a:t>
              </a:r>
              <a:endParaRPr/>
            </a:p>
          </p:txBody>
        </p:sp>
        <p:sp>
          <p:nvSpPr>
            <p:cNvPr id="275" name="Google Shape;275;p16"/>
            <p:cNvSpPr txBox="1"/>
            <p:nvPr/>
          </p:nvSpPr>
          <p:spPr>
            <a:xfrm>
              <a:off x="0" y="1060450"/>
              <a:ext cx="5744662" cy="28469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SIEM systems consolidate logs from various sources, enabling </a:t>
              </a:r>
              <a:r>
                <a:rPr b="1" i="0" lang="en-US" sz="2000" u="none" cap="none" strike="noStrike">
                  <a:solidFill>
                    <a:srgbClr val="FFFFFF"/>
                  </a:solidFill>
                  <a:latin typeface="Helvetica Neue"/>
                  <a:ea typeface="Helvetica Neue"/>
                  <a:cs typeface="Helvetica Neue"/>
                  <a:sym typeface="Helvetica Neue"/>
                </a:rPr>
                <a:t>comprehensive visibility</a:t>
              </a:r>
              <a:r>
                <a:rPr b="0" i="0" lang="en-US" sz="2000" u="none" cap="none" strike="noStrike">
                  <a:solidFill>
                    <a:srgbClr val="FFFFFF"/>
                  </a:solidFill>
                  <a:latin typeface="Helvetica Neue"/>
                  <a:ea typeface="Helvetica Neue"/>
                  <a:cs typeface="Helvetica Neue"/>
                  <a:sym typeface="Helvetica Neue"/>
                </a:rPr>
                <a:t> into security events, which is crucial for detecting and investigating potential threats effectively.</a:t>
              </a:r>
              <a:endParaRPr/>
            </a:p>
          </p:txBody>
        </p:sp>
      </p:grpSp>
      <p:grpSp>
        <p:nvGrpSpPr>
          <p:cNvPr id="276" name="Google Shape;276;p16"/>
          <p:cNvGrpSpPr/>
          <p:nvPr/>
        </p:nvGrpSpPr>
        <p:grpSpPr>
          <a:xfrm>
            <a:off x="7291388" y="5143500"/>
            <a:ext cx="4010025" cy="2930525"/>
            <a:chOff x="0" y="0"/>
            <a:chExt cx="5346700" cy="3907367"/>
          </a:xfrm>
        </p:grpSpPr>
        <p:sp>
          <p:nvSpPr>
            <p:cNvPr id="277" name="Google Shape;277;p16"/>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Real-Time Monitoring</a:t>
              </a:r>
              <a:endParaRPr/>
            </a:p>
          </p:txBody>
        </p:sp>
        <p:sp>
          <p:nvSpPr>
            <p:cNvPr id="278" name="Google Shape;278;p16"/>
            <p:cNvSpPr txBox="1"/>
            <p:nvPr/>
          </p:nvSpPr>
          <p:spPr>
            <a:xfrm>
              <a:off x="0" y="1060450"/>
              <a:ext cx="5346700" cy="28469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These systems offer real-time monitoring of security events, allowing SOC teams to respond promptly to </a:t>
              </a:r>
              <a:r>
                <a:rPr b="1" i="0" lang="en-US" sz="2000" u="none" cap="none" strike="noStrike">
                  <a:solidFill>
                    <a:srgbClr val="FFFFFF"/>
                  </a:solidFill>
                  <a:latin typeface="Helvetica Neue"/>
                  <a:ea typeface="Helvetica Neue"/>
                  <a:cs typeface="Helvetica Neue"/>
                  <a:sym typeface="Helvetica Neue"/>
                </a:rPr>
                <a:t>emerging threats</a:t>
              </a:r>
              <a:r>
                <a:rPr b="0" i="0" lang="en-US" sz="2000" u="none" cap="none" strike="noStrike">
                  <a:solidFill>
                    <a:srgbClr val="FFFFFF"/>
                  </a:solidFill>
                  <a:latin typeface="Helvetica Neue"/>
                  <a:ea typeface="Helvetica Neue"/>
                  <a:cs typeface="Helvetica Neue"/>
                  <a:sym typeface="Helvetica Neue"/>
                </a:rPr>
                <a:t> and reduce the risk of significant breaches.</a:t>
              </a:r>
              <a:endParaRPr/>
            </a:p>
          </p:txBody>
        </p:sp>
      </p:grpSp>
      <p:grpSp>
        <p:nvGrpSpPr>
          <p:cNvPr id="279" name="Google Shape;279;p16"/>
          <p:cNvGrpSpPr/>
          <p:nvPr/>
        </p:nvGrpSpPr>
        <p:grpSpPr>
          <a:xfrm>
            <a:off x="12172950" y="5143500"/>
            <a:ext cx="4010025" cy="2930525"/>
            <a:chOff x="0" y="0"/>
            <a:chExt cx="5346700" cy="3907367"/>
          </a:xfrm>
        </p:grpSpPr>
        <p:sp>
          <p:nvSpPr>
            <p:cNvPr id="280" name="Google Shape;280;p16"/>
            <p:cNvSpPr txBox="1"/>
            <p:nvPr/>
          </p:nvSpPr>
          <p:spPr>
            <a:xfrm>
              <a:off x="0" y="0"/>
              <a:ext cx="5346700" cy="533400"/>
            </a:xfrm>
            <a:prstGeom prst="rect">
              <a:avLst/>
            </a:prstGeom>
            <a:noFill/>
            <a:ln>
              <a:noFill/>
            </a:ln>
          </p:spPr>
          <p:txBody>
            <a:bodyPr anchorCtr="0" anchor="t" bIns="0" lIns="0" spcFirstLastPara="1" rIns="0" wrap="square" tIns="0">
              <a:spAutoFit/>
            </a:bodyPr>
            <a:lstStyle/>
            <a:p>
              <a:pPr indent="0" lvl="0" marL="0" marR="0" rtl="0" algn="l">
                <a:lnSpc>
                  <a:spcPct val="120008"/>
                </a:lnSpc>
                <a:spcBef>
                  <a:spcPts val="0"/>
                </a:spcBef>
                <a:spcAft>
                  <a:spcPts val="0"/>
                </a:spcAft>
                <a:buNone/>
              </a:pPr>
              <a:r>
                <a:rPr b="1" i="0" lang="en-US" sz="2499" u="none" cap="none" strike="noStrike">
                  <a:solidFill>
                    <a:srgbClr val="FFFFFF"/>
                  </a:solidFill>
                  <a:latin typeface="Helvetica Neue"/>
                  <a:ea typeface="Helvetica Neue"/>
                  <a:cs typeface="Helvetica Neue"/>
                  <a:sym typeface="Helvetica Neue"/>
                </a:rPr>
                <a:t>Incident Response</a:t>
              </a:r>
              <a:endParaRPr/>
            </a:p>
          </p:txBody>
        </p:sp>
        <p:sp>
          <p:nvSpPr>
            <p:cNvPr id="281" name="Google Shape;281;p16"/>
            <p:cNvSpPr txBox="1"/>
            <p:nvPr/>
          </p:nvSpPr>
          <p:spPr>
            <a:xfrm>
              <a:off x="0" y="1060450"/>
              <a:ext cx="5346700" cy="2846917"/>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2000" u="none" cap="none" strike="noStrike">
                  <a:solidFill>
                    <a:srgbClr val="FFFFFF"/>
                  </a:solidFill>
                  <a:latin typeface="Helvetica Neue"/>
                  <a:ea typeface="Helvetica Neue"/>
                  <a:cs typeface="Helvetica Neue"/>
                  <a:sym typeface="Helvetica Neue"/>
                </a:rPr>
                <a:t>SIEM platforms facilitate a structured </a:t>
              </a:r>
              <a:r>
                <a:rPr b="1" i="0" lang="en-US" sz="2000" u="none" cap="none" strike="noStrike">
                  <a:solidFill>
                    <a:srgbClr val="FFFFFF"/>
                  </a:solidFill>
                  <a:latin typeface="Helvetica Neue"/>
                  <a:ea typeface="Helvetica Neue"/>
                  <a:cs typeface="Helvetica Neue"/>
                  <a:sym typeface="Helvetica Neue"/>
                </a:rPr>
                <a:t>incident response</a:t>
              </a:r>
              <a:r>
                <a:rPr b="0" i="0" lang="en-US" sz="2000" u="none" cap="none" strike="noStrike">
                  <a:solidFill>
                    <a:srgbClr val="FFFFFF"/>
                  </a:solidFill>
                  <a:latin typeface="Helvetica Neue"/>
                  <a:ea typeface="Helvetica Neue"/>
                  <a:cs typeface="Helvetica Neue"/>
                  <a:sym typeface="Helvetica Neue"/>
                </a:rPr>
                <a:t> process, helping teams to analyze, prioritize, and effectively remediate security incidents based on correlated data insights.</a:t>
              </a:r>
              <a:endParaRPr/>
            </a:p>
          </p:txBody>
        </p:sp>
      </p:grpSp>
      <p:sp>
        <p:nvSpPr>
          <p:cNvPr id="282" name="Google Shape;282;p16"/>
          <p:cNvSpPr/>
          <p:nvPr/>
        </p:nvSpPr>
        <p:spPr>
          <a:xfrm rot="-3117037">
            <a:off x="16099474" y="7952721"/>
            <a:ext cx="2112604" cy="1859092"/>
          </a:xfrm>
          <a:custGeom>
            <a:rect b="b" l="l" r="r" t="t"/>
            <a:pathLst>
              <a:path extrusionOk="0" h="1859092" w="2112604">
                <a:moveTo>
                  <a:pt x="0" y="0"/>
                </a:moveTo>
                <a:lnTo>
                  <a:pt x="2112605" y="0"/>
                </a:lnTo>
                <a:lnTo>
                  <a:pt x="2112605" y="1859092"/>
                </a:lnTo>
                <a:lnTo>
                  <a:pt x="0" y="1859092"/>
                </a:lnTo>
                <a:lnTo>
                  <a:pt x="0" y="0"/>
                </a:lnTo>
                <a:close/>
              </a:path>
            </a:pathLst>
          </a:custGeom>
          <a:blipFill rotWithShape="1">
            <a:blip r:embed="rId3">
              <a:alphaModFix/>
            </a:blip>
            <a:stretch>
              <a:fillRect b="0" l="0" r="0" t="0"/>
            </a:stretch>
          </a:blipFill>
          <a:ln>
            <a:noFill/>
          </a:ln>
        </p:spPr>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21212"/>
        </a:solidFill>
      </p:bgPr>
    </p:bg>
    <p:spTree>
      <p:nvGrpSpPr>
        <p:cNvPr id="286" name="Shape 286"/>
        <p:cNvGrpSpPr/>
        <p:nvPr/>
      </p:nvGrpSpPr>
      <p:grpSpPr>
        <a:xfrm>
          <a:off x="0" y="0"/>
          <a:ext cx="0" cy="0"/>
          <a:chOff x="0" y="0"/>
          <a:chExt cx="0" cy="0"/>
        </a:xfrm>
      </p:grpSpPr>
      <p:grpSp>
        <p:nvGrpSpPr>
          <p:cNvPr id="287" name="Google Shape;287;p17"/>
          <p:cNvGrpSpPr/>
          <p:nvPr/>
        </p:nvGrpSpPr>
        <p:grpSpPr>
          <a:xfrm>
            <a:off x="9296400" y="-216991"/>
            <a:ext cx="8991600" cy="3569791"/>
            <a:chOff x="0" y="-57150"/>
            <a:chExt cx="2368158" cy="940192"/>
          </a:xfrm>
        </p:grpSpPr>
        <p:sp>
          <p:nvSpPr>
            <p:cNvPr id="288" name="Google Shape;288;p17"/>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21212"/>
            </a:solidFill>
            <a:ln>
              <a:noFill/>
            </a:ln>
          </p:spPr>
        </p:sp>
        <p:sp>
          <p:nvSpPr>
            <p:cNvPr id="289" name="Google Shape;289;p17"/>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90" name="Google Shape;290;p17"/>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291" name="Google Shape;291;p17"/>
          <p:cNvSpPr txBox="1"/>
          <p:nvPr/>
        </p:nvSpPr>
        <p:spPr>
          <a:xfrm>
            <a:off x="666750" y="809625"/>
            <a:ext cx="6886575" cy="207962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Capabilities of EDR Tools</a:t>
            </a:r>
            <a:endParaRPr/>
          </a:p>
        </p:txBody>
      </p:sp>
      <p:sp>
        <p:nvSpPr>
          <p:cNvPr id="292" name="Google Shape;292;p17"/>
          <p:cNvSpPr txBox="1"/>
          <p:nvPr/>
        </p:nvSpPr>
        <p:spPr>
          <a:xfrm>
            <a:off x="666750" y="6969125"/>
            <a:ext cx="6886575" cy="265112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Endpoint Detection and Response (EDR) tools provide </a:t>
            </a:r>
            <a:r>
              <a:rPr b="1" i="0" lang="en-US" sz="2499" u="none" cap="none" strike="noStrike">
                <a:solidFill>
                  <a:srgbClr val="FFFFFF"/>
                </a:solidFill>
                <a:latin typeface="Helvetica Neue"/>
                <a:ea typeface="Helvetica Neue"/>
                <a:cs typeface="Helvetica Neue"/>
                <a:sym typeface="Helvetica Neue"/>
              </a:rPr>
              <a:t>real-time monitoring</a:t>
            </a:r>
            <a:r>
              <a:rPr b="0" i="0" lang="en-US" sz="2499" u="none" cap="none" strike="noStrike">
                <a:solidFill>
                  <a:srgbClr val="FFFFFF"/>
                </a:solidFill>
                <a:latin typeface="Helvetica Neue"/>
                <a:ea typeface="Helvetica Neue"/>
                <a:cs typeface="Helvetica Neue"/>
                <a:sym typeface="Helvetica Neue"/>
              </a:rPr>
              <a:t>, automated threat detection, and incident response capabilities, allowing organizations to swiftly address potential breaches and enhance overall endpoint security effectively.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296" name="Shape 296"/>
        <p:cNvGrpSpPr/>
        <p:nvPr/>
      </p:nvGrpSpPr>
      <p:grpSpPr>
        <a:xfrm>
          <a:off x="0" y="0"/>
          <a:ext cx="0" cy="0"/>
          <a:chOff x="0" y="0"/>
          <a:chExt cx="0" cy="0"/>
        </a:xfrm>
      </p:grpSpPr>
      <p:grpSp>
        <p:nvGrpSpPr>
          <p:cNvPr id="297" name="Google Shape;297;p18"/>
          <p:cNvGrpSpPr/>
          <p:nvPr/>
        </p:nvGrpSpPr>
        <p:grpSpPr>
          <a:xfrm>
            <a:off x="9296400" y="-216991"/>
            <a:ext cx="8991600" cy="3569791"/>
            <a:chOff x="0" y="-57150"/>
            <a:chExt cx="2368158" cy="940192"/>
          </a:xfrm>
        </p:grpSpPr>
        <p:sp>
          <p:nvSpPr>
            <p:cNvPr id="298" name="Google Shape;298;p18"/>
            <p:cNvSpPr/>
            <p:nvPr/>
          </p:nvSpPr>
          <p:spPr>
            <a:xfrm>
              <a:off x="0" y="0"/>
              <a:ext cx="2368158" cy="883042"/>
            </a:xfrm>
            <a:custGeom>
              <a:rect b="b" l="l" r="r" t="t"/>
              <a:pathLst>
                <a:path extrusionOk="0" h="883042" w="2368158">
                  <a:moveTo>
                    <a:pt x="0" y="0"/>
                  </a:moveTo>
                  <a:lnTo>
                    <a:pt x="2368158" y="0"/>
                  </a:lnTo>
                  <a:lnTo>
                    <a:pt x="2368158" y="883042"/>
                  </a:lnTo>
                  <a:lnTo>
                    <a:pt x="0" y="883042"/>
                  </a:lnTo>
                  <a:close/>
                </a:path>
              </a:pathLst>
            </a:custGeom>
            <a:solidFill>
              <a:srgbClr val="1E1E1E"/>
            </a:solidFill>
            <a:ln>
              <a:noFill/>
            </a:ln>
          </p:spPr>
        </p:sp>
        <p:sp>
          <p:nvSpPr>
            <p:cNvPr id="299" name="Google Shape;299;p18"/>
            <p:cNvSpPr txBox="1"/>
            <p:nvPr/>
          </p:nvSpPr>
          <p:spPr>
            <a:xfrm>
              <a:off x="0" y="-57150"/>
              <a:ext cx="2368158" cy="940192"/>
            </a:xfrm>
            <a:prstGeom prst="rect">
              <a:avLst/>
            </a:prstGeom>
            <a:noFill/>
            <a:ln>
              <a:noFill/>
            </a:ln>
          </p:spPr>
          <p:txBody>
            <a:bodyPr anchorCtr="0" anchor="ctr" bIns="50800" lIns="50800" spcFirstLastPara="1" rIns="50800" wrap="square" tIns="50800">
              <a:noAutofit/>
            </a:bodyPr>
            <a:lstStyle/>
            <a:p>
              <a:pPr indent="0" lvl="0" marL="0" marR="0" rtl="0" algn="ctr">
                <a:lnSpc>
                  <a:spcPct val="155555"/>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00" name="Google Shape;300;p18"/>
          <p:cNvSpPr/>
          <p:nvPr/>
        </p:nvSpPr>
        <p:spPr>
          <a:xfrm>
            <a:off x="8991600" y="0"/>
            <a:ext cx="9296400" cy="10287000"/>
          </a:xfrm>
          <a:custGeom>
            <a:rect b="b" l="l" r="r" t="t"/>
            <a:pathLst>
              <a:path extrusionOk="0" h="1350966" w="1220873">
                <a:moveTo>
                  <a:pt x="0" y="0"/>
                </a:moveTo>
                <a:lnTo>
                  <a:pt x="1220873" y="0"/>
                </a:lnTo>
                <a:lnTo>
                  <a:pt x="1220873" y="1350966"/>
                </a:lnTo>
                <a:lnTo>
                  <a:pt x="0" y="1350966"/>
                </a:lnTo>
                <a:close/>
              </a:path>
            </a:pathLst>
          </a:custGeom>
          <a:blipFill rotWithShape="1">
            <a:blip r:embed="rId3">
              <a:alphaModFix/>
            </a:blip>
            <a:stretch>
              <a:fillRect b="-65" l="0" r="0" t="-65"/>
            </a:stretch>
          </a:blipFill>
          <a:ln>
            <a:noFill/>
          </a:ln>
        </p:spPr>
      </p:sp>
      <p:sp>
        <p:nvSpPr>
          <p:cNvPr id="301" name="Google Shape;301;p18"/>
          <p:cNvSpPr txBox="1"/>
          <p:nvPr/>
        </p:nvSpPr>
        <p:spPr>
          <a:xfrm>
            <a:off x="666750" y="809625"/>
            <a:ext cx="6886575" cy="30892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8000" u="none" cap="none" strike="noStrike">
                <a:solidFill>
                  <a:srgbClr val="FFFFFF"/>
                </a:solidFill>
                <a:latin typeface="Geo"/>
                <a:ea typeface="Geo"/>
                <a:cs typeface="Geo"/>
                <a:sym typeface="Geo"/>
              </a:rPr>
              <a:t>Analyzing Network Traffic Effectively</a:t>
            </a:r>
            <a:endParaRPr/>
          </a:p>
        </p:txBody>
      </p:sp>
      <p:sp>
        <p:nvSpPr>
          <p:cNvPr id="302" name="Google Shape;302;p18"/>
          <p:cNvSpPr txBox="1"/>
          <p:nvPr/>
        </p:nvSpPr>
        <p:spPr>
          <a:xfrm>
            <a:off x="666750" y="7445375"/>
            <a:ext cx="6886575" cy="2174875"/>
          </a:xfrm>
          <a:prstGeom prst="rect">
            <a:avLst/>
          </a:prstGeom>
          <a:noFill/>
          <a:ln>
            <a:noFill/>
          </a:ln>
        </p:spPr>
        <p:txBody>
          <a:bodyPr anchorCtr="0" anchor="t" bIns="0" lIns="0" spcFirstLastPara="1" rIns="0" wrap="square" tIns="0">
            <a:spAutoFit/>
          </a:bodyPr>
          <a:lstStyle/>
          <a:p>
            <a:pPr indent="0" lvl="0" marL="0" marR="0" rtl="0" algn="l">
              <a:lnSpc>
                <a:spcPct val="140016"/>
              </a:lnSpc>
              <a:spcBef>
                <a:spcPts val="0"/>
              </a:spcBef>
              <a:spcAft>
                <a:spcPts val="0"/>
              </a:spcAft>
              <a:buNone/>
            </a:pPr>
            <a:r>
              <a:rPr b="0" i="0" lang="en-US" sz="2499" u="none" cap="none" strike="noStrike">
                <a:solidFill>
                  <a:srgbClr val="FFFFFF"/>
                </a:solidFill>
                <a:latin typeface="Helvetica Neue"/>
                <a:ea typeface="Helvetica Neue"/>
                <a:cs typeface="Helvetica Neue"/>
                <a:sym typeface="Helvetica Neue"/>
              </a:rPr>
              <a:t>Network traffic analysis tools play a crucial role in threat hunting. They help detect anomalies, monitor data flow, and investigate potential security incidents, ensuring robust cybersecurity across the network infrastructure.</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E1E1E"/>
        </a:solidFill>
      </p:bgPr>
    </p:bg>
    <p:spTree>
      <p:nvGrpSpPr>
        <p:cNvPr id="306" name="Shape 306"/>
        <p:cNvGrpSpPr/>
        <p:nvPr/>
      </p:nvGrpSpPr>
      <p:grpSpPr>
        <a:xfrm>
          <a:off x="0" y="0"/>
          <a:ext cx="0" cy="0"/>
          <a:chOff x="0" y="0"/>
          <a:chExt cx="0" cy="0"/>
        </a:xfrm>
      </p:grpSpPr>
      <p:sp>
        <p:nvSpPr>
          <p:cNvPr id="307" name="Google Shape;307;p22"/>
          <p:cNvSpPr/>
          <p:nvPr/>
        </p:nvSpPr>
        <p:spPr>
          <a:xfrm>
            <a:off x="0" y="0"/>
            <a:ext cx="7858125" cy="10287000"/>
          </a:xfrm>
          <a:custGeom>
            <a:rect b="b" l="l" r="r" t="t"/>
            <a:pathLst>
              <a:path extrusionOk="0" h="1350966" w="1031988">
                <a:moveTo>
                  <a:pt x="0" y="0"/>
                </a:moveTo>
                <a:lnTo>
                  <a:pt x="1031988" y="0"/>
                </a:lnTo>
                <a:lnTo>
                  <a:pt x="1031988" y="1350966"/>
                </a:lnTo>
                <a:lnTo>
                  <a:pt x="0" y="1350966"/>
                </a:lnTo>
                <a:close/>
              </a:path>
            </a:pathLst>
          </a:custGeom>
          <a:solidFill>
            <a:srgbClr val="FFFFFF"/>
          </a:solidFill>
          <a:ln cap="flat" cmpd="sng" w="12700">
            <a:solidFill>
              <a:srgbClr val="000000"/>
            </a:solidFill>
            <a:prstDash val="solid"/>
            <a:round/>
            <a:headEnd len="sm" w="sm" type="none"/>
            <a:tailEnd len="sm" w="sm" type="none"/>
          </a:ln>
        </p:spPr>
      </p:sp>
      <p:sp>
        <p:nvSpPr>
          <p:cNvPr id="308" name="Google Shape;308;p22"/>
          <p:cNvSpPr/>
          <p:nvPr/>
        </p:nvSpPr>
        <p:spPr>
          <a:xfrm>
            <a:off x="1052512" y="666750"/>
            <a:ext cx="5753100" cy="8953500"/>
          </a:xfrm>
          <a:custGeom>
            <a:rect b="b" l="l" r="r" t="t"/>
            <a:pathLst>
              <a:path extrusionOk="0" h="1267949" w="814724">
                <a:moveTo>
                  <a:pt x="26914" y="0"/>
                </a:moveTo>
                <a:lnTo>
                  <a:pt x="787810" y="0"/>
                </a:lnTo>
                <a:cubicBezTo>
                  <a:pt x="802675" y="0"/>
                  <a:pt x="814724" y="12050"/>
                  <a:pt x="814724" y="26914"/>
                </a:cubicBezTo>
                <a:lnTo>
                  <a:pt x="814724" y="1241035"/>
                </a:lnTo>
                <a:cubicBezTo>
                  <a:pt x="814724" y="1255899"/>
                  <a:pt x="802675" y="1267949"/>
                  <a:pt x="787810" y="1267949"/>
                </a:cubicBezTo>
                <a:lnTo>
                  <a:pt x="26914" y="1267949"/>
                </a:lnTo>
                <a:cubicBezTo>
                  <a:pt x="12050" y="1267949"/>
                  <a:pt x="0" y="1255899"/>
                  <a:pt x="0" y="1241035"/>
                </a:cubicBezTo>
                <a:lnTo>
                  <a:pt x="0" y="26914"/>
                </a:lnTo>
                <a:cubicBezTo>
                  <a:pt x="0" y="12050"/>
                  <a:pt x="12050" y="0"/>
                  <a:pt x="26914" y="0"/>
                </a:cubicBezTo>
                <a:close/>
              </a:path>
            </a:pathLst>
          </a:custGeom>
          <a:blipFill rotWithShape="1">
            <a:blip r:embed="rId3">
              <a:alphaModFix/>
            </a:blip>
            <a:stretch>
              <a:fillRect b="-199" l="0" r="0" t="-199"/>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22"/>
          <p:cNvSpPr txBox="1"/>
          <p:nvPr/>
        </p:nvSpPr>
        <p:spPr>
          <a:xfrm>
            <a:off x="9296400" y="9001760"/>
            <a:ext cx="8324850" cy="61849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3800" u="none" cap="none" strike="noStrike">
                <a:solidFill>
                  <a:srgbClr val="FFFFFF"/>
                </a:solidFill>
                <a:latin typeface="Helvetica Neue"/>
                <a:ea typeface="Helvetica Neue"/>
                <a:cs typeface="Helvetica Neue"/>
                <a:sym typeface="Helvetica Neue"/>
              </a:rPr>
              <a:t>Start your journey in threat hunting!</a:t>
            </a:r>
            <a:endParaRPr/>
          </a:p>
        </p:txBody>
      </p:sp>
      <p:sp>
        <p:nvSpPr>
          <p:cNvPr id="310" name="Google Shape;310;p22"/>
          <p:cNvSpPr txBox="1"/>
          <p:nvPr/>
        </p:nvSpPr>
        <p:spPr>
          <a:xfrm>
            <a:off x="9144000" y="4282046"/>
            <a:ext cx="8317491" cy="199913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4956" u="none" cap="none" strike="noStrike">
                <a:solidFill>
                  <a:srgbClr val="FFFFFF"/>
                </a:solidFill>
                <a:latin typeface="Geo"/>
                <a:ea typeface="Geo"/>
                <a:cs typeface="Geo"/>
                <a:sym typeface="Geo"/>
              </a:rPr>
              <a:t>Questions?</a:t>
            </a:r>
            <a:endParaRPr/>
          </a:p>
        </p:txBody>
      </p:sp>
      <p:sp>
        <p:nvSpPr>
          <p:cNvPr id="311" name="Google Shape;311;p22"/>
          <p:cNvSpPr/>
          <p:nvPr/>
        </p:nvSpPr>
        <p:spPr>
          <a:xfrm rot="-3117037">
            <a:off x="5418783" y="7952721"/>
            <a:ext cx="2112604" cy="1859092"/>
          </a:xfrm>
          <a:custGeom>
            <a:rect b="b" l="l" r="r" t="t"/>
            <a:pathLst>
              <a:path extrusionOk="0" h="1859092" w="2112604">
                <a:moveTo>
                  <a:pt x="0" y="0"/>
                </a:moveTo>
                <a:lnTo>
                  <a:pt x="2112604" y="0"/>
                </a:lnTo>
                <a:lnTo>
                  <a:pt x="2112604" y="1859092"/>
                </a:lnTo>
                <a:lnTo>
                  <a:pt x="0" y="1859092"/>
                </a:lnTo>
                <a:lnTo>
                  <a:pt x="0" y="0"/>
                </a:lnTo>
                <a:close/>
              </a:path>
            </a:pathLst>
          </a:custGeom>
          <a:blipFill rotWithShape="1">
            <a:blip r:embed="rId4">
              <a:alphaModFix/>
            </a:blip>
            <a:stretch>
              <a:fillRect b="0" l="0" r="0" t="0"/>
            </a:stretch>
          </a:blipFill>
          <a:ln>
            <a:noFill/>
          </a:ln>
        </p:spPr>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