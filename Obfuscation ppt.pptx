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57" r:id="rId4"/>
    <p:sldId id="259" r:id="rId5"/>
    <p:sldId id="260" r:id="rId6"/>
    <p:sldId id="261" r:id="rId7"/>
    <p:sldId id="262" r:id="rId8"/>
    <p:sldId id="266" r:id="rId9"/>
    <p:sldId id="267" r:id="rId10"/>
    <p:sldId id="268" r:id="rId11"/>
    <p:sldId id="263" r:id="rId12"/>
    <p:sldId id="264" r:id="rId13"/>
    <p:sldId id="25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27"/>
    <p:restoredTop sz="94718"/>
  </p:normalViewPr>
  <p:slideViewPr>
    <p:cSldViewPr snapToGrid="0">
      <p:cViewPr>
        <p:scale>
          <a:sx n="75" d="100"/>
          <a:sy n="75" d="100"/>
        </p:scale>
        <p:origin x="-840" y="-22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3990F3-5781-FB55-A443-26F1B8D65D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A8EDD9CC-C440-360B-4481-60AE5EFBE4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A9415B6E-8098-77C8-BE75-610DE940BA4A}"/>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5" name="Footer Placeholder 4">
            <a:extLst>
              <a:ext uri="{FF2B5EF4-FFF2-40B4-BE49-F238E27FC236}">
                <a16:creationId xmlns="" xmlns:a16="http://schemas.microsoft.com/office/drawing/2014/main" id="{29EB4A6D-6C05-3137-682E-0C1F580469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59638E1-2C06-DD07-E96F-E7E279B12E06}"/>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3330389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D81740-8DB5-EAEA-07F6-45A6BC9E60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4BCE849A-4A8F-7CEC-3527-DC96DF129E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9A133D3-F72F-333D-30AC-85745AC801D0}"/>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5" name="Footer Placeholder 4">
            <a:extLst>
              <a:ext uri="{FF2B5EF4-FFF2-40B4-BE49-F238E27FC236}">
                <a16:creationId xmlns="" xmlns:a16="http://schemas.microsoft.com/office/drawing/2014/main" id="{4B232030-3D73-10ED-6C54-847561219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A5E6D8DB-17AF-36BD-855B-6BF551818828}"/>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3722154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F7DEEB-DC1E-DBA2-488D-822C753C6B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C25DDDA1-B6EC-15D7-12EF-F9FFDE0566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C4F88EF7-F33E-36B6-46D5-44B16B84AC89}"/>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5" name="Footer Placeholder 4">
            <a:extLst>
              <a:ext uri="{FF2B5EF4-FFF2-40B4-BE49-F238E27FC236}">
                <a16:creationId xmlns="" xmlns:a16="http://schemas.microsoft.com/office/drawing/2014/main" id="{9677F185-058B-FD8E-D732-FC01EA2881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9A4A0FD5-BFD5-53FA-E92B-57268E75AB53}"/>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1219829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06A369-D19E-EB43-095B-152E69EA17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F8324DC0-05D6-1D35-A8C1-11AF1F89C3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B6117174-9229-66E7-8228-EF7696D6E7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7D6B7697-C9D3-40BC-8F18-0D4085049A2E}"/>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6" name="Footer Placeholder 5">
            <a:extLst>
              <a:ext uri="{FF2B5EF4-FFF2-40B4-BE49-F238E27FC236}">
                <a16:creationId xmlns="" xmlns:a16="http://schemas.microsoft.com/office/drawing/2014/main" id="{E2AEF882-F3E7-3CE9-5BCE-6A7FFBE334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16ACB019-6959-E304-433C-3B7681BA1C68}"/>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142924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4DF372-6967-212F-261C-096E1A0232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5D71CE36-4B17-2694-ACDB-D5AC753739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EC165E24-CC08-7502-41F8-7542FF3E5F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F4B0FF86-1CF3-C7FD-2172-4A5C7BB964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38AA88D-4F89-7908-5B2A-A4C3C7C595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EF1A1EFA-EF8B-18E9-E5D7-9AAA2D1E6C11}"/>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8" name="Footer Placeholder 7">
            <a:extLst>
              <a:ext uri="{FF2B5EF4-FFF2-40B4-BE49-F238E27FC236}">
                <a16:creationId xmlns="" xmlns:a16="http://schemas.microsoft.com/office/drawing/2014/main" id="{32E0C898-42F1-B403-3D11-0408495021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2D7529A4-C641-3399-4F8A-7E7A5AFDFACD}"/>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2191801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5DDD90-4B56-0C2F-2A63-BFDED1FDA1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3814AC34-1009-45C0-5A92-D6D6E2EE709A}"/>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4" name="Footer Placeholder 3">
            <a:extLst>
              <a:ext uri="{FF2B5EF4-FFF2-40B4-BE49-F238E27FC236}">
                <a16:creationId xmlns="" xmlns:a16="http://schemas.microsoft.com/office/drawing/2014/main" id="{BA56D08D-5D72-FA27-1F8D-5C64ABCCD9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45F4A59E-6F0D-B061-92B8-A4FF538647EF}"/>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2412541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DE378325-122F-EC69-4824-61395A06785A}"/>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3" name="Footer Placeholder 2">
            <a:extLst>
              <a:ext uri="{FF2B5EF4-FFF2-40B4-BE49-F238E27FC236}">
                <a16:creationId xmlns="" xmlns:a16="http://schemas.microsoft.com/office/drawing/2014/main" id="{1AD95076-4CA8-F213-ADD3-003FA4A1A4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A65089A8-7A85-BBEA-C929-0F6281993662}"/>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1007832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F03FBE-0DC6-2BC3-0A51-4988B6AA49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070EE47A-70C8-4257-40A6-7AF4C31305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863B44E1-FFCE-9B36-6A7B-3C6692C848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252A2141-1C55-1198-051B-9EF880A51FF1}"/>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6" name="Footer Placeholder 5">
            <a:extLst>
              <a:ext uri="{FF2B5EF4-FFF2-40B4-BE49-F238E27FC236}">
                <a16:creationId xmlns="" xmlns:a16="http://schemas.microsoft.com/office/drawing/2014/main" id="{5CA6D089-CB3B-CE87-961F-40AC6EAFC0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CC100C1B-69A2-F6F6-F388-F231D175B36B}"/>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1184118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050F95-81C3-FC67-687D-E2446E5F3E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55C7F55A-206E-CD99-05AB-CA87500C39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77D3F1C9-EEDD-19D7-3469-7792F2B394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28BBC7D7-4257-2863-8215-5FF823047972}"/>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6" name="Footer Placeholder 5">
            <a:extLst>
              <a:ext uri="{FF2B5EF4-FFF2-40B4-BE49-F238E27FC236}">
                <a16:creationId xmlns="" xmlns:a16="http://schemas.microsoft.com/office/drawing/2014/main" id="{D9B5A5B1-CE05-44F6-395C-EB646C1E66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1E9BC533-6FA2-71CC-6A20-8A2B1EFA3B9B}"/>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1071402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FB6801-8827-180C-E6CD-63FE26337E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EF1798F6-6149-F27B-83F8-ECEEC4A57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3F10A64-808A-9F51-DE0D-76FAF81FEBA3}"/>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5" name="Footer Placeholder 4">
            <a:extLst>
              <a:ext uri="{FF2B5EF4-FFF2-40B4-BE49-F238E27FC236}">
                <a16:creationId xmlns="" xmlns:a16="http://schemas.microsoft.com/office/drawing/2014/main" id="{843F77C4-45CB-4A75-68D4-F866721BF6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34C3381-1BED-D239-86A0-96EF3BCE1602}"/>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1121302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0F3E6F7-DAD8-B888-0BC7-4852D181BE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9223FDC7-74E1-511D-835B-F56910A470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94692FC6-6774-E123-9EC8-79A92E1FDDF2}"/>
              </a:ext>
            </a:extLst>
          </p:cNvPr>
          <p:cNvSpPr>
            <a:spLocks noGrp="1"/>
          </p:cNvSpPr>
          <p:nvPr>
            <p:ph type="dt" sz="half" idx="10"/>
          </p:nvPr>
        </p:nvSpPr>
        <p:spPr/>
        <p:txBody>
          <a:bodyPr/>
          <a:lstStyle/>
          <a:p>
            <a:fld id="{C5260244-497E-F04A-ACCC-6F4D401534CE}" type="datetimeFigureOut">
              <a:rPr lang="en-US" smtClean="0"/>
              <a:pPr/>
              <a:t>11/29/2025</a:t>
            </a:fld>
            <a:endParaRPr lang="en-US"/>
          </a:p>
        </p:txBody>
      </p:sp>
      <p:sp>
        <p:nvSpPr>
          <p:cNvPr id="5" name="Footer Placeholder 4">
            <a:extLst>
              <a:ext uri="{FF2B5EF4-FFF2-40B4-BE49-F238E27FC236}">
                <a16:creationId xmlns="" xmlns:a16="http://schemas.microsoft.com/office/drawing/2014/main" id="{1B8AEF63-AF51-EE87-1D66-4F07B30FB1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CA2CFB84-3850-1C56-67B4-0FFC881134DC}"/>
              </a:ext>
            </a:extLst>
          </p:cNvPr>
          <p:cNvSpPr>
            <a:spLocks noGrp="1"/>
          </p:cNvSpPr>
          <p:nvPr>
            <p:ph type="sldNum" sz="quarter" idx="12"/>
          </p:nvPr>
        </p:nvSpPr>
        <p:spPr/>
        <p:txBody>
          <a:body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3302478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94A1BE6-6FF6-5832-3601-248F9C4709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4E328612-9467-CBB0-3EA6-EEBF999539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679F9A3-9714-FF8D-153D-2F8305B028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260244-497E-F04A-ACCC-6F4D401534CE}" type="datetimeFigureOut">
              <a:rPr lang="en-US" smtClean="0"/>
              <a:pPr/>
              <a:t>11/29/2025</a:t>
            </a:fld>
            <a:endParaRPr lang="en-US"/>
          </a:p>
        </p:txBody>
      </p:sp>
      <p:sp>
        <p:nvSpPr>
          <p:cNvPr id="5" name="Footer Placeholder 4">
            <a:extLst>
              <a:ext uri="{FF2B5EF4-FFF2-40B4-BE49-F238E27FC236}">
                <a16:creationId xmlns="" xmlns:a16="http://schemas.microsoft.com/office/drawing/2014/main" id="{C1AECD04-753D-0513-1B4B-4F4FA81FF4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 xmlns:a16="http://schemas.microsoft.com/office/drawing/2014/main" id="{230CDCE0-E348-0E85-B822-7B711E7E6E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93651-9B16-DB47-B051-E3E19F55F3C5}" type="slidenum">
              <a:rPr lang="en-US" smtClean="0"/>
              <a:pPr/>
              <a:t>‹#›</a:t>
            </a:fld>
            <a:endParaRPr lang="en-US"/>
          </a:p>
        </p:txBody>
      </p:sp>
    </p:spTree>
    <p:extLst>
      <p:ext uri="{BB962C8B-B14F-4D97-AF65-F5344CB8AC3E}">
        <p14:creationId xmlns="" xmlns:p14="http://schemas.microsoft.com/office/powerpoint/2010/main" val="2601917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toptal.com/developers/javascript-minifier" TargetMode="External"/><Relationship Id="rId2" Type="http://schemas.openxmlformats.org/officeDocument/2006/relationships/hyperlink" Target="https://jsconsole.com/"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beautifytools.com/javascript-obfuscator.php"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utf-8.jp/public/aaencode.html" TargetMode="External"/><Relationship Id="rId2" Type="http://schemas.openxmlformats.org/officeDocument/2006/relationships/hyperlink" Target="https://utf-8.jp/public/jjencode.html" TargetMode="Externa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aemkei" TargetMode="External"/><Relationship Id="rId3" Type="http://schemas.openxmlformats.org/officeDocument/2006/relationships/hyperlink" Target="https://www.cse.psu.edu/~sxz16/papers/malware.pdf" TargetMode="External"/><Relationship Id="rId7" Type="http://schemas.openxmlformats.org/officeDocument/2006/relationships/hyperlink" Target="https://unit42.paloaltonetworks.com/malicious-javascript-using-jsfiretruck-as-obfuscation/" TargetMode="External"/><Relationship Id="rId2" Type="http://schemas.openxmlformats.org/officeDocument/2006/relationships/hyperlink" Target="https://www.devzery.com/post/obfuscate-js" TargetMode="External"/><Relationship Id="rId1" Type="http://schemas.openxmlformats.org/officeDocument/2006/relationships/slideLayout" Target="../slideLayouts/slideLayout2.xml"/><Relationship Id="rId6" Type="http://schemas.openxmlformats.org/officeDocument/2006/relationships/hyperlink" Target="https://www.microsoft.com/en-us/security/blog/2021/11/11/html-smuggling-surges-highly-evasive-loader-technique-increasingly-used-in-banking-malware-targeted-attacks/" TargetMode="External"/><Relationship Id="rId5" Type="http://schemas.openxmlformats.org/officeDocument/2006/relationships/hyperlink" Target="https://tech-zealots.com/malware-analysis/javascript-code-obfuscation-techniques/" TargetMode="External"/><Relationship Id="rId10" Type="http://schemas.openxmlformats.org/officeDocument/2006/relationships/hyperlink" Target="https://utf-8.jp/public/aaencode.html" TargetMode="External"/><Relationship Id="rId4" Type="http://schemas.openxmlformats.org/officeDocument/2006/relationships/hyperlink" Target="https://tryhackme.com/room/obfuscationprinciples" TargetMode="External"/><Relationship Id="rId9" Type="http://schemas.openxmlformats.org/officeDocument/2006/relationships/hyperlink" Target="https://utf-8.jp/public/jjencode.html"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242640-B0CA-9125-5A1C-C1494364D1FC}"/>
              </a:ext>
            </a:extLst>
          </p:cNvPr>
          <p:cNvSpPr>
            <a:spLocks noGrp="1"/>
          </p:cNvSpPr>
          <p:nvPr>
            <p:ph type="ctrTitle"/>
          </p:nvPr>
        </p:nvSpPr>
        <p:spPr>
          <a:xfrm>
            <a:off x="1326506" y="661737"/>
            <a:ext cx="9144000" cy="1970831"/>
          </a:xfrm>
        </p:spPr>
        <p:txBody>
          <a:bodyPr>
            <a:normAutofit fontScale="90000"/>
          </a:bodyPr>
          <a:lstStyle/>
          <a:p>
            <a:r>
              <a:rPr lang="en-US" b="1" dirty="0"/>
              <a:t>JS Obfuscation </a:t>
            </a:r>
            <a:br>
              <a:rPr lang="en-US" b="1" dirty="0"/>
            </a:br>
            <a:r>
              <a:rPr lang="en-US" b="1" dirty="0"/>
              <a:t>Malware’s best friend</a:t>
            </a:r>
            <a:br>
              <a:rPr lang="en-US" b="1" dirty="0"/>
            </a:br>
            <a:endParaRPr lang="en-US" dirty="0"/>
          </a:p>
        </p:txBody>
      </p:sp>
      <p:pic>
        <p:nvPicPr>
          <p:cNvPr id="1026" name="Picture 2">
            <a:extLst>
              <a:ext uri="{FF2B5EF4-FFF2-40B4-BE49-F238E27FC236}">
                <a16:creationId xmlns="" xmlns:a16="http://schemas.microsoft.com/office/drawing/2014/main" id="{300DFF5D-A08E-150C-5EF2-85E66848F2F8}"/>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596093" y="2763653"/>
            <a:ext cx="8798312" cy="2393995"/>
          </a:xfrm>
          <a:prstGeom prst="rect">
            <a:avLst/>
          </a:prstGeom>
          <a:noFill/>
          <a:extLst>
            <a:ext uri="{909E8E84-426E-40DD-AFC4-6F175D3DCCD1}">
              <a14:hiddenFill xmlns="" xmlns:a14="http://schemas.microsoft.com/office/drawing/2010/main">
                <a:solidFill>
                  <a:srgbClr val="FFFFFF"/>
                </a:solidFill>
              </a14:hiddenFill>
            </a:ext>
          </a:extLst>
        </p:spPr>
      </p:pic>
      <p:sp>
        <p:nvSpPr>
          <p:cNvPr id="4" name="TextBox 3"/>
          <p:cNvSpPr txBox="1"/>
          <p:nvPr/>
        </p:nvSpPr>
        <p:spPr>
          <a:xfrm>
            <a:off x="286598" y="5871102"/>
            <a:ext cx="11660760" cy="523220"/>
          </a:xfrm>
          <a:prstGeom prst="rect">
            <a:avLst/>
          </a:prstGeom>
          <a:noFill/>
        </p:spPr>
        <p:txBody>
          <a:bodyPr wrap="square" rtlCol="0">
            <a:spAutoFit/>
          </a:bodyPr>
          <a:lstStyle/>
          <a:p>
            <a:pPr algn="ctr"/>
            <a:r>
              <a:rPr lang="en-IN" sz="1400" b="1" dirty="0" smtClean="0">
                <a:solidFill>
                  <a:srgbClr val="FF0000"/>
                </a:solidFill>
              </a:rPr>
              <a:t>“Everything Published, Talked and/or discussed in this conference is solely based on my personal point of</a:t>
            </a:r>
          </a:p>
          <a:p>
            <a:pPr algn="ctr"/>
            <a:r>
              <a:rPr lang="en-IN" sz="1400" b="1" dirty="0" smtClean="0">
                <a:solidFill>
                  <a:srgbClr val="FF0000"/>
                </a:solidFill>
              </a:rPr>
              <a:t>View, and Does not represent my current, or past employers.” </a:t>
            </a:r>
            <a:endParaRPr lang="en-US" sz="1400" b="1" dirty="0">
              <a:solidFill>
                <a:srgbClr val="FF0000"/>
              </a:solidFill>
            </a:endParaRPr>
          </a:p>
        </p:txBody>
      </p:sp>
    </p:spTree>
    <p:extLst>
      <p:ext uri="{BB962C8B-B14F-4D97-AF65-F5344CB8AC3E}">
        <p14:creationId xmlns="" xmlns:p14="http://schemas.microsoft.com/office/powerpoint/2010/main" val="19479632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307" y="236171"/>
            <a:ext cx="10515600" cy="1325563"/>
          </a:xfrm>
        </p:spPr>
        <p:txBody>
          <a:bodyPr/>
          <a:lstStyle/>
          <a:p>
            <a:pPr algn="r"/>
            <a:r>
              <a:rPr lang="en-IN" dirty="0" smtClean="0"/>
              <a:t>Next 60 </a:t>
            </a:r>
            <a:r>
              <a:rPr lang="en-IN" dirty="0" err="1" smtClean="0"/>
              <a:t>Mins</a:t>
            </a:r>
            <a:r>
              <a:rPr lang="en-IN" dirty="0" smtClean="0"/>
              <a:t> !</a:t>
            </a:r>
            <a:endParaRPr lang="en-US" dirty="0"/>
          </a:p>
        </p:txBody>
      </p:sp>
      <p:sp>
        <p:nvSpPr>
          <p:cNvPr id="3" name="Content Placeholder 2"/>
          <p:cNvSpPr>
            <a:spLocks noGrp="1"/>
          </p:cNvSpPr>
          <p:nvPr>
            <p:ph idx="1"/>
          </p:nvPr>
        </p:nvSpPr>
        <p:spPr/>
        <p:txBody>
          <a:bodyPr/>
          <a:lstStyle/>
          <a:p>
            <a:r>
              <a:rPr lang="en-IN" b="1" dirty="0" smtClean="0"/>
              <a:t>Introduction</a:t>
            </a:r>
          </a:p>
          <a:p>
            <a:r>
              <a:rPr lang="en-US" b="1" dirty="0" smtClean="0"/>
              <a:t>JS Code Obfuscation</a:t>
            </a:r>
          </a:p>
          <a:p>
            <a:r>
              <a:rPr lang="en-US" b="1" dirty="0" smtClean="0"/>
              <a:t>4 Techniques</a:t>
            </a:r>
          </a:p>
          <a:p>
            <a:r>
              <a:rPr lang="en-IN" b="1" dirty="0" smtClean="0"/>
              <a:t>Demo Basic </a:t>
            </a:r>
            <a:r>
              <a:rPr lang="en-US" b="1" dirty="0" smtClean="0"/>
              <a:t>Obfuscation</a:t>
            </a:r>
          </a:p>
          <a:p>
            <a:r>
              <a:rPr lang="en-IN" b="1" dirty="0" smtClean="0"/>
              <a:t>Demo Advanced </a:t>
            </a:r>
            <a:r>
              <a:rPr lang="en-US" b="1" dirty="0" smtClean="0"/>
              <a:t>Obfuscation</a:t>
            </a:r>
          </a:p>
          <a:p>
            <a:r>
              <a:rPr lang="en-US" b="1" dirty="0" smtClean="0"/>
              <a:t>JS Code de-obfuscation</a:t>
            </a:r>
          </a:p>
          <a:p>
            <a:r>
              <a:rPr lang="en-IN" b="1" dirty="0" smtClean="0"/>
              <a:t>Demo De-</a:t>
            </a:r>
            <a:r>
              <a:rPr lang="en-US" b="1" dirty="0" smtClean="0"/>
              <a:t>obfuscation</a:t>
            </a:r>
          </a:p>
          <a:p>
            <a:r>
              <a:rPr lang="en-IN" b="1" dirty="0" smtClean="0"/>
              <a:t>JS </a:t>
            </a:r>
            <a:r>
              <a:rPr lang="en-IN" b="1" smtClean="0"/>
              <a:t>obfuscation Examples</a:t>
            </a:r>
            <a:endParaRPr lang="en-US" dirty="0" smtClean="0"/>
          </a:p>
          <a:p>
            <a:endParaRPr lang="en-US" b="1" dirty="0" smtClean="0"/>
          </a:p>
          <a:p>
            <a:endParaRPr lang="en-IN" b="1"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CA066D2-383A-DAAA-9A26-CBD667A58204}"/>
              </a:ext>
            </a:extLst>
          </p:cNvPr>
          <p:cNvSpPr>
            <a:spLocks noGrp="1"/>
          </p:cNvSpPr>
          <p:nvPr>
            <p:ph idx="1"/>
          </p:nvPr>
        </p:nvSpPr>
        <p:spPr>
          <a:xfrm>
            <a:off x="211873" y="189571"/>
            <a:ext cx="11820293" cy="6423102"/>
          </a:xfrm>
        </p:spPr>
        <p:txBody>
          <a:bodyPr>
            <a:normAutofit/>
          </a:bodyPr>
          <a:lstStyle/>
          <a:p>
            <a:pPr marL="0" indent="0">
              <a:buNone/>
            </a:pPr>
            <a:r>
              <a:rPr lang="en-US" b="1" dirty="0" smtClean="0"/>
              <a:t>Introduction</a:t>
            </a:r>
            <a:r>
              <a:rPr lang="en-US" dirty="0" smtClean="0"/>
              <a:t>: </a:t>
            </a:r>
            <a:r>
              <a:rPr lang="en-US" dirty="0"/>
              <a:t>A Double-Edged Sword</a:t>
            </a:r>
          </a:p>
          <a:p>
            <a:pPr marL="0" indent="0">
              <a:buNone/>
            </a:pPr>
            <a:r>
              <a:rPr lang="en-US" dirty="0"/>
              <a:t>Origin:</a:t>
            </a:r>
          </a:p>
          <a:p>
            <a:pPr marL="0" indent="0">
              <a:buNone/>
            </a:pPr>
            <a:r>
              <a:rPr lang="en-US" sz="1600" dirty="0"/>
              <a:t>The word "obfuscation" originates from the Latin verb </a:t>
            </a:r>
            <a:r>
              <a:rPr lang="en-US" sz="1600" dirty="0" err="1"/>
              <a:t>obfuscare</a:t>
            </a:r>
            <a:r>
              <a:rPr lang="en-US" sz="1600" dirty="0"/>
              <a:t>, meaning "</a:t>
            </a:r>
            <a:r>
              <a:rPr lang="en-US" sz="1600" b="1" dirty="0"/>
              <a:t>to darken</a:t>
            </a:r>
            <a:r>
              <a:rPr lang="en-US" sz="1600" dirty="0"/>
              <a:t>”.</a:t>
            </a:r>
            <a:endParaRPr lang="en-US" b="1" dirty="0"/>
          </a:p>
          <a:p>
            <a:pPr marL="0" indent="0">
              <a:buNone/>
            </a:pPr>
            <a:r>
              <a:rPr lang="en-US" sz="1600" dirty="0"/>
              <a:t>Process of making something difficult to understand, This technique has both </a:t>
            </a:r>
            <a:br>
              <a:rPr lang="en-US" sz="1600" dirty="0"/>
            </a:br>
            <a:r>
              <a:rPr lang="en-US" sz="1600" b="1" dirty="0"/>
              <a:t>legitimate and malicious applications.</a:t>
            </a:r>
          </a:p>
          <a:p>
            <a:pPr marL="0" indent="0">
              <a:buNone/>
            </a:pPr>
            <a:r>
              <a:rPr lang="en-US" sz="1600" dirty="0"/>
              <a:t/>
            </a:r>
            <a:br>
              <a:rPr lang="en-US" sz="1600" dirty="0"/>
            </a:br>
            <a:r>
              <a:rPr lang="en-US" sz="2000" dirty="0"/>
              <a:t>Legitimate Uses:</a:t>
            </a:r>
          </a:p>
          <a:p>
            <a:pPr marL="0" indent="0">
              <a:buNone/>
            </a:pPr>
            <a:r>
              <a:rPr lang="en-US" sz="1600" b="1" dirty="0"/>
              <a:t>Preventing Spam and Phishing: </a:t>
            </a:r>
            <a:r>
              <a:rPr lang="en-US" sz="1600" dirty="0"/>
              <a:t>Obfuscating email addresses or sensitive </a:t>
            </a:r>
            <a:br>
              <a:rPr lang="en-US" sz="1600" dirty="0"/>
            </a:br>
            <a:r>
              <a:rPr lang="en-US" sz="1600" dirty="0"/>
              <a:t>information can deter automated scrapers and spammers.</a:t>
            </a:r>
          </a:p>
          <a:p>
            <a:pPr marL="0" indent="0">
              <a:buNone/>
            </a:pPr>
            <a:r>
              <a:rPr lang="en-US" sz="1600" b="1" dirty="0"/>
              <a:t>Protecting Intellectual Property: </a:t>
            </a:r>
            <a:r>
              <a:rPr lang="en-US" sz="1600" dirty="0"/>
              <a:t>Making code harder to reverse-engineer helps </a:t>
            </a:r>
            <a:br>
              <a:rPr lang="en-US" sz="1600" dirty="0"/>
            </a:br>
            <a:r>
              <a:rPr lang="en-US" sz="1600" dirty="0"/>
              <a:t>safeguard proprietary algorithms and software.</a:t>
            </a:r>
          </a:p>
          <a:p>
            <a:pPr marL="0" indent="0">
              <a:buNone/>
            </a:pPr>
            <a:r>
              <a:rPr lang="en-US" sz="1600" b="1" dirty="0"/>
              <a:t>Preventing Tampering and Cheating: </a:t>
            </a:r>
            <a:r>
              <a:rPr lang="en-US" sz="1600" dirty="0"/>
              <a:t>In online gaming or secure systems, </a:t>
            </a:r>
            <a:br>
              <a:rPr lang="en-US" sz="1600" dirty="0"/>
            </a:br>
            <a:r>
              <a:rPr lang="en-US" sz="1600" dirty="0"/>
              <a:t>obfuscation can make it more challenging to modify data or exploit vulnerabilities.</a:t>
            </a:r>
            <a:br>
              <a:rPr lang="en-US" sz="1600" dirty="0"/>
            </a:br>
            <a:endParaRPr lang="en-US" sz="1600" dirty="0"/>
          </a:p>
          <a:p>
            <a:pPr marL="0" indent="0">
              <a:buNone/>
            </a:pPr>
            <a:r>
              <a:rPr lang="en-US" sz="2000" dirty="0"/>
              <a:t>Malicious Uses:</a:t>
            </a:r>
          </a:p>
          <a:p>
            <a:pPr marL="0" indent="0">
              <a:buNone/>
            </a:pPr>
            <a:r>
              <a:rPr lang="en-US" sz="1600" b="1" dirty="0"/>
              <a:t>Hiding Malicious Intent: </a:t>
            </a:r>
            <a:r>
              <a:rPr lang="en-US" sz="1600" dirty="0"/>
              <a:t>Malware authors use obfuscation to disguise the true purpose </a:t>
            </a:r>
            <a:br>
              <a:rPr lang="en-US" sz="1600" dirty="0"/>
            </a:br>
            <a:r>
              <a:rPr lang="en-US" sz="1600" dirty="0"/>
              <a:t>of their code, making it harder for humans and security tools to analyze.</a:t>
            </a:r>
          </a:p>
          <a:p>
            <a:pPr marL="0" indent="0">
              <a:buNone/>
            </a:pPr>
            <a:r>
              <a:rPr lang="en-US" sz="1600" b="1" dirty="0"/>
              <a:t>Evading Antivirus (AV) and Security Tools: </a:t>
            </a:r>
            <a:r>
              <a:rPr lang="en-US" sz="1600" dirty="0"/>
              <a:t>By altering the appearance of their code, </a:t>
            </a:r>
            <a:br>
              <a:rPr lang="en-US" sz="1600" dirty="0"/>
            </a:br>
            <a:r>
              <a:rPr lang="en-US" sz="1600" dirty="0"/>
              <a:t>malware can bypass signature-based detection and sandbox analysis.</a:t>
            </a:r>
          </a:p>
        </p:txBody>
      </p:sp>
      <p:pic>
        <p:nvPicPr>
          <p:cNvPr id="4" name="Picture 3">
            <a:extLst>
              <a:ext uri="{FF2B5EF4-FFF2-40B4-BE49-F238E27FC236}">
                <a16:creationId xmlns="" xmlns:a16="http://schemas.microsoft.com/office/drawing/2014/main" id="{F42E72C2-31DC-986F-A4C1-8909DDE51CD8}"/>
              </a:ext>
            </a:extLst>
          </p:cNvPr>
          <p:cNvPicPr>
            <a:picLocks noChangeAspect="1"/>
          </p:cNvPicPr>
          <p:nvPr/>
        </p:nvPicPr>
        <p:blipFill>
          <a:blip r:embed="rId2"/>
          <a:stretch>
            <a:fillRect/>
          </a:stretch>
        </p:blipFill>
        <p:spPr>
          <a:xfrm>
            <a:off x="8455339" y="537526"/>
            <a:ext cx="3422239" cy="5727191"/>
          </a:xfrm>
          <a:prstGeom prst="rect">
            <a:avLst/>
          </a:prstGeom>
        </p:spPr>
      </p:pic>
      <p:sp>
        <p:nvSpPr>
          <p:cNvPr id="6" name="TextBox 5">
            <a:extLst>
              <a:ext uri="{FF2B5EF4-FFF2-40B4-BE49-F238E27FC236}">
                <a16:creationId xmlns="" xmlns:a16="http://schemas.microsoft.com/office/drawing/2014/main" id="{0EAFCB0D-1232-B1C7-E388-C3E911CE2379}"/>
              </a:ext>
            </a:extLst>
          </p:cNvPr>
          <p:cNvSpPr txBox="1"/>
          <p:nvPr/>
        </p:nvSpPr>
        <p:spPr>
          <a:xfrm>
            <a:off x="8218448" y="6458783"/>
            <a:ext cx="6099716" cy="307777"/>
          </a:xfrm>
          <a:prstGeom prst="rect">
            <a:avLst/>
          </a:prstGeom>
          <a:noFill/>
        </p:spPr>
        <p:txBody>
          <a:bodyPr wrap="square">
            <a:spAutoFit/>
          </a:bodyPr>
          <a:lstStyle/>
          <a:p>
            <a:r>
              <a:rPr lang="en-US" sz="1400" b="1" dirty="0"/>
              <a:t>https://</a:t>
            </a:r>
            <a:r>
              <a:rPr lang="en-US" sz="1400" b="1" dirty="0" err="1"/>
              <a:t>attack.mitre.org</a:t>
            </a:r>
            <a:r>
              <a:rPr lang="en-US" sz="1400" b="1" dirty="0"/>
              <a:t>/techniques/T1027/</a:t>
            </a:r>
          </a:p>
        </p:txBody>
      </p:sp>
    </p:spTree>
    <p:extLst>
      <p:ext uri="{BB962C8B-B14F-4D97-AF65-F5344CB8AC3E}">
        <p14:creationId xmlns="" xmlns:p14="http://schemas.microsoft.com/office/powerpoint/2010/main" val="9419286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CC32CE-CC87-CC8D-3BBF-3C7830BD2BD0}"/>
              </a:ext>
            </a:extLst>
          </p:cNvPr>
          <p:cNvSpPr>
            <a:spLocks noGrp="1"/>
          </p:cNvSpPr>
          <p:nvPr>
            <p:ph type="title"/>
          </p:nvPr>
        </p:nvSpPr>
        <p:spPr>
          <a:xfrm>
            <a:off x="189571" y="0"/>
            <a:ext cx="11164229" cy="546411"/>
          </a:xfrm>
        </p:spPr>
        <p:txBody>
          <a:bodyPr>
            <a:normAutofit/>
          </a:bodyPr>
          <a:lstStyle/>
          <a:p>
            <a:r>
              <a:rPr lang="en-US" sz="3200" b="1" dirty="0"/>
              <a:t>JS Code Obfuscation Techniques Malware Delivery</a:t>
            </a:r>
            <a:endParaRPr lang="en-US" sz="3200" dirty="0"/>
          </a:p>
        </p:txBody>
      </p:sp>
      <p:sp>
        <p:nvSpPr>
          <p:cNvPr id="3" name="Content Placeholder 2">
            <a:extLst>
              <a:ext uri="{FF2B5EF4-FFF2-40B4-BE49-F238E27FC236}">
                <a16:creationId xmlns="" xmlns:a16="http://schemas.microsoft.com/office/drawing/2014/main" id="{DCFBC48D-0D45-CA20-CE37-1EAD941F280F}"/>
              </a:ext>
            </a:extLst>
          </p:cNvPr>
          <p:cNvSpPr>
            <a:spLocks noGrp="1"/>
          </p:cNvSpPr>
          <p:nvPr>
            <p:ph idx="1"/>
          </p:nvPr>
        </p:nvSpPr>
        <p:spPr>
          <a:xfrm>
            <a:off x="111512" y="680224"/>
            <a:ext cx="11954107" cy="6066262"/>
          </a:xfrm>
        </p:spPr>
        <p:txBody>
          <a:bodyPr>
            <a:normAutofit/>
          </a:bodyPr>
          <a:lstStyle/>
          <a:p>
            <a:pPr marL="0" indent="0">
              <a:buNone/>
            </a:pPr>
            <a:r>
              <a:rPr lang="en-US" sz="2000" dirty="0"/>
              <a:t>4 category in JS code obfuscation namely </a:t>
            </a:r>
            <a:r>
              <a:rPr lang="en-US" sz="2000" b="1" dirty="0"/>
              <a:t>Randomization, Data, Encoding and Logic Obfuscation.</a:t>
            </a:r>
            <a:endParaRPr lang="en-US" sz="2000" dirty="0"/>
          </a:p>
          <a:p>
            <a:pPr marL="0" indent="0">
              <a:lnSpc>
                <a:spcPct val="150000"/>
              </a:lnSpc>
              <a:buNone/>
            </a:pPr>
            <a:r>
              <a:rPr lang="en-US" sz="1600" dirty="0"/>
              <a:t>1) </a:t>
            </a:r>
            <a:r>
              <a:rPr lang="en-US" sz="1600" b="1" dirty="0"/>
              <a:t>Randomization Obfuscation: </a:t>
            </a:r>
            <a:r>
              <a:rPr lang="en-US" sz="1600" dirty="0"/>
              <a:t>is a technique where attackers randomly insert or change some elements of the JavaScript code</a:t>
            </a:r>
            <a:br>
              <a:rPr lang="en-US" sz="1600" dirty="0"/>
            </a:br>
            <a:r>
              <a:rPr lang="en-US" sz="1600" dirty="0"/>
              <a:t> without changing the semantics of the code. Some of the techniques include:</a:t>
            </a:r>
          </a:p>
          <a:p>
            <a:r>
              <a:rPr lang="en-US" sz="1600" dirty="0"/>
              <a:t>Whitespace, Comments Randomization </a:t>
            </a:r>
          </a:p>
          <a:p>
            <a:r>
              <a:rPr lang="en-US" sz="1600" dirty="0"/>
              <a:t>Variable and Function Names Randomization</a:t>
            </a:r>
            <a:br>
              <a:rPr lang="en-US" sz="1600" dirty="0"/>
            </a:br>
            <a:endParaRPr lang="en-US" sz="1600" dirty="0"/>
          </a:p>
          <a:p>
            <a:pPr marL="0" indent="0">
              <a:buNone/>
            </a:pPr>
            <a:endParaRPr lang="en-US" sz="1600" dirty="0"/>
          </a:p>
        </p:txBody>
      </p:sp>
      <p:graphicFrame>
        <p:nvGraphicFramePr>
          <p:cNvPr id="4" name="Table 3">
            <a:extLst>
              <a:ext uri="{FF2B5EF4-FFF2-40B4-BE49-F238E27FC236}">
                <a16:creationId xmlns="" xmlns:a16="http://schemas.microsoft.com/office/drawing/2014/main" id="{323CDEA0-44C9-4D24-503F-E613C13BE287}"/>
              </a:ext>
            </a:extLst>
          </p:cNvPr>
          <p:cNvGraphicFramePr>
            <a:graphicFrameLocks noGrp="1"/>
          </p:cNvGraphicFramePr>
          <p:nvPr>
            <p:extLst>
              <p:ext uri="{D42A27DB-BD31-4B8C-83A1-F6EECF244321}">
                <p14:modId xmlns="" xmlns:p14="http://schemas.microsoft.com/office/powerpoint/2010/main" val="3515609621"/>
              </p:ext>
            </p:extLst>
          </p:nvPr>
        </p:nvGraphicFramePr>
        <p:xfrm>
          <a:off x="1639229" y="2610524"/>
          <a:ext cx="10245890" cy="4096532"/>
        </p:xfrm>
        <a:graphic>
          <a:graphicData uri="http://schemas.openxmlformats.org/drawingml/2006/table">
            <a:tbl>
              <a:tblPr firstRow="1" bandRow="1">
                <a:tableStyleId>{5C22544A-7EE6-4342-B048-85BDC9FD1C3A}</a:tableStyleId>
              </a:tblPr>
              <a:tblGrid>
                <a:gridCol w="3732530">
                  <a:extLst>
                    <a:ext uri="{9D8B030D-6E8A-4147-A177-3AD203B41FA5}">
                      <a16:colId xmlns="" xmlns:a16="http://schemas.microsoft.com/office/drawing/2014/main" val="3380798077"/>
                    </a:ext>
                  </a:extLst>
                </a:gridCol>
                <a:gridCol w="6513360">
                  <a:extLst>
                    <a:ext uri="{9D8B030D-6E8A-4147-A177-3AD203B41FA5}">
                      <a16:colId xmlns="" xmlns:a16="http://schemas.microsoft.com/office/drawing/2014/main" val="2676046125"/>
                    </a:ext>
                  </a:extLst>
                </a:gridCol>
              </a:tblGrid>
              <a:tr h="438932">
                <a:tc>
                  <a:txBody>
                    <a:bodyPr/>
                    <a:lstStyle/>
                    <a:p>
                      <a:r>
                        <a:rPr lang="en-US" dirty="0"/>
                        <a:t>Clean JS Code</a:t>
                      </a:r>
                    </a:p>
                  </a:txBody>
                  <a:tcPr/>
                </a:tc>
                <a:tc>
                  <a:txBody>
                    <a:bodyPr/>
                    <a:lstStyle/>
                    <a:p>
                      <a:r>
                        <a:rPr lang="en-US" sz="1800" b="1" dirty="0"/>
                        <a:t>Randomization </a:t>
                      </a:r>
                      <a:r>
                        <a:rPr lang="en-US" dirty="0"/>
                        <a:t>Obfuscated JS Code</a:t>
                      </a:r>
                    </a:p>
                  </a:txBody>
                  <a:tcPr/>
                </a:tc>
                <a:extLst>
                  <a:ext uri="{0D108BD9-81ED-4DB2-BD59-A6C34878D82A}">
                    <a16:rowId xmlns="" xmlns:a16="http://schemas.microsoft.com/office/drawing/2014/main" val="111876566"/>
                  </a:ext>
                </a:extLst>
              </a:tr>
              <a:tr h="3607822">
                <a:tc>
                  <a:txBody>
                    <a:bodyPr/>
                    <a:lstStyle/>
                    <a:p>
                      <a:endParaRPr lang="en-US" dirty="0"/>
                    </a:p>
                    <a:p>
                      <a:r>
                        <a:rPr lang="en-US" dirty="0"/>
                        <a:t>function add(a, b) {</a:t>
                      </a:r>
                    </a:p>
                    <a:p>
                      <a:r>
                        <a:rPr lang="en-US" dirty="0"/>
                        <a:t>    return a + b;</a:t>
                      </a:r>
                    </a:p>
                    <a:p>
                      <a:r>
                        <a:rPr lang="en-US" dirty="0"/>
                        <a:t>}</a:t>
                      </a:r>
                    </a:p>
                    <a:p>
                      <a:endParaRPr lang="en-US" dirty="0"/>
                    </a:p>
                    <a:p>
                      <a:r>
                        <a:rPr lang="en-US" dirty="0" err="1"/>
                        <a:t>console.log</a:t>
                      </a:r>
                      <a:r>
                        <a:rPr lang="en-US" dirty="0"/>
                        <a:t>(add("security", "sync"));</a:t>
                      </a:r>
                    </a:p>
                  </a:txBody>
                  <a:tcPr/>
                </a:tc>
                <a:tc>
                  <a:txBody>
                    <a:bodyPr/>
                    <a:lstStyle/>
                    <a:p>
                      <a:r>
                        <a:rPr lang="en-US" dirty="0"/>
                        <a:t>//   </a:t>
                      </a:r>
                      <a:r>
                        <a:rPr lang="en-US" dirty="0" err="1"/>
                        <a:t>rAnDoM</a:t>
                      </a:r>
                      <a:r>
                        <a:rPr lang="en-US" dirty="0"/>
                        <a:t>   </a:t>
                      </a:r>
                      <a:r>
                        <a:rPr lang="en-US" dirty="0" err="1"/>
                        <a:t>CoMmEnT</a:t>
                      </a:r>
                      <a:r>
                        <a:rPr lang="en-US" dirty="0"/>
                        <a:t> :   combining words ... or are we? 🤔</a:t>
                      </a:r>
                    </a:p>
                    <a:p>
                      <a:endParaRPr lang="en-US" dirty="0"/>
                    </a:p>
                    <a:p>
                      <a:r>
                        <a:rPr lang="en-US" dirty="0"/>
                        <a:t>function     </a:t>
                      </a:r>
                      <a:r>
                        <a:rPr lang="en-US" dirty="0" err="1"/>
                        <a:t>XyZpQ</a:t>
                      </a:r>
                      <a:r>
                        <a:rPr lang="en-US" dirty="0"/>
                        <a:t>   ( S1 ,     S2 ) {</a:t>
                      </a:r>
                    </a:p>
                    <a:p>
                      <a:endParaRPr lang="en-US" dirty="0"/>
                    </a:p>
                    <a:p>
                      <a:r>
                        <a:rPr lang="en-US" dirty="0"/>
                        <a:t>        // </a:t>
                      </a:r>
                      <a:r>
                        <a:rPr lang="en-US" dirty="0" err="1"/>
                        <a:t>aNoThEr</a:t>
                      </a:r>
                      <a:r>
                        <a:rPr lang="en-US" dirty="0"/>
                        <a:t>   </a:t>
                      </a:r>
                      <a:r>
                        <a:rPr lang="en-US" dirty="0" err="1"/>
                        <a:t>CoMmEnT</a:t>
                      </a:r>
                      <a:r>
                        <a:rPr lang="en-US" dirty="0"/>
                        <a:t>     that means nothing!</a:t>
                      </a:r>
                    </a:p>
                    <a:p>
                      <a:r>
                        <a:rPr lang="en-US" dirty="0"/>
                        <a:t>        let    temp      =   "us" + "</a:t>
                      </a:r>
                      <a:r>
                        <a:rPr lang="en-US" dirty="0" err="1"/>
                        <a:t>eless</a:t>
                      </a:r>
                      <a:r>
                        <a:rPr lang="en-US" dirty="0"/>
                        <a:t>";  // junk code</a:t>
                      </a:r>
                    </a:p>
                    <a:p>
                      <a:r>
                        <a:rPr lang="en-US" dirty="0"/>
                        <a:t>            let    </a:t>
                      </a:r>
                      <a:r>
                        <a:rPr lang="en-US" dirty="0" err="1"/>
                        <a:t>ReS</a:t>
                      </a:r>
                      <a:r>
                        <a:rPr lang="en-US" dirty="0"/>
                        <a:t>   = S1    </a:t>
                      </a:r>
                    </a:p>
                    <a:p>
                      <a:r>
                        <a:rPr lang="en-US" dirty="0"/>
                        <a:t>                    +      S2   ;   //    random    spacing</a:t>
                      </a:r>
                    </a:p>
                    <a:p>
                      <a:r>
                        <a:rPr lang="en-US" dirty="0"/>
                        <a:t>// return value.... maybe? 😉</a:t>
                      </a:r>
                    </a:p>
                    <a:p>
                      <a:r>
                        <a:rPr lang="en-US" dirty="0"/>
                        <a:t>                return         </a:t>
                      </a:r>
                      <a:r>
                        <a:rPr lang="en-US" dirty="0" err="1"/>
                        <a:t>ReS</a:t>
                      </a:r>
                      <a:r>
                        <a:rPr lang="en-US" dirty="0"/>
                        <a:t> ;</a:t>
                      </a:r>
                    </a:p>
                    <a:p>
                      <a:r>
                        <a:rPr lang="en-US" dirty="0"/>
                        <a:t>}</a:t>
                      </a:r>
                    </a:p>
                    <a:p>
                      <a:r>
                        <a:rPr lang="en-US" dirty="0"/>
                        <a:t>//     </a:t>
                      </a:r>
                      <a:r>
                        <a:rPr lang="en-US" dirty="0" err="1"/>
                        <a:t>weIrD</a:t>
                      </a:r>
                      <a:r>
                        <a:rPr lang="en-US" dirty="0"/>
                        <a:t>      </a:t>
                      </a:r>
                      <a:r>
                        <a:rPr lang="en-US" dirty="0" err="1"/>
                        <a:t>CoMmEnT</a:t>
                      </a:r>
                      <a:r>
                        <a:rPr lang="en-US" dirty="0"/>
                        <a:t>    </a:t>
                      </a:r>
                      <a:r>
                        <a:rPr lang="en-US" dirty="0" err="1"/>
                        <a:t>wiTh</a:t>
                      </a:r>
                      <a:r>
                        <a:rPr lang="en-US" dirty="0"/>
                        <a:t>    </a:t>
                      </a:r>
                      <a:r>
                        <a:rPr lang="en-US" dirty="0" err="1"/>
                        <a:t>SpAcEs</a:t>
                      </a:r>
                      <a:endParaRPr lang="en-US" dirty="0"/>
                    </a:p>
                    <a:p>
                      <a:r>
                        <a:rPr lang="en-US" dirty="0" err="1"/>
                        <a:t>console.log</a:t>
                      </a:r>
                      <a:r>
                        <a:rPr lang="en-US" dirty="0"/>
                        <a:t>(     </a:t>
                      </a:r>
                      <a:r>
                        <a:rPr lang="en-US" dirty="0" err="1"/>
                        <a:t>XyZpQ</a:t>
                      </a:r>
                      <a:r>
                        <a:rPr lang="en-US" dirty="0"/>
                        <a:t>("security" ,     "sync")       );</a:t>
                      </a:r>
                    </a:p>
                  </a:txBody>
                  <a:tcPr/>
                </a:tc>
                <a:extLst>
                  <a:ext uri="{0D108BD9-81ED-4DB2-BD59-A6C34878D82A}">
                    <a16:rowId xmlns="" xmlns:a16="http://schemas.microsoft.com/office/drawing/2014/main" val="3176829684"/>
                  </a:ext>
                </a:extLst>
              </a:tr>
            </a:tbl>
          </a:graphicData>
        </a:graphic>
      </p:graphicFrame>
    </p:spTree>
    <p:extLst>
      <p:ext uri="{BB962C8B-B14F-4D97-AF65-F5344CB8AC3E}">
        <p14:creationId xmlns="" xmlns:p14="http://schemas.microsoft.com/office/powerpoint/2010/main" val="36699218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A072B71-AECB-7032-75F7-61D71E296869}"/>
              </a:ext>
            </a:extLst>
          </p:cNvPr>
          <p:cNvSpPr>
            <a:spLocks noGrp="1"/>
          </p:cNvSpPr>
          <p:nvPr>
            <p:ph idx="1"/>
          </p:nvPr>
        </p:nvSpPr>
        <p:spPr>
          <a:xfrm>
            <a:off x="122663" y="200722"/>
            <a:ext cx="11965259" cy="6556917"/>
          </a:xfrm>
        </p:spPr>
        <p:txBody>
          <a:bodyPr/>
          <a:lstStyle/>
          <a:p>
            <a:pPr marL="0" indent="0">
              <a:buNone/>
            </a:pPr>
            <a:endParaRPr lang="en-US" sz="1600" dirty="0"/>
          </a:p>
          <a:p>
            <a:pPr marL="0" indent="0">
              <a:lnSpc>
                <a:spcPct val="150000"/>
              </a:lnSpc>
              <a:buNone/>
            </a:pPr>
            <a:r>
              <a:rPr lang="en-US" sz="1600" dirty="0"/>
              <a:t>2) </a:t>
            </a:r>
            <a:r>
              <a:rPr lang="en-US" sz="1600" b="1" dirty="0"/>
              <a:t>Data Obfuscation</a:t>
            </a:r>
            <a:r>
              <a:rPr lang="en-US" sz="1600" dirty="0"/>
              <a:t>: is a form of data masking where the data is purposely scrambled so that it becomes very difficult for a person to understand the semantics of the code</a:t>
            </a:r>
          </a:p>
          <a:p>
            <a:r>
              <a:rPr lang="en-US" sz="1600" dirty="0"/>
              <a:t>String </a:t>
            </a:r>
          </a:p>
          <a:p>
            <a:r>
              <a:rPr lang="en-US" sz="1600" dirty="0"/>
              <a:t>Number</a:t>
            </a:r>
            <a:r>
              <a:rPr lang="en-US" dirty="0"/>
              <a:t/>
            </a:r>
            <a:br>
              <a:rPr lang="en-US" dirty="0"/>
            </a:br>
            <a:endParaRPr lang="en-US" dirty="0"/>
          </a:p>
          <a:p>
            <a:pPr marL="0" indent="0">
              <a:buNone/>
            </a:pPr>
            <a:endParaRPr lang="en-US" dirty="0"/>
          </a:p>
        </p:txBody>
      </p:sp>
      <p:graphicFrame>
        <p:nvGraphicFramePr>
          <p:cNvPr id="6" name="Table 5">
            <a:extLst>
              <a:ext uri="{FF2B5EF4-FFF2-40B4-BE49-F238E27FC236}">
                <a16:creationId xmlns="" xmlns:a16="http://schemas.microsoft.com/office/drawing/2014/main" id="{675D135F-D62F-320A-5904-EFA90FCD8A8C}"/>
              </a:ext>
            </a:extLst>
          </p:cNvPr>
          <p:cNvGraphicFramePr>
            <a:graphicFrameLocks noGrp="1"/>
          </p:cNvGraphicFramePr>
          <p:nvPr>
            <p:extLst>
              <p:ext uri="{D42A27DB-BD31-4B8C-83A1-F6EECF244321}">
                <p14:modId xmlns="" xmlns:p14="http://schemas.microsoft.com/office/powerpoint/2010/main" val="439940798"/>
              </p:ext>
            </p:extLst>
          </p:nvPr>
        </p:nvGraphicFramePr>
        <p:xfrm>
          <a:off x="380379" y="2135871"/>
          <a:ext cx="11449826" cy="3792585"/>
        </p:xfrm>
        <a:graphic>
          <a:graphicData uri="http://schemas.openxmlformats.org/drawingml/2006/table">
            <a:tbl>
              <a:tblPr firstRow="1" bandRow="1">
                <a:tableStyleId>{5C22544A-7EE6-4342-B048-85BDC9FD1C3A}</a:tableStyleId>
              </a:tblPr>
              <a:tblGrid>
                <a:gridCol w="5724913">
                  <a:extLst>
                    <a:ext uri="{9D8B030D-6E8A-4147-A177-3AD203B41FA5}">
                      <a16:colId xmlns="" xmlns:a16="http://schemas.microsoft.com/office/drawing/2014/main" val="3079092808"/>
                    </a:ext>
                  </a:extLst>
                </a:gridCol>
                <a:gridCol w="5724913">
                  <a:extLst>
                    <a:ext uri="{9D8B030D-6E8A-4147-A177-3AD203B41FA5}">
                      <a16:colId xmlns="" xmlns:a16="http://schemas.microsoft.com/office/drawing/2014/main" val="1433292114"/>
                    </a:ext>
                  </a:extLst>
                </a:gridCol>
              </a:tblGrid>
              <a:tr h="428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Clean JS Code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Data Obfuscation</a:t>
                      </a:r>
                      <a:r>
                        <a:rPr lang="en-US" dirty="0"/>
                        <a:t> JS Code</a:t>
                      </a:r>
                    </a:p>
                  </a:txBody>
                  <a:tcPr/>
                </a:tc>
                <a:extLst>
                  <a:ext uri="{0D108BD9-81ED-4DB2-BD59-A6C34878D82A}">
                    <a16:rowId xmlns="" xmlns:a16="http://schemas.microsoft.com/office/drawing/2014/main" val="3785689348"/>
                  </a:ext>
                </a:extLst>
              </a:tr>
              <a:tr h="1681838">
                <a:tc>
                  <a:txBody>
                    <a:bodyPr/>
                    <a:lstStyle/>
                    <a:p>
                      <a:r>
                        <a:rPr lang="en-US" dirty="0"/>
                        <a:t>let message = ”Security Sync";</a:t>
                      </a:r>
                    </a:p>
                    <a:p>
                      <a:r>
                        <a:rPr lang="en-US" dirty="0" err="1"/>
                        <a:t>console.log</a:t>
                      </a:r>
                      <a:r>
                        <a:rPr lang="en-US" dirty="0"/>
                        <a:t>(message);</a:t>
                      </a:r>
                    </a:p>
                    <a:p>
                      <a:endParaRPr lang="en-US" dirty="0"/>
                    </a:p>
                  </a:txBody>
                  <a:tcPr/>
                </a:tc>
                <a:tc>
                  <a:txBody>
                    <a:bodyPr/>
                    <a:lstStyle/>
                    <a:p>
                      <a:r>
                        <a:rPr lang="en-US" dirty="0"/>
                        <a:t>// String is hidden in pieces</a:t>
                      </a:r>
                    </a:p>
                    <a:p>
                      <a:r>
                        <a:rPr lang="en-US" dirty="0"/>
                        <a:t>let a = ”Se" + ”cur" + ”</a:t>
                      </a:r>
                      <a:r>
                        <a:rPr lang="en-US" dirty="0" err="1"/>
                        <a:t>ity</a:t>
                      </a:r>
                      <a:r>
                        <a:rPr lang="en-US" dirty="0"/>
                        <a:t>";</a:t>
                      </a:r>
                    </a:p>
                    <a:p>
                      <a:r>
                        <a:rPr lang="en-US" dirty="0"/>
                        <a:t>let b = </a:t>
                      </a:r>
                      <a:r>
                        <a:rPr lang="en-US" dirty="0" err="1"/>
                        <a:t>String.fromCharCode</a:t>
                      </a:r>
                      <a:r>
                        <a:rPr lang="en-US" dirty="0"/>
                        <a:t>(115, 121, 110, 99);</a:t>
                      </a:r>
                    </a:p>
                    <a:p>
                      <a:endParaRPr lang="en-US" dirty="0"/>
                    </a:p>
                    <a:p>
                      <a:r>
                        <a:rPr lang="en-US" dirty="0" err="1"/>
                        <a:t>console.log</a:t>
                      </a:r>
                      <a:r>
                        <a:rPr lang="en-US" dirty="0"/>
                        <a:t>(a + b);</a:t>
                      </a:r>
                    </a:p>
                  </a:txBody>
                  <a:tcPr/>
                </a:tc>
                <a:extLst>
                  <a:ext uri="{0D108BD9-81ED-4DB2-BD59-A6C34878D82A}">
                    <a16:rowId xmlns="" xmlns:a16="http://schemas.microsoft.com/office/drawing/2014/main" val="2697910611"/>
                  </a:ext>
                </a:extLst>
              </a:tr>
              <a:tr h="1681838">
                <a:tc>
                  <a:txBody>
                    <a:bodyPr/>
                    <a:lstStyle/>
                    <a:p>
                      <a:r>
                        <a:rPr lang="en-US" dirty="0"/>
                        <a:t>let num = 50;</a:t>
                      </a:r>
                    </a:p>
                    <a:p>
                      <a:r>
                        <a:rPr lang="en-US" dirty="0" err="1"/>
                        <a:t>console.log</a:t>
                      </a:r>
                      <a:r>
                        <a:rPr lang="en-US" dirty="0"/>
                        <a:t>(num);</a:t>
                      </a:r>
                    </a:p>
                  </a:txBody>
                  <a:tcPr/>
                </a:tc>
                <a:tc>
                  <a:txBody>
                    <a:bodyPr/>
                    <a:lstStyle/>
                    <a:p>
                      <a:r>
                        <a:rPr lang="en-US" dirty="0"/>
                        <a:t>// Number is hidden through calculations</a:t>
                      </a:r>
                    </a:p>
                    <a:p>
                      <a:r>
                        <a:rPr lang="en-US" dirty="0"/>
                        <a:t>let num = (100 / 2) + (5 - 5);</a:t>
                      </a:r>
                    </a:p>
                    <a:p>
                      <a:r>
                        <a:rPr lang="en-US" dirty="0" err="1"/>
                        <a:t>console.log</a:t>
                      </a:r>
                      <a:r>
                        <a:rPr lang="en-US" dirty="0"/>
                        <a:t>(num);</a:t>
                      </a:r>
                    </a:p>
                  </a:txBody>
                  <a:tcPr/>
                </a:tc>
                <a:extLst>
                  <a:ext uri="{0D108BD9-81ED-4DB2-BD59-A6C34878D82A}">
                    <a16:rowId xmlns="" xmlns:a16="http://schemas.microsoft.com/office/drawing/2014/main" val="2603603887"/>
                  </a:ext>
                </a:extLst>
              </a:tr>
            </a:tbl>
          </a:graphicData>
        </a:graphic>
      </p:graphicFrame>
    </p:spTree>
    <p:extLst>
      <p:ext uri="{BB962C8B-B14F-4D97-AF65-F5344CB8AC3E}">
        <p14:creationId xmlns="" xmlns:p14="http://schemas.microsoft.com/office/powerpoint/2010/main" val="1383080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785F11E-AC5A-8BDE-83D0-AF98E43FD121}"/>
              </a:ext>
            </a:extLst>
          </p:cNvPr>
          <p:cNvSpPr>
            <a:spLocks noGrp="1"/>
          </p:cNvSpPr>
          <p:nvPr>
            <p:ph idx="1"/>
          </p:nvPr>
        </p:nvSpPr>
        <p:spPr>
          <a:xfrm>
            <a:off x="133815" y="144966"/>
            <a:ext cx="11965258" cy="6568068"/>
          </a:xfrm>
        </p:spPr>
        <p:txBody>
          <a:bodyPr/>
          <a:lstStyle/>
          <a:p>
            <a:pPr marL="0" indent="0">
              <a:buNone/>
            </a:pPr>
            <a:r>
              <a:rPr lang="en-US" sz="1600" dirty="0"/>
              <a:t>3) Encoding Obfuscation: Normally 3 methods are used to encode the original code.</a:t>
            </a:r>
          </a:p>
          <a:p>
            <a:r>
              <a:rPr lang="en-US" sz="1600" dirty="0"/>
              <a:t>ASCII/Unicode/Hex Coding representations</a:t>
            </a:r>
          </a:p>
          <a:p>
            <a:r>
              <a:rPr lang="en-US" sz="1600" dirty="0"/>
              <a:t>Customized Encoding Functions and attach a decoding function to decode it during execution</a:t>
            </a:r>
          </a:p>
          <a:p>
            <a:r>
              <a:rPr lang="en-US" sz="1600" dirty="0"/>
              <a:t>Standard Encryption and Decryption</a:t>
            </a:r>
            <a:r>
              <a:rPr lang="en-US" dirty="0"/>
              <a:t/>
            </a:r>
            <a:br>
              <a:rPr lang="en-US" dirty="0"/>
            </a:br>
            <a:endParaRPr lang="en-US" dirty="0"/>
          </a:p>
          <a:p>
            <a:pPr marL="0" indent="0">
              <a:buNone/>
            </a:pPr>
            <a:endParaRPr lang="en-US" dirty="0"/>
          </a:p>
        </p:txBody>
      </p:sp>
      <p:graphicFrame>
        <p:nvGraphicFramePr>
          <p:cNvPr id="4" name="Table 3">
            <a:extLst>
              <a:ext uri="{FF2B5EF4-FFF2-40B4-BE49-F238E27FC236}">
                <a16:creationId xmlns="" xmlns:a16="http://schemas.microsoft.com/office/drawing/2014/main" id="{143E0682-583E-7F8C-ADCE-ECF7557D0544}"/>
              </a:ext>
            </a:extLst>
          </p:cNvPr>
          <p:cNvGraphicFramePr>
            <a:graphicFrameLocks noGrp="1"/>
          </p:cNvGraphicFramePr>
          <p:nvPr>
            <p:extLst>
              <p:ext uri="{D42A27DB-BD31-4B8C-83A1-F6EECF244321}">
                <p14:modId xmlns="" xmlns:p14="http://schemas.microsoft.com/office/powerpoint/2010/main" val="2417623224"/>
              </p:ext>
            </p:extLst>
          </p:nvPr>
        </p:nvGraphicFramePr>
        <p:xfrm>
          <a:off x="156117" y="1645216"/>
          <a:ext cx="11942956" cy="5076744"/>
        </p:xfrm>
        <a:graphic>
          <a:graphicData uri="http://schemas.openxmlformats.org/drawingml/2006/table">
            <a:tbl>
              <a:tblPr firstRow="1" bandRow="1">
                <a:tableStyleId>{5C22544A-7EE6-4342-B048-85BDC9FD1C3A}</a:tableStyleId>
              </a:tblPr>
              <a:tblGrid>
                <a:gridCol w="4719948">
                  <a:extLst>
                    <a:ext uri="{9D8B030D-6E8A-4147-A177-3AD203B41FA5}">
                      <a16:colId xmlns="" xmlns:a16="http://schemas.microsoft.com/office/drawing/2014/main" val="4095610004"/>
                    </a:ext>
                  </a:extLst>
                </a:gridCol>
                <a:gridCol w="7223008">
                  <a:extLst>
                    <a:ext uri="{9D8B030D-6E8A-4147-A177-3AD203B41FA5}">
                      <a16:colId xmlns="" xmlns:a16="http://schemas.microsoft.com/office/drawing/2014/main" val="3815428580"/>
                    </a:ext>
                  </a:extLst>
                </a:gridCol>
              </a:tblGrid>
              <a:tr h="454333">
                <a:tc>
                  <a:txBody>
                    <a:bodyPr/>
                    <a:lstStyle/>
                    <a:p>
                      <a:r>
                        <a:rPr lang="en-US" sz="1600" dirty="0"/>
                        <a:t>ASCII/Unicode/Hex Coding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Customized Encoding Functions </a:t>
                      </a:r>
                    </a:p>
                  </a:txBody>
                  <a:tcPr/>
                </a:tc>
                <a:extLst>
                  <a:ext uri="{0D108BD9-81ED-4DB2-BD59-A6C34878D82A}">
                    <a16:rowId xmlns="" xmlns:a16="http://schemas.microsoft.com/office/drawing/2014/main" val="4277878792"/>
                  </a:ext>
                </a:extLst>
              </a:tr>
              <a:tr h="2863628">
                <a:tc>
                  <a:txBody>
                    <a:bodyPr/>
                    <a:lstStyle/>
                    <a:p>
                      <a:r>
                        <a:rPr lang="en-US" sz="1600" dirty="0"/>
                        <a:t>let text = </a:t>
                      </a:r>
                      <a:r>
                        <a:rPr lang="en-US" sz="1600" dirty="0" err="1"/>
                        <a:t>String.fromCharCode</a:t>
                      </a:r>
                      <a:r>
                        <a:rPr lang="en-US" sz="1600" dirty="0"/>
                        <a:t>(115, 121, 110, 99); </a:t>
                      </a:r>
                    </a:p>
                    <a:p>
                      <a:r>
                        <a:rPr lang="en-US" sz="1600" dirty="0"/>
                        <a:t>// "sync” – ASCII Encoding</a:t>
                      </a:r>
                    </a:p>
                    <a:p>
                      <a:endParaRPr lang="en-US" sz="1600" dirty="0"/>
                    </a:p>
                    <a:p>
                      <a:r>
                        <a:rPr lang="en-US" sz="1600" dirty="0"/>
                        <a:t>let text = "\u0073\u0079\u006E\u0063";</a:t>
                      </a:r>
                    </a:p>
                    <a:p>
                      <a:r>
                        <a:rPr lang="en-US" sz="1600" dirty="0"/>
                        <a:t>// "sync” – Unicode Encoding</a:t>
                      </a:r>
                    </a:p>
                    <a:p>
                      <a:endParaRPr lang="en-US" sz="1600" dirty="0"/>
                    </a:p>
                    <a:p>
                      <a:r>
                        <a:rPr lang="en-US" sz="1600" dirty="0"/>
                        <a:t>let text = "\x73\x79\x6E\x63";</a:t>
                      </a:r>
                    </a:p>
                    <a:p>
                      <a:r>
                        <a:rPr lang="en-US" sz="1600" dirty="0"/>
                        <a:t>// "sync” – Hex Encoding</a:t>
                      </a:r>
                    </a:p>
                  </a:txBody>
                  <a:tcPr/>
                </a:tc>
                <a:tc>
                  <a:txBody>
                    <a:bodyPr/>
                    <a:lstStyle/>
                    <a:p>
                      <a:r>
                        <a:rPr lang="en-US" sz="1600" dirty="0"/>
                        <a:t>function decode(custom) {</a:t>
                      </a:r>
                    </a:p>
                    <a:p>
                      <a:r>
                        <a:rPr lang="en-US" sz="1600" dirty="0"/>
                        <a:t>    return custom</a:t>
                      </a:r>
                    </a:p>
                    <a:p>
                      <a:r>
                        <a:rPr lang="en-US" sz="1600" dirty="0"/>
                        <a:t>        .split("-")                      // Split the string into an array ["120","126","115","104"]</a:t>
                      </a:r>
                    </a:p>
                    <a:p>
                      <a:r>
                        <a:rPr lang="en-US" sz="1600" dirty="0"/>
                        <a:t>        .map(code =&gt; </a:t>
                      </a:r>
                      <a:r>
                        <a:rPr lang="en-US" sz="1600" dirty="0" err="1"/>
                        <a:t>String.fromCharCode</a:t>
                      </a:r>
                      <a:r>
                        <a:rPr lang="en-US" sz="1600" dirty="0"/>
                        <a:t>(code - 5))  // Convert each number to a character</a:t>
                      </a:r>
                    </a:p>
                    <a:p>
                      <a:r>
                        <a:rPr lang="en-US" sz="1600" dirty="0"/>
                        <a:t>        .join("");                       // Join the characters back into a string</a:t>
                      </a:r>
                    </a:p>
                    <a:p>
                      <a:r>
                        <a:rPr lang="en-US" sz="1600" dirty="0"/>
                        <a:t>}</a:t>
                      </a:r>
                    </a:p>
                    <a:p>
                      <a:endParaRPr lang="en-US" sz="1600" dirty="0"/>
                    </a:p>
                    <a:p>
                      <a:r>
                        <a:rPr lang="en-US" sz="1600" dirty="0"/>
                        <a:t>let encoded = "120-126-115-104";       // Each letter ASCII + 5</a:t>
                      </a:r>
                    </a:p>
                    <a:p>
                      <a:r>
                        <a:rPr lang="en-US" sz="1600" dirty="0" err="1"/>
                        <a:t>console.log</a:t>
                      </a:r>
                      <a:r>
                        <a:rPr lang="en-US" sz="1600" dirty="0"/>
                        <a:t>(decode(encoded));          // Output: sync</a:t>
                      </a:r>
                    </a:p>
                    <a:p>
                      <a:endParaRPr lang="en-US" sz="1600" dirty="0"/>
                    </a:p>
                  </a:txBody>
                  <a:tcPr/>
                </a:tc>
                <a:extLst>
                  <a:ext uri="{0D108BD9-81ED-4DB2-BD59-A6C34878D82A}">
                    <a16:rowId xmlns="" xmlns:a16="http://schemas.microsoft.com/office/drawing/2014/main" val="1089035350"/>
                  </a:ext>
                </a:extLst>
              </a:tr>
              <a:tr h="16048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Standard Encryption and Decryption:</a:t>
                      </a:r>
                      <a:r>
                        <a:rPr lang="en-US" sz="1600" dirty="0"/>
                        <a:t/>
                      </a:r>
                      <a:br>
                        <a:rPr lang="en-US" sz="1600" dirty="0"/>
                      </a:br>
                      <a:r>
                        <a:rPr lang="en-US" sz="1600" dirty="0"/>
                        <a:t/>
                      </a:r>
                      <a:br>
                        <a:rPr lang="en-US" sz="1600" dirty="0"/>
                      </a:br>
                      <a:r>
                        <a:rPr lang="en-US" sz="1600" dirty="0"/>
                        <a:t>"sync" becomes "c3luYw=="</a:t>
                      </a:r>
                    </a:p>
                    <a:p>
                      <a:r>
                        <a:rPr lang="en-US" sz="1600" dirty="0"/>
                        <a:t>People don’t instantly understand Base64</a:t>
                      </a:r>
                    </a:p>
                    <a:p>
                      <a:r>
                        <a:rPr lang="en-US" sz="1600" dirty="0"/>
                        <a:t>But the browser can decode it easily</a:t>
                      </a:r>
                    </a:p>
                  </a:txBody>
                  <a:tcPr/>
                </a:tc>
                <a:tc>
                  <a:txBody>
                    <a:bodyPr/>
                    <a:lstStyle/>
                    <a:p>
                      <a:r>
                        <a:rPr lang="en-US" sz="1600" dirty="0"/>
                        <a:t>let encrypted = </a:t>
                      </a:r>
                      <a:r>
                        <a:rPr lang="en-US" sz="1600" dirty="0" err="1"/>
                        <a:t>btoa</a:t>
                      </a:r>
                      <a:r>
                        <a:rPr lang="en-US" sz="1600" dirty="0"/>
                        <a:t>("sync");   // encode to Base64</a:t>
                      </a:r>
                    </a:p>
                    <a:p>
                      <a:r>
                        <a:rPr lang="en-US" sz="1600" dirty="0" err="1"/>
                        <a:t>console.log</a:t>
                      </a:r>
                      <a:r>
                        <a:rPr lang="en-US" sz="1600" dirty="0"/>
                        <a:t>(encrypted);         // "c3luYw=="</a:t>
                      </a:r>
                    </a:p>
                    <a:p>
                      <a:endParaRPr lang="en-US" sz="1600" dirty="0"/>
                    </a:p>
                    <a:p>
                      <a:r>
                        <a:rPr lang="en-US" sz="1600" dirty="0"/>
                        <a:t>let decrypted = </a:t>
                      </a:r>
                      <a:r>
                        <a:rPr lang="en-US" sz="1600" dirty="0" err="1"/>
                        <a:t>atob</a:t>
                      </a:r>
                      <a:r>
                        <a:rPr lang="en-US" sz="1600" dirty="0"/>
                        <a:t>(encrypted);</a:t>
                      </a:r>
                    </a:p>
                    <a:p>
                      <a:r>
                        <a:rPr lang="en-US" sz="1600" dirty="0" err="1"/>
                        <a:t>console.log</a:t>
                      </a:r>
                      <a:r>
                        <a:rPr lang="en-US" sz="1600" dirty="0"/>
                        <a:t>(decrypted);         // "sync"</a:t>
                      </a:r>
                    </a:p>
                    <a:p>
                      <a:endParaRPr lang="en-US" sz="1600" dirty="0"/>
                    </a:p>
                  </a:txBody>
                  <a:tcPr/>
                </a:tc>
                <a:extLst>
                  <a:ext uri="{0D108BD9-81ED-4DB2-BD59-A6C34878D82A}">
                    <a16:rowId xmlns="" xmlns:a16="http://schemas.microsoft.com/office/drawing/2014/main" val="1554821423"/>
                  </a:ext>
                </a:extLst>
              </a:tr>
            </a:tbl>
          </a:graphicData>
        </a:graphic>
      </p:graphicFrame>
    </p:spTree>
    <p:extLst>
      <p:ext uri="{BB962C8B-B14F-4D97-AF65-F5344CB8AC3E}">
        <p14:creationId xmlns="" xmlns:p14="http://schemas.microsoft.com/office/powerpoint/2010/main" val="246784143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200F2DB-5734-EF9A-C92D-489648831A24}"/>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1A478A7-F207-3B69-F281-B7F55484F7F0}"/>
              </a:ext>
            </a:extLst>
          </p:cNvPr>
          <p:cNvSpPr>
            <a:spLocks noGrp="1"/>
          </p:cNvSpPr>
          <p:nvPr>
            <p:ph idx="1"/>
          </p:nvPr>
        </p:nvSpPr>
        <p:spPr>
          <a:xfrm>
            <a:off x="133815" y="144966"/>
            <a:ext cx="11965258" cy="6568068"/>
          </a:xfrm>
        </p:spPr>
        <p:txBody>
          <a:bodyPr/>
          <a:lstStyle/>
          <a:p>
            <a:pPr marL="0" indent="0">
              <a:lnSpc>
                <a:spcPct val="150000"/>
              </a:lnSpc>
              <a:buNone/>
            </a:pPr>
            <a:r>
              <a:rPr lang="en-US" sz="1600" dirty="0"/>
              <a:t>4) </a:t>
            </a:r>
            <a:r>
              <a:rPr lang="en-US" sz="1600" b="1" dirty="0"/>
              <a:t>Logic Obfuscation: </a:t>
            </a:r>
            <a:r>
              <a:rPr lang="en-US" sz="1600" dirty="0"/>
              <a:t>This type of obfuscation technique manipulates the execution paths of the JavaScript codes by changing the logic structure without affecting the original semantics. </a:t>
            </a:r>
          </a:p>
          <a:p>
            <a:r>
              <a:rPr lang="en-US" sz="1600" dirty="0"/>
              <a:t>Insert Irrelevant Instructions </a:t>
            </a:r>
          </a:p>
          <a:p>
            <a:r>
              <a:rPr lang="en-US" sz="1600" dirty="0"/>
              <a:t>Additional Conditional Branches such as if …else, switch… case, for, while etc.</a:t>
            </a:r>
          </a:p>
          <a:p>
            <a:endParaRPr lang="en-US" sz="1600" dirty="0"/>
          </a:p>
          <a:p>
            <a:endParaRPr lang="en-US" sz="1600" dirty="0"/>
          </a:p>
        </p:txBody>
      </p:sp>
      <p:graphicFrame>
        <p:nvGraphicFramePr>
          <p:cNvPr id="2" name="Table 1">
            <a:extLst>
              <a:ext uri="{FF2B5EF4-FFF2-40B4-BE49-F238E27FC236}">
                <a16:creationId xmlns="" xmlns:a16="http://schemas.microsoft.com/office/drawing/2014/main" id="{D70190BD-7013-8258-E5FA-B9F5B7BFD74C}"/>
              </a:ext>
            </a:extLst>
          </p:cNvPr>
          <p:cNvGraphicFramePr>
            <a:graphicFrameLocks noGrp="1"/>
          </p:cNvGraphicFramePr>
          <p:nvPr>
            <p:extLst>
              <p:ext uri="{D42A27DB-BD31-4B8C-83A1-F6EECF244321}">
                <p14:modId xmlns="" xmlns:p14="http://schemas.microsoft.com/office/powerpoint/2010/main" val="4285899466"/>
              </p:ext>
            </p:extLst>
          </p:nvPr>
        </p:nvGraphicFramePr>
        <p:xfrm>
          <a:off x="133815" y="1890544"/>
          <a:ext cx="11924370" cy="4860404"/>
        </p:xfrm>
        <a:graphic>
          <a:graphicData uri="http://schemas.openxmlformats.org/drawingml/2006/table">
            <a:tbl>
              <a:tblPr firstRow="1" bandRow="1">
                <a:tableStyleId>{5C22544A-7EE6-4342-B048-85BDC9FD1C3A}</a:tableStyleId>
              </a:tblPr>
              <a:tblGrid>
                <a:gridCol w="3646448">
                  <a:extLst>
                    <a:ext uri="{9D8B030D-6E8A-4147-A177-3AD203B41FA5}">
                      <a16:colId xmlns="" xmlns:a16="http://schemas.microsoft.com/office/drawing/2014/main" val="1758017461"/>
                    </a:ext>
                  </a:extLst>
                </a:gridCol>
                <a:gridCol w="8277922">
                  <a:extLst>
                    <a:ext uri="{9D8B030D-6E8A-4147-A177-3AD203B41FA5}">
                      <a16:colId xmlns="" xmlns:a16="http://schemas.microsoft.com/office/drawing/2014/main" val="2316488629"/>
                    </a:ext>
                  </a:extLst>
                </a:gridCol>
              </a:tblGrid>
              <a:tr h="5627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Clean JS Code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Data Obfuscation</a:t>
                      </a:r>
                      <a:r>
                        <a:rPr lang="en-US" dirty="0"/>
                        <a:t> JS Code</a:t>
                      </a:r>
                    </a:p>
                  </a:txBody>
                  <a:tcPr/>
                </a:tc>
                <a:extLst>
                  <a:ext uri="{0D108BD9-81ED-4DB2-BD59-A6C34878D82A}">
                    <a16:rowId xmlns="" xmlns:a16="http://schemas.microsoft.com/office/drawing/2014/main" val="1716174491"/>
                  </a:ext>
                </a:extLst>
              </a:tr>
              <a:tr h="2026528">
                <a:tc>
                  <a:txBody>
                    <a:bodyPr/>
                    <a:lstStyle/>
                    <a:p>
                      <a:r>
                        <a:rPr lang="en-US" dirty="0"/>
                        <a:t>function add(a, b) {</a:t>
                      </a:r>
                    </a:p>
                    <a:p>
                      <a:r>
                        <a:rPr lang="en-US" dirty="0"/>
                        <a:t>    return a + b;</a:t>
                      </a:r>
                    </a:p>
                    <a:p>
                      <a:r>
                        <a:rPr lang="en-US" dirty="0"/>
                        <a:t>}</a:t>
                      </a:r>
                    </a:p>
                    <a:p>
                      <a:endParaRPr lang="en-US" dirty="0"/>
                    </a:p>
                    <a:p>
                      <a:r>
                        <a:rPr lang="en-US" dirty="0" err="1"/>
                        <a:t>console.log</a:t>
                      </a:r>
                      <a:r>
                        <a:rPr lang="en-US" dirty="0"/>
                        <a:t>(add(5, 3));</a:t>
                      </a:r>
                    </a:p>
                    <a:p>
                      <a:endParaRPr lang="en-US" dirty="0"/>
                    </a:p>
                    <a:p>
                      <a:endParaRPr lang="en-US" dirty="0"/>
                    </a:p>
                    <a:p>
                      <a:r>
                        <a:rPr lang="en-US" dirty="0"/>
                        <a:t>Output: 8</a:t>
                      </a:r>
                    </a:p>
                  </a:txBody>
                  <a:tcPr/>
                </a:tc>
                <a:tc>
                  <a:txBody>
                    <a:bodyPr/>
                    <a:lstStyle/>
                    <a:p>
                      <a:r>
                        <a:rPr lang="en-US" sz="1600" dirty="0"/>
                        <a:t>function </a:t>
                      </a:r>
                      <a:r>
                        <a:rPr lang="en-US" sz="1600" dirty="0" err="1"/>
                        <a:t>addObf</a:t>
                      </a:r>
                      <a:r>
                        <a:rPr lang="en-US" sz="1600" dirty="0"/>
                        <a:t>(a, b) {</a:t>
                      </a:r>
                    </a:p>
                    <a:p>
                      <a:r>
                        <a:rPr lang="en-US" sz="1600" dirty="0"/>
                        <a:t>    // Irrelevant instruction (does nothing)</a:t>
                      </a:r>
                    </a:p>
                    <a:p>
                      <a:r>
                        <a:rPr lang="en-US" sz="1600" dirty="0"/>
                        <a:t>    let junk = a * b - a * b + 100 - 100;</a:t>
                      </a:r>
                    </a:p>
                    <a:p>
                      <a:endParaRPr lang="en-US" sz="1600" dirty="0"/>
                    </a:p>
                    <a:p>
                      <a:r>
                        <a:rPr lang="en-US" sz="1600" dirty="0"/>
                        <a:t>    // Extra conditional branches (never change the result)</a:t>
                      </a:r>
                    </a:p>
                    <a:p>
                      <a:r>
                        <a:rPr lang="en-US" sz="1600" dirty="0"/>
                        <a:t>    if (a === 9999) { </a:t>
                      </a:r>
                    </a:p>
                    <a:p>
                      <a:r>
                        <a:rPr lang="en-US" sz="1600" dirty="0"/>
                        <a:t>        return "Not possible";   // This never runs</a:t>
                      </a:r>
                    </a:p>
                    <a:p>
                      <a:r>
                        <a:rPr lang="en-US" sz="1600" dirty="0"/>
                        <a:t>    }</a:t>
                      </a:r>
                    </a:p>
                    <a:p>
                      <a:r>
                        <a:rPr lang="en-US" sz="1600" dirty="0"/>
                        <a:t>    if (false) { </a:t>
                      </a:r>
                    </a:p>
                    <a:p>
                      <a:r>
                        <a:rPr lang="en-US" sz="1600" dirty="0"/>
                        <a:t>        </a:t>
                      </a:r>
                      <a:r>
                        <a:rPr lang="en-US" sz="1600" dirty="0" err="1"/>
                        <a:t>console.log</a:t>
                      </a:r>
                      <a:r>
                        <a:rPr lang="en-US" sz="1600" dirty="0"/>
                        <a:t>("This will never happen");</a:t>
                      </a:r>
                    </a:p>
                    <a:p>
                      <a:r>
                        <a:rPr lang="en-US" sz="1600" dirty="0"/>
                        <a:t>    }</a:t>
                      </a:r>
                    </a:p>
                    <a:p>
                      <a:r>
                        <a:rPr lang="en-US" sz="1600" dirty="0"/>
                        <a:t>    // Real logic</a:t>
                      </a:r>
                    </a:p>
                    <a:p>
                      <a:r>
                        <a:rPr lang="en-US" sz="1600" dirty="0"/>
                        <a:t>    return a + b;</a:t>
                      </a:r>
                    </a:p>
                    <a:p>
                      <a:r>
                        <a:rPr lang="en-US" sz="1600" dirty="0"/>
                        <a:t>}</a:t>
                      </a:r>
                    </a:p>
                    <a:p>
                      <a:r>
                        <a:rPr lang="en-US" sz="1600" dirty="0" err="1"/>
                        <a:t>console.log</a:t>
                      </a:r>
                      <a:r>
                        <a:rPr lang="en-US" sz="1600" dirty="0"/>
                        <a:t>(</a:t>
                      </a:r>
                      <a:r>
                        <a:rPr lang="en-US" sz="1600" dirty="0" err="1"/>
                        <a:t>addObf</a:t>
                      </a:r>
                      <a:r>
                        <a:rPr lang="en-US" sz="1600" dirty="0"/>
                        <a:t>(5, 3));</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Output: 8</a:t>
                      </a:r>
                    </a:p>
                  </a:txBody>
                  <a:tcPr/>
                </a:tc>
                <a:extLst>
                  <a:ext uri="{0D108BD9-81ED-4DB2-BD59-A6C34878D82A}">
                    <a16:rowId xmlns="" xmlns:a16="http://schemas.microsoft.com/office/drawing/2014/main" val="2285968095"/>
                  </a:ext>
                </a:extLst>
              </a:tr>
            </a:tbl>
          </a:graphicData>
        </a:graphic>
      </p:graphicFrame>
    </p:spTree>
    <p:extLst>
      <p:ext uri="{BB962C8B-B14F-4D97-AF65-F5344CB8AC3E}">
        <p14:creationId xmlns="" xmlns:p14="http://schemas.microsoft.com/office/powerpoint/2010/main" val="3990222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1"/>
            <a:ext cx="11201400" cy="1003299"/>
          </a:xfrm>
        </p:spPr>
        <p:txBody>
          <a:bodyPr/>
          <a:lstStyle/>
          <a:p>
            <a:r>
              <a:rPr lang="en-IN" b="1" dirty="0" smtClean="0"/>
              <a:t>Demo Basic </a:t>
            </a:r>
            <a:r>
              <a:rPr lang="en-US" b="1" dirty="0" smtClean="0"/>
              <a:t>Obfuscation</a:t>
            </a:r>
            <a:r>
              <a:rPr lang="en-IN" b="1" dirty="0" smtClean="0"/>
              <a:t> </a:t>
            </a:r>
            <a:endParaRPr lang="en-US" b="1" dirty="0"/>
          </a:p>
        </p:txBody>
      </p:sp>
      <p:sp>
        <p:nvSpPr>
          <p:cNvPr id="4" name="Rectangle 3"/>
          <p:cNvSpPr/>
          <p:nvPr/>
        </p:nvSpPr>
        <p:spPr>
          <a:xfrm>
            <a:off x="330200" y="1295401"/>
            <a:ext cx="11709400" cy="3693319"/>
          </a:xfrm>
          <a:prstGeom prst="rect">
            <a:avLst/>
          </a:prstGeom>
        </p:spPr>
        <p:txBody>
          <a:bodyPr wrap="square">
            <a:spAutoFit/>
          </a:bodyPr>
          <a:lstStyle/>
          <a:p>
            <a:r>
              <a:rPr lang="en-US" dirty="0" smtClean="0"/>
              <a:t>Code or JS obfuscation is usually not done manually, The above shown are the principle of documented categories, </a:t>
            </a:r>
            <a:r>
              <a:rPr lang="en-IN" b="1" dirty="0" smtClean="0"/>
              <a:t>Online tools are used to perform the </a:t>
            </a:r>
            <a:r>
              <a:rPr lang="en-US" b="1" dirty="0" smtClean="0"/>
              <a:t>Obfuscation</a:t>
            </a:r>
            <a:r>
              <a:rPr lang="en-IN" b="1" dirty="0" smtClean="0"/>
              <a:t>, </a:t>
            </a:r>
            <a:r>
              <a:rPr lang="en-IN" dirty="0" smtClean="0"/>
              <a:t>we will go though basic to advanced way of </a:t>
            </a:r>
            <a:r>
              <a:rPr lang="en-US" dirty="0" smtClean="0"/>
              <a:t>Obfuscation</a:t>
            </a:r>
            <a:r>
              <a:rPr lang="en-IN" dirty="0" smtClean="0"/>
              <a:t> Demo here.</a:t>
            </a:r>
            <a:endParaRPr lang="en-US" dirty="0" smtClean="0"/>
          </a:p>
          <a:p>
            <a:endParaRPr lang="en-US" dirty="0" smtClean="0"/>
          </a:p>
          <a:p>
            <a:r>
              <a:rPr lang="en-US" dirty="0" smtClean="0"/>
              <a:t>There are many tools for various languages that do automated code obfuscation.</a:t>
            </a:r>
          </a:p>
          <a:p>
            <a:endParaRPr lang="en-IN" dirty="0" smtClean="0"/>
          </a:p>
          <a:p>
            <a:r>
              <a:rPr lang="en-IN" dirty="0" smtClean="0"/>
              <a:t>Example Java Script code running: </a:t>
            </a:r>
            <a:r>
              <a:rPr lang="en-IN" dirty="0" smtClean="0">
                <a:hlinkClick r:id="rId2"/>
              </a:rPr>
              <a:t>https://jsconsole.com/</a:t>
            </a:r>
            <a:r>
              <a:rPr lang="en-IN" dirty="0" smtClean="0"/>
              <a:t> </a:t>
            </a:r>
            <a:br>
              <a:rPr lang="en-IN" dirty="0" smtClean="0"/>
            </a:br>
            <a:endParaRPr lang="en-IN" dirty="0" smtClean="0"/>
          </a:p>
          <a:p>
            <a:r>
              <a:rPr lang="en-IN" dirty="0" smtClean="0"/>
              <a:t>Minifying Java script code: </a:t>
            </a:r>
            <a:r>
              <a:rPr lang="en-IN" dirty="0" smtClean="0">
                <a:hlinkClick r:id="rId3"/>
              </a:rPr>
              <a:t>https://www.toptal.com/developers/javascript-minifier</a:t>
            </a:r>
            <a:r>
              <a:rPr lang="en-IN" dirty="0" smtClean="0"/>
              <a:t/>
            </a:r>
            <a:br>
              <a:rPr lang="en-IN" dirty="0" smtClean="0"/>
            </a:br>
            <a:r>
              <a:rPr lang="en-IN" dirty="0" smtClean="0"/>
              <a:t> </a:t>
            </a:r>
          </a:p>
          <a:p>
            <a:r>
              <a:rPr lang="en-IN" dirty="0" smtClean="0"/>
              <a:t>Packing the Java script code: </a:t>
            </a:r>
            <a:r>
              <a:rPr lang="en-IN" dirty="0" smtClean="0">
                <a:hlinkClick r:id="rId4"/>
              </a:rPr>
              <a:t>https://beautifytools.com/javascript-obfuscator.php#</a:t>
            </a:r>
            <a:r>
              <a:rPr lang="en-IN" dirty="0" smtClean="0"/>
              <a:t> </a:t>
            </a:r>
          </a:p>
          <a:p>
            <a:endParaRPr lang="en-IN" dirty="0" smtClean="0"/>
          </a:p>
          <a:p>
            <a:endParaRPr lang="en-IN" dirty="0" smtClean="0"/>
          </a:p>
        </p:txBody>
      </p:sp>
      <p:pic>
        <p:nvPicPr>
          <p:cNvPr id="1026" name="Picture 2"/>
          <p:cNvPicPr>
            <a:picLocks noChangeAspect="1" noChangeArrowheads="1"/>
          </p:cNvPicPr>
          <p:nvPr/>
        </p:nvPicPr>
        <p:blipFill>
          <a:blip r:embed="rId5"/>
          <a:srcRect/>
          <a:stretch>
            <a:fillRect/>
          </a:stretch>
        </p:blipFill>
        <p:spPr bwMode="auto">
          <a:xfrm>
            <a:off x="2032000" y="4552950"/>
            <a:ext cx="9372600" cy="203835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88925"/>
            <a:ext cx="11049000" cy="892175"/>
          </a:xfrm>
        </p:spPr>
        <p:txBody>
          <a:bodyPr/>
          <a:lstStyle/>
          <a:p>
            <a:r>
              <a:rPr lang="en-IN" b="1" dirty="0" smtClean="0"/>
              <a:t>Demo Advanced </a:t>
            </a:r>
            <a:r>
              <a:rPr lang="en-US" b="1" dirty="0" smtClean="0"/>
              <a:t>Obfuscation</a:t>
            </a:r>
            <a:r>
              <a:rPr lang="en-IN" b="1" dirty="0" smtClean="0"/>
              <a:t> </a:t>
            </a:r>
            <a:endParaRPr lang="en-US" dirty="0"/>
          </a:p>
        </p:txBody>
      </p:sp>
      <p:sp>
        <p:nvSpPr>
          <p:cNvPr id="3" name="Content Placeholder 2"/>
          <p:cNvSpPr>
            <a:spLocks noGrp="1"/>
          </p:cNvSpPr>
          <p:nvPr>
            <p:ph idx="1"/>
          </p:nvPr>
        </p:nvSpPr>
        <p:spPr>
          <a:xfrm>
            <a:off x="342900" y="1270000"/>
            <a:ext cx="11658600" cy="5422900"/>
          </a:xfrm>
        </p:spPr>
        <p:txBody>
          <a:bodyPr/>
          <a:lstStyle/>
          <a:p>
            <a:pPr>
              <a:lnSpc>
                <a:spcPct val="150000"/>
              </a:lnSpc>
            </a:pPr>
            <a:r>
              <a:rPr lang="en-US" sz="1800" dirty="0" smtClean="0"/>
              <a:t>Our initial obfuscation steps successfully made the code harder to read and reverse-engineer.</a:t>
            </a:r>
          </a:p>
          <a:p>
            <a:pPr>
              <a:lnSpc>
                <a:spcPct val="150000"/>
              </a:lnSpc>
            </a:pPr>
            <a:r>
              <a:rPr lang="en-US" sz="1800" dirty="0" smtClean="0"/>
              <a:t>However, </a:t>
            </a:r>
            <a:r>
              <a:rPr lang="en-US" sz="1800" b="1" dirty="0" smtClean="0"/>
              <a:t>clear text strings</a:t>
            </a:r>
            <a:r>
              <a:rPr lang="en-US" sz="1800" dirty="0" smtClean="0"/>
              <a:t> were still visible within the code.</a:t>
            </a:r>
          </a:p>
          <a:p>
            <a:pPr>
              <a:lnSpc>
                <a:spcPct val="150000"/>
              </a:lnSpc>
            </a:pPr>
            <a:r>
              <a:rPr lang="en-US" sz="1800" dirty="0" smtClean="0"/>
              <a:t>These readable strings can inadvertently reveal behavior, logic, or internal functionality.</a:t>
            </a:r>
          </a:p>
          <a:p>
            <a:pPr>
              <a:lnSpc>
                <a:spcPct val="150000"/>
              </a:lnSpc>
            </a:pPr>
            <a:r>
              <a:rPr lang="en-US" sz="1800" dirty="0" smtClean="0"/>
              <a:t>To strengthen protection, we explored </a:t>
            </a:r>
            <a:r>
              <a:rPr lang="en-US" sz="1800" b="1" dirty="0" smtClean="0"/>
              <a:t>advanced obfuscation tools</a:t>
            </a:r>
            <a:r>
              <a:rPr lang="en-US" sz="1800" dirty="0" smtClean="0"/>
              <a:t> designed to further conceal program intent.</a:t>
            </a:r>
          </a:p>
          <a:p>
            <a:endParaRPr lang="en-US" dirty="0"/>
          </a:p>
        </p:txBody>
      </p:sp>
      <p:pic>
        <p:nvPicPr>
          <p:cNvPr id="2051" name="Picture 3"/>
          <p:cNvPicPr>
            <a:picLocks noChangeAspect="1" noChangeArrowheads="1"/>
          </p:cNvPicPr>
          <p:nvPr/>
        </p:nvPicPr>
        <p:blipFill>
          <a:blip r:embed="rId2"/>
          <a:srcRect/>
          <a:stretch>
            <a:fillRect/>
          </a:stretch>
        </p:blipFill>
        <p:spPr bwMode="auto">
          <a:xfrm>
            <a:off x="2052605" y="3784599"/>
            <a:ext cx="9199595" cy="2441369"/>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6900" y="393700"/>
            <a:ext cx="10756900" cy="5783263"/>
          </a:xfrm>
        </p:spPr>
        <p:txBody>
          <a:bodyPr/>
          <a:lstStyle/>
          <a:p>
            <a:r>
              <a:rPr lang="en-US" sz="1800" dirty="0" smtClean="0"/>
              <a:t>There are many other JavaScript obfuscators, like </a:t>
            </a:r>
            <a:r>
              <a:rPr lang="en-US" sz="1800" dirty="0" smtClean="0">
                <a:hlinkClick r:id="rId2"/>
              </a:rPr>
              <a:t>JJ Encode</a:t>
            </a:r>
            <a:r>
              <a:rPr lang="en-US" sz="1800" dirty="0" smtClean="0"/>
              <a:t> or </a:t>
            </a:r>
            <a:r>
              <a:rPr lang="en-US" sz="1800" dirty="0" smtClean="0">
                <a:hlinkClick r:id="rId3"/>
              </a:rPr>
              <a:t>AA Encode</a:t>
            </a:r>
            <a:r>
              <a:rPr lang="en-US" sz="1800" dirty="0" smtClean="0"/>
              <a:t>. However, such obfuscators usually make code execution/compilation very slow, so it is not recommended to be used unless for an obvious reason, like bypassing web filters or restrictions</a:t>
            </a:r>
            <a:r>
              <a:rPr lang="en-US" dirty="0" smtClean="0"/>
              <a:t/>
            </a:r>
            <a:br>
              <a:rPr lang="en-US" dirty="0" smtClean="0"/>
            </a:br>
            <a:endParaRPr lang="en-US" dirty="0"/>
          </a:p>
        </p:txBody>
      </p:sp>
      <p:pic>
        <p:nvPicPr>
          <p:cNvPr id="3075" name="Picture 3"/>
          <p:cNvPicPr>
            <a:picLocks noChangeAspect="1" noChangeArrowheads="1"/>
          </p:cNvPicPr>
          <p:nvPr/>
        </p:nvPicPr>
        <p:blipFill>
          <a:blip r:embed="rId4"/>
          <a:srcRect/>
          <a:stretch>
            <a:fillRect/>
          </a:stretch>
        </p:blipFill>
        <p:spPr bwMode="auto">
          <a:xfrm>
            <a:off x="203200" y="1612900"/>
            <a:ext cx="5638800" cy="2209800"/>
          </a:xfrm>
          <a:prstGeom prst="rect">
            <a:avLst/>
          </a:prstGeom>
          <a:noFill/>
          <a:ln w="9525">
            <a:noFill/>
            <a:miter lim="800000"/>
            <a:headEnd/>
            <a:tailEnd/>
          </a:ln>
        </p:spPr>
      </p:pic>
      <p:pic>
        <p:nvPicPr>
          <p:cNvPr id="3077" name="Picture 5"/>
          <p:cNvPicPr>
            <a:picLocks noChangeAspect="1" noChangeArrowheads="1"/>
          </p:cNvPicPr>
          <p:nvPr/>
        </p:nvPicPr>
        <p:blipFill>
          <a:blip r:embed="rId5"/>
          <a:srcRect/>
          <a:stretch>
            <a:fillRect/>
          </a:stretch>
        </p:blipFill>
        <p:spPr bwMode="auto">
          <a:xfrm>
            <a:off x="5031562" y="3641224"/>
            <a:ext cx="6911201" cy="2962776"/>
          </a:xfrm>
          <a:prstGeom prst="rect">
            <a:avLst/>
          </a:prstGeom>
          <a:noFill/>
          <a:ln w="9525">
            <a:noFill/>
            <a:miter lim="800000"/>
            <a:headEnd/>
            <a:tailEnd/>
          </a:ln>
        </p:spPr>
      </p:pic>
      <p:pic>
        <p:nvPicPr>
          <p:cNvPr id="3078" name="Picture 6"/>
          <p:cNvPicPr>
            <a:picLocks noChangeAspect="1" noChangeArrowheads="1"/>
          </p:cNvPicPr>
          <p:nvPr/>
        </p:nvPicPr>
        <p:blipFill>
          <a:blip r:embed="rId6"/>
          <a:srcRect/>
          <a:stretch>
            <a:fillRect/>
          </a:stretch>
        </p:blipFill>
        <p:spPr bwMode="auto">
          <a:xfrm>
            <a:off x="6100763" y="1574800"/>
            <a:ext cx="5684837" cy="16002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0A2DE1-9811-45BA-ED3C-E1F46C972D8C}"/>
              </a:ext>
            </a:extLst>
          </p:cNvPr>
          <p:cNvSpPr>
            <a:spLocks noGrp="1"/>
          </p:cNvSpPr>
          <p:nvPr>
            <p:ph type="title"/>
          </p:nvPr>
        </p:nvSpPr>
        <p:spPr>
          <a:xfrm>
            <a:off x="178420" y="167269"/>
            <a:ext cx="11175380" cy="446048"/>
          </a:xfrm>
        </p:spPr>
        <p:txBody>
          <a:bodyPr>
            <a:normAutofit fontScale="90000"/>
          </a:bodyPr>
          <a:lstStyle/>
          <a:p>
            <a:r>
              <a:rPr lang="en-US" dirty="0"/>
              <a:t>HTML Smuggling Example: </a:t>
            </a:r>
          </a:p>
        </p:txBody>
      </p:sp>
      <p:sp>
        <p:nvSpPr>
          <p:cNvPr id="3" name="Content Placeholder 2">
            <a:extLst>
              <a:ext uri="{FF2B5EF4-FFF2-40B4-BE49-F238E27FC236}">
                <a16:creationId xmlns="" xmlns:a16="http://schemas.microsoft.com/office/drawing/2014/main" id="{119563B4-1E83-021D-44BD-9C01DDD05BAB}"/>
              </a:ext>
            </a:extLst>
          </p:cNvPr>
          <p:cNvSpPr>
            <a:spLocks noGrp="1"/>
          </p:cNvSpPr>
          <p:nvPr>
            <p:ph idx="1"/>
          </p:nvPr>
        </p:nvSpPr>
        <p:spPr>
          <a:xfrm>
            <a:off x="178420" y="702527"/>
            <a:ext cx="11820292" cy="925551"/>
          </a:xfrm>
        </p:spPr>
        <p:txBody>
          <a:bodyPr/>
          <a:lstStyle/>
          <a:p>
            <a:pPr marL="0" indent="0">
              <a:buNone/>
            </a:pPr>
            <a:r>
              <a:rPr lang="en-US" sz="1800" dirty="0"/>
              <a:t>Recently increased spear-phishing campaign for deliver of banking Trojan </a:t>
            </a:r>
            <a:r>
              <a:rPr lang="en-US" sz="1800" dirty="0" err="1"/>
              <a:t>Mekotio</a:t>
            </a:r>
            <a:r>
              <a:rPr lang="en-US" sz="1800" dirty="0"/>
              <a:t>, </a:t>
            </a:r>
            <a:r>
              <a:rPr lang="en-US" sz="1800" dirty="0" err="1"/>
              <a:t>AsyncRAT</a:t>
            </a:r>
            <a:r>
              <a:rPr lang="en-US" sz="1800" dirty="0"/>
              <a:t>/NJRAT and </a:t>
            </a:r>
            <a:r>
              <a:rPr lang="en-US" sz="1800" dirty="0" err="1"/>
              <a:t>Trickbot</a:t>
            </a:r>
            <a:r>
              <a:rPr lang="en-US" sz="1800" dirty="0"/>
              <a:t> deliver payloads.</a:t>
            </a:r>
          </a:p>
          <a:p>
            <a:pPr marL="0" indent="0">
              <a:buNone/>
            </a:pPr>
            <a:endParaRPr lang="en-US" dirty="0"/>
          </a:p>
        </p:txBody>
      </p:sp>
      <p:pic>
        <p:nvPicPr>
          <p:cNvPr id="2052" name="Picture 4" descr="Screenshot of code of HTML smuggling page ">
            <a:extLst>
              <a:ext uri="{FF2B5EF4-FFF2-40B4-BE49-F238E27FC236}">
                <a16:creationId xmlns="" xmlns:a16="http://schemas.microsoft.com/office/drawing/2014/main" id="{67262E6A-2C10-0EC8-E100-B5FE7A6020AC}"/>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791415" y="1165302"/>
            <a:ext cx="8207297" cy="3593051"/>
          </a:xfrm>
          <a:prstGeom prst="rect">
            <a:avLst/>
          </a:prstGeom>
          <a:noFill/>
          <a:extLst>
            <a:ext uri="{909E8E84-426E-40DD-AFC4-6F175D3DCCD1}">
              <a14:hiddenFill xmlns=""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95EC0107-3570-233A-D328-001E745A9C97}"/>
              </a:ext>
            </a:extLst>
          </p:cNvPr>
          <p:cNvSpPr txBox="1"/>
          <p:nvPr/>
        </p:nvSpPr>
        <p:spPr>
          <a:xfrm>
            <a:off x="178420" y="6559926"/>
            <a:ext cx="11898351" cy="261610"/>
          </a:xfrm>
          <a:prstGeom prst="rect">
            <a:avLst/>
          </a:prstGeom>
          <a:noFill/>
        </p:spPr>
        <p:txBody>
          <a:bodyPr wrap="square">
            <a:spAutoFit/>
          </a:bodyPr>
          <a:lstStyle/>
          <a:p>
            <a:r>
              <a:rPr lang="en-US" sz="1100" dirty="0"/>
              <a:t>https://</a:t>
            </a:r>
            <a:r>
              <a:rPr lang="en-US" sz="1100" dirty="0" err="1"/>
              <a:t>www.microsoft.com</a:t>
            </a:r>
            <a:r>
              <a:rPr lang="en-US" sz="1100" dirty="0"/>
              <a:t>/</a:t>
            </a:r>
            <a:r>
              <a:rPr lang="en-US" sz="1100" dirty="0" err="1"/>
              <a:t>en</a:t>
            </a:r>
            <a:r>
              <a:rPr lang="en-US" sz="1100" dirty="0"/>
              <a:t>-us/security/blog/2021/11/11/html-smuggling-surges-highly-evasive-loader-technique-increasingly-used-in-banking-malware-targeted-attacks/</a:t>
            </a:r>
          </a:p>
        </p:txBody>
      </p:sp>
      <p:pic>
        <p:nvPicPr>
          <p:cNvPr id="6" name="Picture 5">
            <a:extLst>
              <a:ext uri="{FF2B5EF4-FFF2-40B4-BE49-F238E27FC236}">
                <a16:creationId xmlns="" xmlns:a16="http://schemas.microsoft.com/office/drawing/2014/main" id="{89BE4F42-C21A-1788-4DC4-6FAB7E174CB8}"/>
              </a:ext>
            </a:extLst>
          </p:cNvPr>
          <p:cNvPicPr>
            <a:picLocks noChangeAspect="1"/>
          </p:cNvPicPr>
          <p:nvPr/>
        </p:nvPicPr>
        <p:blipFill>
          <a:blip r:embed="rId3"/>
          <a:stretch>
            <a:fillRect/>
          </a:stretch>
        </p:blipFill>
        <p:spPr>
          <a:xfrm>
            <a:off x="659780" y="4863892"/>
            <a:ext cx="8651488" cy="1696034"/>
          </a:xfrm>
          <a:prstGeom prst="rect">
            <a:avLst/>
          </a:prstGeom>
        </p:spPr>
      </p:pic>
    </p:spTree>
    <p:extLst>
      <p:ext uri="{BB962C8B-B14F-4D97-AF65-F5344CB8AC3E}">
        <p14:creationId xmlns="" xmlns:p14="http://schemas.microsoft.com/office/powerpoint/2010/main" val="1197656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AD2E0E-D525-9FAF-D8E4-8AE4ECCE13AB}"/>
              </a:ext>
            </a:extLst>
          </p:cNvPr>
          <p:cNvSpPr>
            <a:spLocks noGrp="1"/>
          </p:cNvSpPr>
          <p:nvPr>
            <p:ph type="title"/>
          </p:nvPr>
        </p:nvSpPr>
        <p:spPr>
          <a:xfrm>
            <a:off x="189571" y="167269"/>
            <a:ext cx="11164229" cy="735980"/>
          </a:xfrm>
        </p:spPr>
        <p:txBody>
          <a:bodyPr>
            <a:normAutofit/>
          </a:bodyPr>
          <a:lstStyle/>
          <a:p>
            <a:r>
              <a:rPr lang="en-US" dirty="0" err="1"/>
              <a:t>JSFireTruck</a:t>
            </a:r>
            <a:r>
              <a:rPr lang="en-US" dirty="0"/>
              <a:t> Obfuscation Technique</a:t>
            </a:r>
          </a:p>
        </p:txBody>
      </p:sp>
      <p:sp>
        <p:nvSpPr>
          <p:cNvPr id="5" name="TextBox 4">
            <a:extLst>
              <a:ext uri="{FF2B5EF4-FFF2-40B4-BE49-F238E27FC236}">
                <a16:creationId xmlns="" xmlns:a16="http://schemas.microsoft.com/office/drawing/2014/main" id="{56895317-8F17-2BCD-C710-54F404A89615}"/>
              </a:ext>
            </a:extLst>
          </p:cNvPr>
          <p:cNvSpPr txBox="1"/>
          <p:nvPr/>
        </p:nvSpPr>
        <p:spPr>
          <a:xfrm>
            <a:off x="189571" y="6488668"/>
            <a:ext cx="12192000" cy="307777"/>
          </a:xfrm>
          <a:prstGeom prst="rect">
            <a:avLst/>
          </a:prstGeom>
          <a:noFill/>
        </p:spPr>
        <p:txBody>
          <a:bodyPr wrap="square">
            <a:spAutoFit/>
          </a:bodyPr>
          <a:lstStyle/>
          <a:p>
            <a:r>
              <a:rPr lang="en-US" sz="1400" dirty="0"/>
              <a:t>https://unit42.paloaltonetworks.com/malicious-</a:t>
            </a:r>
            <a:r>
              <a:rPr lang="en-US" sz="1400" dirty="0" err="1"/>
              <a:t>javascript</a:t>
            </a:r>
            <a:r>
              <a:rPr lang="en-US" sz="1400" dirty="0"/>
              <a:t>-using-</a:t>
            </a:r>
            <a:r>
              <a:rPr lang="en-US" sz="1400" dirty="0" err="1"/>
              <a:t>jsfiretruck</a:t>
            </a:r>
            <a:r>
              <a:rPr lang="en-US" sz="1400" dirty="0"/>
              <a:t>-as-obfuscation/</a:t>
            </a:r>
          </a:p>
        </p:txBody>
      </p:sp>
      <p:pic>
        <p:nvPicPr>
          <p:cNvPr id="3074" name="Picture 2" descr="The image displays a piece of code with various functions and characters, formatted in colorful text on a dark background.">
            <a:extLst>
              <a:ext uri="{FF2B5EF4-FFF2-40B4-BE49-F238E27FC236}">
                <a16:creationId xmlns="" xmlns:a16="http://schemas.microsoft.com/office/drawing/2014/main" id="{6FB92969-E811-BE7F-514F-DDE91A31CAB4}"/>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27670" y="1080426"/>
            <a:ext cx="6173128" cy="2050308"/>
          </a:xfrm>
          <a:prstGeom prst="rect">
            <a:avLst/>
          </a:prstGeom>
          <a:noFill/>
          <a:extLst>
            <a:ext uri="{909E8E84-426E-40DD-AFC4-6F175D3DCCD1}">
              <a14:hiddenFill xmlns="" xmlns:a14="http://schemas.microsoft.com/office/drawing/2010/main">
                <a:solidFill>
                  <a:srgbClr val="FFFFFF"/>
                </a:solidFill>
              </a14:hiddenFill>
            </a:ext>
          </a:extLst>
        </p:spPr>
      </p:pic>
      <p:pic>
        <p:nvPicPr>
          <p:cNvPr id="3076" name="Picture 4" descr="A screenshot of the Google Chrome DevTools interface, focusing on the Sources panel. The image highlights the right-click menu option &quot;Evaluate selected text in console&quot; with a cursor pointing to it, and shows other development tools and icons. The converted value is in the Console pane. ">
            <a:extLst>
              <a:ext uri="{FF2B5EF4-FFF2-40B4-BE49-F238E27FC236}">
                <a16:creationId xmlns="" xmlns:a16="http://schemas.microsoft.com/office/drawing/2014/main" id="{1721E90E-213F-CBF8-5C8B-6E598738890C}"/>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6991815" y="903250"/>
            <a:ext cx="4972515" cy="2615532"/>
          </a:xfrm>
          <a:prstGeom prst="rect">
            <a:avLst/>
          </a:prstGeom>
          <a:noFill/>
          <a:extLst>
            <a:ext uri="{909E8E84-426E-40DD-AFC4-6F175D3DCCD1}">
              <a14:hiddenFill xmlns="" xmlns:a14="http://schemas.microsoft.com/office/drawing/2010/main">
                <a:solidFill>
                  <a:srgbClr val="FFFFFF"/>
                </a:solidFill>
              </a14:hiddenFill>
            </a:ext>
          </a:extLst>
        </p:spPr>
      </p:pic>
      <p:pic>
        <p:nvPicPr>
          <p:cNvPr id="3078" name="Picture 6" descr="A screenshot of computer code in an editor, highlighting a script involving conditional checks for referrers from well-known search engines such as Google, Bing, DuckDuckGo, Yahoo, and AOL. The code includes HTML manipulation to insert an iframe. Parts of the code and URLs are intentionally blurred for privacy.">
            <a:extLst>
              <a:ext uri="{FF2B5EF4-FFF2-40B4-BE49-F238E27FC236}">
                <a16:creationId xmlns="" xmlns:a16="http://schemas.microsoft.com/office/drawing/2014/main" id="{BD177616-EE54-85F6-58A5-EE5F7F075457}"/>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4866417" y="3579442"/>
            <a:ext cx="7136012" cy="2909226"/>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5">
            <a:extLst>
              <a:ext uri="{FF2B5EF4-FFF2-40B4-BE49-F238E27FC236}">
                <a16:creationId xmlns="" xmlns:a16="http://schemas.microsoft.com/office/drawing/2014/main" id="{E1352554-970D-F200-CACD-F912E43CE833}"/>
              </a:ext>
            </a:extLst>
          </p:cNvPr>
          <p:cNvPicPr>
            <a:picLocks noChangeAspect="1"/>
          </p:cNvPicPr>
          <p:nvPr/>
        </p:nvPicPr>
        <p:blipFill>
          <a:blip r:embed="rId5"/>
          <a:stretch>
            <a:fillRect/>
          </a:stretch>
        </p:blipFill>
        <p:spPr>
          <a:xfrm>
            <a:off x="367990" y="3866418"/>
            <a:ext cx="4215161" cy="1911156"/>
          </a:xfrm>
          <a:prstGeom prst="rect">
            <a:avLst/>
          </a:prstGeom>
        </p:spPr>
      </p:pic>
    </p:spTree>
    <p:extLst>
      <p:ext uri="{BB962C8B-B14F-4D97-AF65-F5344CB8AC3E}">
        <p14:creationId xmlns="" xmlns:p14="http://schemas.microsoft.com/office/powerpoint/2010/main" val="337032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5450D46-7CF7-C0C4-55DE-158BAA82701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 xmlns:a16="http://schemas.microsoft.com/office/drawing/2014/main" id="{89A13025-435C-A7AD-A5A7-9261F072CDDE}"/>
              </a:ext>
            </a:extLst>
          </p:cNvPr>
          <p:cNvSpPr>
            <a:spLocks noGrp="1"/>
          </p:cNvSpPr>
          <p:nvPr>
            <p:ph idx="1"/>
          </p:nvPr>
        </p:nvSpPr>
        <p:spPr/>
        <p:txBody>
          <a:bodyPr>
            <a:normAutofit/>
          </a:bodyPr>
          <a:lstStyle/>
          <a:p>
            <a:r>
              <a:rPr lang="en-US" sz="1800" dirty="0">
                <a:hlinkClick r:id="rId2"/>
              </a:rPr>
              <a:t>https://www.devzery.com/post/obfuscate-js</a:t>
            </a:r>
            <a:endParaRPr lang="en-US" sz="1800" dirty="0"/>
          </a:p>
          <a:p>
            <a:r>
              <a:rPr lang="en-US" sz="1800" dirty="0">
                <a:hlinkClick r:id="rId3"/>
              </a:rPr>
              <a:t>https://www.cse.psu.edu/~sxz16/papers/malware.pdf</a:t>
            </a:r>
            <a:endParaRPr lang="en-US" sz="1800" dirty="0"/>
          </a:p>
          <a:p>
            <a:r>
              <a:rPr lang="en-US" sz="1800" dirty="0">
                <a:hlinkClick r:id="rId4"/>
              </a:rPr>
              <a:t>https://tryhackme.com/room/obfuscationprinciples</a:t>
            </a:r>
            <a:endParaRPr lang="en-US" sz="1800" dirty="0"/>
          </a:p>
          <a:p>
            <a:r>
              <a:rPr lang="en-US" sz="1800" dirty="0">
                <a:hlinkClick r:id="rId5"/>
              </a:rPr>
              <a:t>https://tech-zealots.com/malware-analysis/javascript-code-obfuscation-techniques/</a:t>
            </a:r>
            <a:endParaRPr lang="en-US" sz="1800" dirty="0"/>
          </a:p>
          <a:p>
            <a:r>
              <a:rPr lang="en-US" sz="1800" dirty="0">
                <a:hlinkClick r:id="rId6"/>
              </a:rPr>
              <a:t>https://www.microsoft.com/en-us/security/blog/2021/11/11/html-smuggling-surges-highly-evasive-loader-technique-increasingly-used-in-banking-malware-targeted-attacks/</a:t>
            </a:r>
            <a:endParaRPr lang="en-US" sz="1800" dirty="0"/>
          </a:p>
          <a:p>
            <a:r>
              <a:rPr lang="en-US" sz="1800" dirty="0">
                <a:hlinkClick r:id="rId7"/>
              </a:rPr>
              <a:t>https://unit42.paloaltonetworks.com/malicious-javascript-using-jsfiretruck-as-obfuscation</a:t>
            </a:r>
            <a:r>
              <a:rPr lang="en-US" sz="1800" dirty="0" smtClean="0">
                <a:hlinkClick r:id="rId7"/>
              </a:rPr>
              <a:t>/</a:t>
            </a:r>
            <a:endParaRPr lang="en-US" sz="1800" dirty="0" smtClean="0"/>
          </a:p>
          <a:p>
            <a:r>
              <a:rPr lang="en-US" sz="1800" dirty="0" smtClean="0">
                <a:hlinkClick r:id="rId8"/>
              </a:rPr>
              <a:t>https://github.com/aemkei</a:t>
            </a:r>
            <a:r>
              <a:rPr lang="en-US" sz="1800" dirty="0" smtClean="0"/>
              <a:t> </a:t>
            </a:r>
          </a:p>
          <a:p>
            <a:r>
              <a:rPr lang="en-US" sz="1800" dirty="0" smtClean="0">
                <a:hlinkClick r:id="rId9"/>
              </a:rPr>
              <a:t>https://utf-8.jp/public/jjencode.html</a:t>
            </a:r>
            <a:endParaRPr lang="en-US" sz="1800" dirty="0" smtClean="0"/>
          </a:p>
          <a:p>
            <a:r>
              <a:rPr lang="en-US" sz="1800" dirty="0" smtClean="0">
                <a:hlinkClick r:id="rId10"/>
              </a:rPr>
              <a:t>https://utf-8.jp/public/aaencode.html</a:t>
            </a:r>
            <a:endParaRPr lang="en-US" sz="1800" dirty="0" smtClean="0"/>
          </a:p>
          <a:p>
            <a:r>
              <a:rPr lang="en-US" sz="1800" dirty="0" smtClean="0"/>
              <a:t>https://gchq.github.io/CyberChef/</a:t>
            </a:r>
            <a:endParaRPr lang="en-US" sz="1800" dirty="0"/>
          </a:p>
          <a:p>
            <a:endParaRPr lang="en-US" sz="1800" dirty="0"/>
          </a:p>
          <a:p>
            <a:endParaRPr lang="en-US" sz="1800" dirty="0"/>
          </a:p>
        </p:txBody>
      </p:sp>
    </p:spTree>
    <p:extLst>
      <p:ext uri="{BB962C8B-B14F-4D97-AF65-F5344CB8AC3E}">
        <p14:creationId xmlns="" xmlns:p14="http://schemas.microsoft.com/office/powerpoint/2010/main" val="3000252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2987674" y="1153319"/>
            <a:ext cx="4403725" cy="4126844"/>
          </a:xfrm>
          <a:prstGeom prst="rect">
            <a:avLst/>
          </a:prstGeom>
          <a:noFill/>
          <a:ln w="9525">
            <a:noFill/>
            <a:miter lim="800000"/>
            <a:headEnd/>
            <a:tailEnd/>
          </a:ln>
        </p:spPr>
      </p:pic>
      <p:sp>
        <p:nvSpPr>
          <p:cNvPr id="5" name="TextBox 4"/>
          <p:cNvSpPr txBox="1"/>
          <p:nvPr/>
        </p:nvSpPr>
        <p:spPr>
          <a:xfrm>
            <a:off x="6210300" y="914400"/>
            <a:ext cx="4737100" cy="954107"/>
          </a:xfrm>
          <a:prstGeom prst="rect">
            <a:avLst/>
          </a:prstGeom>
          <a:noFill/>
        </p:spPr>
        <p:txBody>
          <a:bodyPr wrap="square" rtlCol="0">
            <a:spAutoFit/>
          </a:bodyPr>
          <a:lstStyle/>
          <a:p>
            <a:pPr algn="r"/>
            <a:r>
              <a:rPr lang="en-IN" sz="2800" dirty="0" smtClean="0"/>
              <a:t>Anybody got any </a:t>
            </a:r>
          </a:p>
          <a:p>
            <a:pPr algn="r"/>
            <a:r>
              <a:rPr lang="en-IN" sz="2800" dirty="0" smtClean="0"/>
              <a:t>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440</TotalTime>
  <Words>913</Words>
  <Application>Microsoft Office PowerPoint</Application>
  <PresentationFormat>Custom</PresentationFormat>
  <Paragraphs>162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JS Obfuscation  Malware’s best friend </vt:lpstr>
      <vt:lpstr>Next 60 Mins !</vt:lpstr>
      <vt:lpstr>Slide 3</vt:lpstr>
      <vt:lpstr>JS Code Obfuscation Techniques Malware Delivery</vt:lpstr>
      <vt:lpstr>Slide 5</vt:lpstr>
      <vt:lpstr>Slide 6</vt:lpstr>
      <vt:lpstr>Slide 7</vt:lpstr>
      <vt:lpstr>Demo Basic Obfuscation </vt:lpstr>
      <vt:lpstr>Demo Advanced Obfuscation </vt:lpstr>
      <vt:lpstr>Slide 10</vt:lpstr>
      <vt:lpstr>HTML Smuggling Example: </vt:lpstr>
      <vt:lpstr>JSFireTruck Obfuscation Technique</vt:lpstr>
      <vt:lpstr>References:</vt:lpstr>
      <vt:lpstr>Slide 14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JS Obfuscation  Malware’s best friend </dc:title>
  <dc:creator>B V, Sunil</dc:creator>
  <cp:lastModifiedBy>sunil kumar</cp:lastModifiedBy>
  <cp:revision>84</cp:revision>
  <dcterms:created xsi:type="dcterms:W3CDTF">2025-11-24T13:03:18Z</dcterms:created>
  <dcterms:modified xsi:type="dcterms:W3CDTF">2025-11-29T14:05:53Z</dcterms:modified>
</cp:coreProperties>
</file>