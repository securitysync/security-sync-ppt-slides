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49039" y="2161565"/>
            <a:ext cx="6068059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431219"/>
            <a:ext cx="9550400" cy="887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41399" y="1474330"/>
            <a:ext cx="7571105" cy="4528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749300" marR="5080" indent="-737235">
              <a:lnSpc>
                <a:spcPts val="3890"/>
              </a:lnSpc>
              <a:spcBef>
                <a:spcPts val="585"/>
              </a:spcBef>
            </a:pPr>
            <a:r>
              <a:rPr dirty="0" sz="3600"/>
              <a:t>Third</a:t>
            </a:r>
            <a:r>
              <a:rPr dirty="0" sz="3600" spc="-20"/>
              <a:t> </a:t>
            </a:r>
            <a:r>
              <a:rPr dirty="0" sz="3600"/>
              <a:t>Party</a:t>
            </a:r>
            <a:r>
              <a:rPr dirty="0" sz="3600" spc="-15"/>
              <a:t> </a:t>
            </a:r>
            <a:r>
              <a:rPr dirty="0" sz="3600"/>
              <a:t>Risk</a:t>
            </a:r>
            <a:r>
              <a:rPr dirty="0" sz="3600" spc="-15"/>
              <a:t> </a:t>
            </a:r>
            <a:r>
              <a:rPr dirty="0" sz="3600" spc="-10"/>
              <a:t>Management </a:t>
            </a:r>
            <a:r>
              <a:rPr dirty="0" sz="3600"/>
              <a:t>[TPRM]</a:t>
            </a:r>
            <a:r>
              <a:rPr dirty="0" sz="3600" spc="-100"/>
              <a:t> </a:t>
            </a:r>
            <a:r>
              <a:rPr dirty="0" sz="3600" spc="-10"/>
              <a:t>Fundamentals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896314" y="4290821"/>
            <a:ext cx="2615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By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Bharati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Byahatti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5449" y="772262"/>
            <a:ext cx="372110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TPRM: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Who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Third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0732" y="1222603"/>
            <a:ext cx="9403080" cy="207200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600" b="1">
                <a:latin typeface="Calibri"/>
                <a:cs typeface="Calibri"/>
              </a:rPr>
              <a:t>Who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is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Third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Party: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1730"/>
              </a:lnSpc>
              <a:spcBef>
                <a:spcPts val="1025"/>
              </a:spcBef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third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party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refers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external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entity,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this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individual,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organization,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external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service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provider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organization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engages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dirty="0" u="sng" sz="160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160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provide</a:t>
            </a:r>
            <a:r>
              <a:rPr dirty="0" u="sng" sz="1600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products,</a:t>
            </a:r>
            <a:r>
              <a:rPr dirty="0" u="sng" sz="160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services,</a:t>
            </a:r>
            <a:r>
              <a:rPr dirty="0" u="sng" sz="1600" spc="-3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dirty="0" u="sng" sz="1600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support.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Calibri"/>
                <a:cs typeface="Calibri"/>
              </a:rPr>
              <a:t>Examples:</a:t>
            </a:r>
            <a:endParaRPr sz="16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480"/>
              </a:spcBef>
              <a:buFont typeface="Segoe UI Emoji"/>
              <a:buChar char="✓"/>
              <a:tabLst>
                <a:tab pos="297815" algn="l"/>
              </a:tabLst>
            </a:pPr>
            <a:r>
              <a:rPr dirty="0" sz="1600" b="1">
                <a:latin typeface="Calibri"/>
                <a:cs typeface="Calibri"/>
              </a:rPr>
              <a:t>Tech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&amp;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Digital: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External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companies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handle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your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money.</a:t>
            </a:r>
            <a:endParaRPr sz="1600">
              <a:latin typeface="Calibri"/>
              <a:cs typeface="Calibri"/>
            </a:endParaRPr>
          </a:p>
          <a:p>
            <a:pPr marL="812165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latin typeface="Calibri"/>
                <a:cs typeface="Calibri"/>
              </a:rPr>
              <a:t>PhonePe/Amazon</a:t>
            </a:r>
            <a:r>
              <a:rPr dirty="0" sz="1600" spc="-4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Pay/Google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Pay</a:t>
            </a:r>
            <a:r>
              <a:rPr dirty="0" sz="1600">
                <a:latin typeface="Calibri"/>
                <a:cs typeface="Calibri"/>
              </a:rPr>
              <a:t>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Jio/Airtel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(Home/office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Wi-</a:t>
            </a:r>
            <a:r>
              <a:rPr dirty="0" sz="1600" spc="-20">
                <a:latin typeface="Calibri"/>
                <a:cs typeface="Calibri"/>
              </a:rPr>
              <a:t>Fi).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709" y="3507778"/>
            <a:ext cx="8946832" cy="30907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340" rIns="0" bIns="0" rtlCol="0" vert="horz">
            <a:spAutoFit/>
          </a:bodyPr>
          <a:lstStyle/>
          <a:p>
            <a:pPr marL="54991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TPRM: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Risk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3268" y="1736852"/>
            <a:ext cx="8267065" cy="11906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5"/>
              </a:spcBef>
            </a:pPr>
            <a:r>
              <a:rPr dirty="0" sz="1600" b="1">
                <a:latin typeface="Calibri"/>
                <a:cs typeface="Calibri"/>
              </a:rPr>
              <a:t>Risk: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possibility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event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occurring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will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have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impact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(either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positive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negative)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an </a:t>
            </a:r>
            <a:r>
              <a:rPr dirty="0" sz="1600">
                <a:latin typeface="Calibri"/>
                <a:cs typeface="Calibri"/>
              </a:rPr>
              <a:t>organization's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objectives.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Arial"/>
                <a:cs typeface="Arial"/>
              </a:rPr>
              <a:t>Example: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Riding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bicycle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without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helmet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5714" y="2898216"/>
            <a:ext cx="9183357" cy="32681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454454" y="886860"/>
            <a:ext cx="30829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TPRM: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What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TPRM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3268" y="1736852"/>
            <a:ext cx="9105900" cy="70866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5"/>
              </a:spcBef>
            </a:pPr>
            <a:r>
              <a:rPr dirty="0" sz="1600" b="1">
                <a:latin typeface="Calibri"/>
                <a:cs typeface="Calibri"/>
              </a:rPr>
              <a:t>What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is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TPRM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in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Cybersecurity: </a:t>
            </a:r>
            <a:r>
              <a:rPr dirty="0" sz="1600">
                <a:latin typeface="Calibri"/>
                <a:cs typeface="Calibri"/>
              </a:rPr>
              <a:t>It’s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managing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risks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external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vendors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service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providers </a:t>
            </a:r>
            <a:r>
              <a:rPr dirty="0" sz="1600">
                <a:latin typeface="Calibri"/>
                <a:cs typeface="Calibri"/>
              </a:rPr>
              <a:t>who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access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organization’s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systems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data.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TPRM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ensures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these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third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parties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follow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good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security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practices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protect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sensitive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information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prevent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breaches..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8809" y="2462136"/>
            <a:ext cx="7274013" cy="3967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02739" y="909417"/>
            <a:ext cx="227520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TPRM:CIA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Triad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9506" y="1605775"/>
            <a:ext cx="9075420" cy="46462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5"/>
              </a:spcBef>
            </a:pPr>
            <a:r>
              <a:rPr dirty="0" sz="1600" b="1">
                <a:latin typeface="Arial"/>
                <a:cs typeface="Arial"/>
              </a:rPr>
              <a:t>The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traid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is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fundamental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model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designed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to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guide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policies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for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information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security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within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an </a:t>
            </a:r>
            <a:r>
              <a:rPr dirty="0" sz="1600" spc="-10" b="1">
                <a:latin typeface="Arial"/>
                <a:cs typeface="Arial"/>
              </a:rPr>
              <a:t>organization.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600" b="1">
                <a:latin typeface="Arial"/>
                <a:cs typeface="Arial"/>
              </a:rPr>
              <a:t>It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focuses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on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three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core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principles: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600">
              <a:latin typeface="Arial"/>
              <a:cs typeface="Arial"/>
            </a:endParaRPr>
          </a:p>
          <a:p>
            <a:pPr marL="297180" marR="3300095" indent="-285115">
              <a:lnSpc>
                <a:spcPct val="142100"/>
              </a:lnSpc>
              <a:buFont typeface="Segoe UI Emoji"/>
              <a:buChar char="✓"/>
              <a:tabLst>
                <a:tab pos="407670" algn="l"/>
              </a:tabLst>
            </a:pPr>
            <a:r>
              <a:rPr dirty="0" sz="1600" b="1">
                <a:latin typeface="Arial"/>
                <a:cs typeface="Arial"/>
              </a:rPr>
              <a:t>Confidentiality</a:t>
            </a:r>
            <a:r>
              <a:rPr dirty="0" sz="1600">
                <a:latin typeface="Arial"/>
                <a:cs typeface="Arial"/>
              </a:rPr>
              <a:t>: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Preventing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unauthorized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disclosure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data. </a:t>
            </a:r>
            <a:r>
              <a:rPr dirty="0" sz="1600" spc="-10">
                <a:latin typeface="Arial"/>
                <a:cs typeface="Arial"/>
              </a:rPr>
              <a:t>	</a:t>
            </a:r>
            <a:r>
              <a:rPr dirty="0" sz="1600">
                <a:latin typeface="Arial"/>
                <a:cs typeface="Arial"/>
              </a:rPr>
              <a:t>Examples: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Encryption,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access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controls,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user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authentication.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Segoe UI Emoji"/>
              <a:buChar char="✓"/>
            </a:pPr>
            <a:endParaRPr sz="1600">
              <a:latin typeface="Arial"/>
              <a:cs typeface="Arial"/>
            </a:endParaRPr>
          </a:p>
          <a:p>
            <a:pPr marL="297180" marR="1968500" indent="-285115">
              <a:lnSpc>
                <a:spcPct val="142100"/>
              </a:lnSpc>
              <a:buFont typeface="Segoe UI Emoji"/>
              <a:buChar char="✓"/>
              <a:tabLst>
                <a:tab pos="351155" algn="l"/>
              </a:tabLst>
            </a:pPr>
            <a:r>
              <a:rPr dirty="0" sz="1600" b="1">
                <a:latin typeface="Arial"/>
                <a:cs typeface="Arial"/>
              </a:rPr>
              <a:t>Integrity: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Ensuring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data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accurate,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consistent,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hasn't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been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improperly </a:t>
            </a:r>
            <a:r>
              <a:rPr dirty="0" sz="1600" spc="-10">
                <a:latin typeface="Arial"/>
                <a:cs typeface="Arial"/>
              </a:rPr>
              <a:t>	</a:t>
            </a:r>
            <a:r>
              <a:rPr dirty="0" sz="1600">
                <a:latin typeface="Arial"/>
                <a:cs typeface="Arial"/>
              </a:rPr>
              <a:t>Modified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destroyed.</a:t>
            </a:r>
            <a:endParaRPr sz="1600">
              <a:latin typeface="Arial"/>
              <a:cs typeface="Arial"/>
            </a:endParaRPr>
          </a:p>
          <a:p>
            <a:pPr marL="351155">
              <a:lnSpc>
                <a:spcPct val="100000"/>
              </a:lnSpc>
              <a:spcBef>
                <a:spcPts val="810"/>
              </a:spcBef>
            </a:pPr>
            <a:r>
              <a:rPr dirty="0" sz="1600">
                <a:latin typeface="Arial"/>
                <a:cs typeface="Arial"/>
              </a:rPr>
              <a:t>Examples: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Hashing,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digital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signatures,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version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control,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backup/recovery.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600">
              <a:latin typeface="Arial"/>
              <a:cs typeface="Arial"/>
            </a:endParaRPr>
          </a:p>
          <a:p>
            <a:pPr marL="297180" marR="2287905" indent="-285115">
              <a:lnSpc>
                <a:spcPct val="142100"/>
              </a:lnSpc>
              <a:buFont typeface="Segoe UI Emoji"/>
              <a:buChar char="✓"/>
              <a:tabLst>
                <a:tab pos="407670" algn="l"/>
              </a:tabLst>
            </a:pPr>
            <a:r>
              <a:rPr dirty="0" sz="1600" b="1">
                <a:latin typeface="Arial"/>
                <a:cs typeface="Arial"/>
              </a:rPr>
              <a:t>Availability</a:t>
            </a:r>
            <a:r>
              <a:rPr dirty="0" sz="1600">
                <a:latin typeface="Arial"/>
                <a:cs typeface="Arial"/>
              </a:rPr>
              <a:t>: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Guaranteeing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timely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reliable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access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information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and </a:t>
            </a:r>
            <a:r>
              <a:rPr dirty="0" sz="1600" spc="-25">
                <a:latin typeface="Arial"/>
                <a:cs typeface="Arial"/>
              </a:rPr>
              <a:t>	</a:t>
            </a:r>
            <a:r>
              <a:rPr dirty="0" sz="1600">
                <a:latin typeface="Arial"/>
                <a:cs typeface="Arial"/>
              </a:rPr>
              <a:t>systems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authorized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users.</a:t>
            </a:r>
            <a:endParaRPr sz="1600">
              <a:latin typeface="Arial"/>
              <a:cs typeface="Arial"/>
            </a:endParaRPr>
          </a:p>
          <a:p>
            <a:pPr marL="351155">
              <a:lnSpc>
                <a:spcPct val="100000"/>
              </a:lnSpc>
              <a:spcBef>
                <a:spcPts val="810"/>
              </a:spcBef>
            </a:pPr>
            <a:r>
              <a:rPr dirty="0" sz="1600">
                <a:latin typeface="Arial"/>
                <a:cs typeface="Arial"/>
              </a:rPr>
              <a:t>Examples: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Redundancy,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disaster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recovery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plans,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load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balancing.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2426" y="2714091"/>
            <a:ext cx="3292119" cy="2941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15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TPRM: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Why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Third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Parties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-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why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organizations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rely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third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parties: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8200" y="1350238"/>
            <a:ext cx="9552305" cy="568325"/>
            <a:chOff x="838200" y="1350238"/>
            <a:chExt cx="9552305" cy="568325"/>
          </a:xfrm>
        </p:grpSpPr>
        <p:sp>
          <p:nvSpPr>
            <p:cNvPr id="4" name="object 4"/>
            <p:cNvSpPr/>
            <p:nvPr/>
          </p:nvSpPr>
          <p:spPr>
            <a:xfrm>
              <a:off x="838200" y="1350238"/>
              <a:ext cx="9552305" cy="568325"/>
            </a:xfrm>
            <a:custGeom>
              <a:avLst/>
              <a:gdLst/>
              <a:ahLst/>
              <a:cxnLst/>
              <a:rect l="l" t="t" r="r" b="b"/>
              <a:pathLst>
                <a:path w="9552305" h="568325">
                  <a:moveTo>
                    <a:pt x="9495015" y="0"/>
                  </a:moveTo>
                  <a:lnTo>
                    <a:pt x="56779" y="0"/>
                  </a:lnTo>
                  <a:lnTo>
                    <a:pt x="34767" y="4491"/>
                  </a:lnTo>
                  <a:lnTo>
                    <a:pt x="16709" y="16708"/>
                  </a:lnTo>
                  <a:lnTo>
                    <a:pt x="4491" y="34766"/>
                  </a:lnTo>
                  <a:lnTo>
                    <a:pt x="0" y="56781"/>
                  </a:lnTo>
                  <a:lnTo>
                    <a:pt x="0" y="511022"/>
                  </a:lnTo>
                  <a:lnTo>
                    <a:pt x="4491" y="533032"/>
                  </a:lnTo>
                  <a:lnTo>
                    <a:pt x="16709" y="551091"/>
                  </a:lnTo>
                  <a:lnTo>
                    <a:pt x="34767" y="563311"/>
                  </a:lnTo>
                  <a:lnTo>
                    <a:pt x="56779" y="567804"/>
                  </a:lnTo>
                  <a:lnTo>
                    <a:pt x="9495015" y="567804"/>
                  </a:lnTo>
                  <a:lnTo>
                    <a:pt x="9517030" y="563311"/>
                  </a:lnTo>
                  <a:lnTo>
                    <a:pt x="9535088" y="551091"/>
                  </a:lnTo>
                  <a:lnTo>
                    <a:pt x="9547305" y="533032"/>
                  </a:lnTo>
                  <a:lnTo>
                    <a:pt x="9551797" y="511022"/>
                  </a:lnTo>
                  <a:lnTo>
                    <a:pt x="9551797" y="56781"/>
                  </a:lnTo>
                  <a:lnTo>
                    <a:pt x="9547305" y="34766"/>
                  </a:lnTo>
                  <a:lnTo>
                    <a:pt x="9535088" y="16708"/>
                  </a:lnTo>
                  <a:lnTo>
                    <a:pt x="9517030" y="4491"/>
                  </a:lnTo>
                  <a:lnTo>
                    <a:pt x="9495015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9958" y="1478000"/>
              <a:ext cx="312290" cy="31229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38200" y="2059990"/>
            <a:ext cx="9552305" cy="568325"/>
            <a:chOff x="838200" y="2059990"/>
            <a:chExt cx="9552305" cy="568325"/>
          </a:xfrm>
        </p:grpSpPr>
        <p:sp>
          <p:nvSpPr>
            <p:cNvPr id="7" name="object 7"/>
            <p:cNvSpPr/>
            <p:nvPr/>
          </p:nvSpPr>
          <p:spPr>
            <a:xfrm>
              <a:off x="838200" y="2059990"/>
              <a:ext cx="9552305" cy="568325"/>
            </a:xfrm>
            <a:custGeom>
              <a:avLst/>
              <a:gdLst/>
              <a:ahLst/>
              <a:cxnLst/>
              <a:rect l="l" t="t" r="r" b="b"/>
              <a:pathLst>
                <a:path w="9552305" h="568325">
                  <a:moveTo>
                    <a:pt x="9495015" y="0"/>
                  </a:moveTo>
                  <a:lnTo>
                    <a:pt x="56779" y="0"/>
                  </a:lnTo>
                  <a:lnTo>
                    <a:pt x="34767" y="4491"/>
                  </a:lnTo>
                  <a:lnTo>
                    <a:pt x="16709" y="16708"/>
                  </a:lnTo>
                  <a:lnTo>
                    <a:pt x="4491" y="34766"/>
                  </a:lnTo>
                  <a:lnTo>
                    <a:pt x="0" y="56781"/>
                  </a:lnTo>
                  <a:lnTo>
                    <a:pt x="0" y="511022"/>
                  </a:lnTo>
                  <a:lnTo>
                    <a:pt x="4491" y="533032"/>
                  </a:lnTo>
                  <a:lnTo>
                    <a:pt x="16709" y="551091"/>
                  </a:lnTo>
                  <a:lnTo>
                    <a:pt x="34767" y="563311"/>
                  </a:lnTo>
                  <a:lnTo>
                    <a:pt x="56779" y="567804"/>
                  </a:lnTo>
                  <a:lnTo>
                    <a:pt x="9495015" y="567804"/>
                  </a:lnTo>
                  <a:lnTo>
                    <a:pt x="9517030" y="563311"/>
                  </a:lnTo>
                  <a:lnTo>
                    <a:pt x="9535088" y="551091"/>
                  </a:lnTo>
                  <a:lnTo>
                    <a:pt x="9547305" y="533032"/>
                  </a:lnTo>
                  <a:lnTo>
                    <a:pt x="9551797" y="511022"/>
                  </a:lnTo>
                  <a:lnTo>
                    <a:pt x="9551797" y="56781"/>
                  </a:lnTo>
                  <a:lnTo>
                    <a:pt x="9547305" y="34766"/>
                  </a:lnTo>
                  <a:lnTo>
                    <a:pt x="9535088" y="16708"/>
                  </a:lnTo>
                  <a:lnTo>
                    <a:pt x="9517030" y="4491"/>
                  </a:lnTo>
                  <a:lnTo>
                    <a:pt x="9495015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9958" y="2187752"/>
              <a:ext cx="312290" cy="312293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838200" y="2769742"/>
            <a:ext cx="9552305" cy="568325"/>
            <a:chOff x="838200" y="2769742"/>
            <a:chExt cx="9552305" cy="568325"/>
          </a:xfrm>
        </p:grpSpPr>
        <p:sp>
          <p:nvSpPr>
            <p:cNvPr id="10" name="object 10"/>
            <p:cNvSpPr/>
            <p:nvPr/>
          </p:nvSpPr>
          <p:spPr>
            <a:xfrm>
              <a:off x="838200" y="2769742"/>
              <a:ext cx="9552305" cy="568325"/>
            </a:xfrm>
            <a:custGeom>
              <a:avLst/>
              <a:gdLst/>
              <a:ahLst/>
              <a:cxnLst/>
              <a:rect l="l" t="t" r="r" b="b"/>
              <a:pathLst>
                <a:path w="9552305" h="568325">
                  <a:moveTo>
                    <a:pt x="9495015" y="0"/>
                  </a:moveTo>
                  <a:lnTo>
                    <a:pt x="56779" y="0"/>
                  </a:lnTo>
                  <a:lnTo>
                    <a:pt x="34767" y="4491"/>
                  </a:lnTo>
                  <a:lnTo>
                    <a:pt x="16709" y="16708"/>
                  </a:lnTo>
                  <a:lnTo>
                    <a:pt x="4491" y="34766"/>
                  </a:lnTo>
                  <a:lnTo>
                    <a:pt x="0" y="56781"/>
                  </a:lnTo>
                  <a:lnTo>
                    <a:pt x="0" y="511022"/>
                  </a:lnTo>
                  <a:lnTo>
                    <a:pt x="4491" y="533032"/>
                  </a:lnTo>
                  <a:lnTo>
                    <a:pt x="16709" y="551091"/>
                  </a:lnTo>
                  <a:lnTo>
                    <a:pt x="34767" y="563311"/>
                  </a:lnTo>
                  <a:lnTo>
                    <a:pt x="56779" y="567804"/>
                  </a:lnTo>
                  <a:lnTo>
                    <a:pt x="9495015" y="567804"/>
                  </a:lnTo>
                  <a:lnTo>
                    <a:pt x="9517030" y="563311"/>
                  </a:lnTo>
                  <a:lnTo>
                    <a:pt x="9535088" y="551091"/>
                  </a:lnTo>
                  <a:lnTo>
                    <a:pt x="9547305" y="533032"/>
                  </a:lnTo>
                  <a:lnTo>
                    <a:pt x="9551797" y="511022"/>
                  </a:lnTo>
                  <a:lnTo>
                    <a:pt x="9551797" y="56781"/>
                  </a:lnTo>
                  <a:lnTo>
                    <a:pt x="9547305" y="34766"/>
                  </a:lnTo>
                  <a:lnTo>
                    <a:pt x="9535088" y="16708"/>
                  </a:lnTo>
                  <a:lnTo>
                    <a:pt x="9517030" y="4491"/>
                  </a:lnTo>
                  <a:lnTo>
                    <a:pt x="9495015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9958" y="2897504"/>
              <a:ext cx="312290" cy="31229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838200" y="3479495"/>
            <a:ext cx="9552305" cy="568325"/>
            <a:chOff x="838200" y="3479495"/>
            <a:chExt cx="9552305" cy="568325"/>
          </a:xfrm>
        </p:grpSpPr>
        <p:sp>
          <p:nvSpPr>
            <p:cNvPr id="13" name="object 13"/>
            <p:cNvSpPr/>
            <p:nvPr/>
          </p:nvSpPr>
          <p:spPr>
            <a:xfrm>
              <a:off x="838200" y="3479495"/>
              <a:ext cx="9552305" cy="568325"/>
            </a:xfrm>
            <a:custGeom>
              <a:avLst/>
              <a:gdLst/>
              <a:ahLst/>
              <a:cxnLst/>
              <a:rect l="l" t="t" r="r" b="b"/>
              <a:pathLst>
                <a:path w="9552305" h="568325">
                  <a:moveTo>
                    <a:pt x="9495015" y="0"/>
                  </a:moveTo>
                  <a:lnTo>
                    <a:pt x="56779" y="0"/>
                  </a:lnTo>
                  <a:lnTo>
                    <a:pt x="34767" y="4491"/>
                  </a:lnTo>
                  <a:lnTo>
                    <a:pt x="16709" y="16708"/>
                  </a:lnTo>
                  <a:lnTo>
                    <a:pt x="4491" y="34766"/>
                  </a:lnTo>
                  <a:lnTo>
                    <a:pt x="0" y="56781"/>
                  </a:lnTo>
                  <a:lnTo>
                    <a:pt x="0" y="511022"/>
                  </a:lnTo>
                  <a:lnTo>
                    <a:pt x="4491" y="533032"/>
                  </a:lnTo>
                  <a:lnTo>
                    <a:pt x="16709" y="551091"/>
                  </a:lnTo>
                  <a:lnTo>
                    <a:pt x="34767" y="563311"/>
                  </a:lnTo>
                  <a:lnTo>
                    <a:pt x="56779" y="567804"/>
                  </a:lnTo>
                  <a:lnTo>
                    <a:pt x="9495015" y="567804"/>
                  </a:lnTo>
                  <a:lnTo>
                    <a:pt x="9517030" y="563311"/>
                  </a:lnTo>
                  <a:lnTo>
                    <a:pt x="9535088" y="551091"/>
                  </a:lnTo>
                  <a:lnTo>
                    <a:pt x="9547305" y="533032"/>
                  </a:lnTo>
                  <a:lnTo>
                    <a:pt x="9551797" y="511022"/>
                  </a:lnTo>
                  <a:lnTo>
                    <a:pt x="9551797" y="56781"/>
                  </a:lnTo>
                  <a:lnTo>
                    <a:pt x="9547305" y="34766"/>
                  </a:lnTo>
                  <a:lnTo>
                    <a:pt x="9535088" y="16708"/>
                  </a:lnTo>
                  <a:lnTo>
                    <a:pt x="9517030" y="4491"/>
                  </a:lnTo>
                  <a:lnTo>
                    <a:pt x="9495015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9958" y="3607244"/>
              <a:ext cx="312290" cy="312293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838200" y="4189247"/>
            <a:ext cx="9552305" cy="568325"/>
            <a:chOff x="838200" y="4189247"/>
            <a:chExt cx="9552305" cy="568325"/>
          </a:xfrm>
        </p:grpSpPr>
        <p:sp>
          <p:nvSpPr>
            <p:cNvPr id="16" name="object 16"/>
            <p:cNvSpPr/>
            <p:nvPr/>
          </p:nvSpPr>
          <p:spPr>
            <a:xfrm>
              <a:off x="838200" y="4189247"/>
              <a:ext cx="9552305" cy="568325"/>
            </a:xfrm>
            <a:custGeom>
              <a:avLst/>
              <a:gdLst/>
              <a:ahLst/>
              <a:cxnLst/>
              <a:rect l="l" t="t" r="r" b="b"/>
              <a:pathLst>
                <a:path w="9552305" h="568325">
                  <a:moveTo>
                    <a:pt x="9495015" y="0"/>
                  </a:moveTo>
                  <a:lnTo>
                    <a:pt x="56779" y="0"/>
                  </a:lnTo>
                  <a:lnTo>
                    <a:pt x="34767" y="4491"/>
                  </a:lnTo>
                  <a:lnTo>
                    <a:pt x="16709" y="16708"/>
                  </a:lnTo>
                  <a:lnTo>
                    <a:pt x="4491" y="34766"/>
                  </a:lnTo>
                  <a:lnTo>
                    <a:pt x="0" y="56781"/>
                  </a:lnTo>
                  <a:lnTo>
                    <a:pt x="0" y="511022"/>
                  </a:lnTo>
                  <a:lnTo>
                    <a:pt x="4491" y="533032"/>
                  </a:lnTo>
                  <a:lnTo>
                    <a:pt x="16709" y="551091"/>
                  </a:lnTo>
                  <a:lnTo>
                    <a:pt x="34767" y="563311"/>
                  </a:lnTo>
                  <a:lnTo>
                    <a:pt x="56779" y="567804"/>
                  </a:lnTo>
                  <a:lnTo>
                    <a:pt x="9495015" y="567804"/>
                  </a:lnTo>
                  <a:lnTo>
                    <a:pt x="9517030" y="563311"/>
                  </a:lnTo>
                  <a:lnTo>
                    <a:pt x="9535088" y="551091"/>
                  </a:lnTo>
                  <a:lnTo>
                    <a:pt x="9547305" y="533032"/>
                  </a:lnTo>
                  <a:lnTo>
                    <a:pt x="9551797" y="511022"/>
                  </a:lnTo>
                  <a:lnTo>
                    <a:pt x="9551797" y="56781"/>
                  </a:lnTo>
                  <a:lnTo>
                    <a:pt x="9547305" y="34766"/>
                  </a:lnTo>
                  <a:lnTo>
                    <a:pt x="9535088" y="16708"/>
                  </a:lnTo>
                  <a:lnTo>
                    <a:pt x="9517030" y="4491"/>
                  </a:lnTo>
                  <a:lnTo>
                    <a:pt x="9495015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9958" y="4316996"/>
              <a:ext cx="312290" cy="312293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38200" y="4898999"/>
            <a:ext cx="9552305" cy="568325"/>
            <a:chOff x="838200" y="4898999"/>
            <a:chExt cx="9552305" cy="568325"/>
          </a:xfrm>
        </p:grpSpPr>
        <p:sp>
          <p:nvSpPr>
            <p:cNvPr id="19" name="object 19"/>
            <p:cNvSpPr/>
            <p:nvPr/>
          </p:nvSpPr>
          <p:spPr>
            <a:xfrm>
              <a:off x="838200" y="4898999"/>
              <a:ext cx="9552305" cy="568325"/>
            </a:xfrm>
            <a:custGeom>
              <a:avLst/>
              <a:gdLst/>
              <a:ahLst/>
              <a:cxnLst/>
              <a:rect l="l" t="t" r="r" b="b"/>
              <a:pathLst>
                <a:path w="9552305" h="568325">
                  <a:moveTo>
                    <a:pt x="9495015" y="0"/>
                  </a:moveTo>
                  <a:lnTo>
                    <a:pt x="56779" y="0"/>
                  </a:lnTo>
                  <a:lnTo>
                    <a:pt x="34767" y="4491"/>
                  </a:lnTo>
                  <a:lnTo>
                    <a:pt x="16709" y="16708"/>
                  </a:lnTo>
                  <a:lnTo>
                    <a:pt x="4491" y="34766"/>
                  </a:lnTo>
                  <a:lnTo>
                    <a:pt x="0" y="56781"/>
                  </a:lnTo>
                  <a:lnTo>
                    <a:pt x="0" y="511022"/>
                  </a:lnTo>
                  <a:lnTo>
                    <a:pt x="4491" y="533032"/>
                  </a:lnTo>
                  <a:lnTo>
                    <a:pt x="16709" y="551091"/>
                  </a:lnTo>
                  <a:lnTo>
                    <a:pt x="34767" y="563311"/>
                  </a:lnTo>
                  <a:lnTo>
                    <a:pt x="56779" y="567804"/>
                  </a:lnTo>
                  <a:lnTo>
                    <a:pt x="9495015" y="567804"/>
                  </a:lnTo>
                  <a:lnTo>
                    <a:pt x="9517030" y="563311"/>
                  </a:lnTo>
                  <a:lnTo>
                    <a:pt x="9535088" y="551091"/>
                  </a:lnTo>
                  <a:lnTo>
                    <a:pt x="9547305" y="533032"/>
                  </a:lnTo>
                  <a:lnTo>
                    <a:pt x="9551797" y="511022"/>
                  </a:lnTo>
                  <a:lnTo>
                    <a:pt x="9551797" y="56781"/>
                  </a:lnTo>
                  <a:lnTo>
                    <a:pt x="9547305" y="34766"/>
                  </a:lnTo>
                  <a:lnTo>
                    <a:pt x="9535088" y="16708"/>
                  </a:lnTo>
                  <a:lnTo>
                    <a:pt x="9517030" y="4491"/>
                  </a:lnTo>
                  <a:lnTo>
                    <a:pt x="9495015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9958" y="5026748"/>
              <a:ext cx="312290" cy="312293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838200" y="5608751"/>
            <a:ext cx="9552305" cy="568325"/>
            <a:chOff x="838200" y="5608751"/>
            <a:chExt cx="9552305" cy="568325"/>
          </a:xfrm>
        </p:grpSpPr>
        <p:sp>
          <p:nvSpPr>
            <p:cNvPr id="22" name="object 22"/>
            <p:cNvSpPr/>
            <p:nvPr/>
          </p:nvSpPr>
          <p:spPr>
            <a:xfrm>
              <a:off x="838200" y="5608751"/>
              <a:ext cx="9552305" cy="568325"/>
            </a:xfrm>
            <a:custGeom>
              <a:avLst/>
              <a:gdLst/>
              <a:ahLst/>
              <a:cxnLst/>
              <a:rect l="l" t="t" r="r" b="b"/>
              <a:pathLst>
                <a:path w="9552305" h="568325">
                  <a:moveTo>
                    <a:pt x="9495015" y="0"/>
                  </a:moveTo>
                  <a:lnTo>
                    <a:pt x="56779" y="0"/>
                  </a:lnTo>
                  <a:lnTo>
                    <a:pt x="34767" y="4491"/>
                  </a:lnTo>
                  <a:lnTo>
                    <a:pt x="16709" y="16708"/>
                  </a:lnTo>
                  <a:lnTo>
                    <a:pt x="4491" y="34766"/>
                  </a:lnTo>
                  <a:lnTo>
                    <a:pt x="0" y="56781"/>
                  </a:lnTo>
                  <a:lnTo>
                    <a:pt x="0" y="511022"/>
                  </a:lnTo>
                  <a:lnTo>
                    <a:pt x="4491" y="533032"/>
                  </a:lnTo>
                  <a:lnTo>
                    <a:pt x="16709" y="551091"/>
                  </a:lnTo>
                  <a:lnTo>
                    <a:pt x="34767" y="563311"/>
                  </a:lnTo>
                  <a:lnTo>
                    <a:pt x="56779" y="567804"/>
                  </a:lnTo>
                  <a:lnTo>
                    <a:pt x="9495015" y="567804"/>
                  </a:lnTo>
                  <a:lnTo>
                    <a:pt x="9517030" y="563311"/>
                  </a:lnTo>
                  <a:lnTo>
                    <a:pt x="9535088" y="551091"/>
                  </a:lnTo>
                  <a:lnTo>
                    <a:pt x="9547305" y="533032"/>
                  </a:lnTo>
                  <a:lnTo>
                    <a:pt x="9551797" y="511022"/>
                  </a:lnTo>
                  <a:lnTo>
                    <a:pt x="9551797" y="56781"/>
                  </a:lnTo>
                  <a:lnTo>
                    <a:pt x="9547305" y="34766"/>
                  </a:lnTo>
                  <a:lnTo>
                    <a:pt x="9535088" y="16708"/>
                  </a:lnTo>
                  <a:lnTo>
                    <a:pt x="9517030" y="4491"/>
                  </a:lnTo>
                  <a:lnTo>
                    <a:pt x="9495015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9958" y="5736501"/>
              <a:ext cx="312290" cy="312293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Cost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Efficiency: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/>
              <a:t>Reducing</a:t>
            </a:r>
            <a:r>
              <a:rPr dirty="0" spc="-45"/>
              <a:t> </a:t>
            </a:r>
            <a:r>
              <a:rPr dirty="0"/>
              <a:t>expenses</a:t>
            </a:r>
            <a:r>
              <a:rPr dirty="0" spc="-45"/>
              <a:t> </a:t>
            </a:r>
            <a:r>
              <a:rPr dirty="0"/>
              <a:t>by</a:t>
            </a:r>
            <a:r>
              <a:rPr dirty="0" spc="-40"/>
              <a:t> </a:t>
            </a:r>
            <a:r>
              <a:rPr dirty="0"/>
              <a:t>outsourcing</a:t>
            </a:r>
            <a:r>
              <a:rPr dirty="0" spc="-45"/>
              <a:t> </a:t>
            </a:r>
            <a:r>
              <a:rPr dirty="0" spc="-10"/>
              <a:t>non-</a:t>
            </a:r>
            <a:r>
              <a:rPr dirty="0"/>
              <a:t>core</a:t>
            </a:r>
            <a:r>
              <a:rPr dirty="0" spc="-45"/>
              <a:t> </a:t>
            </a:r>
            <a:r>
              <a:rPr dirty="0" spc="-10"/>
              <a:t>tasks.</a:t>
            </a:r>
          </a:p>
          <a:p>
            <a:pPr>
              <a:lnSpc>
                <a:spcPct val="100000"/>
              </a:lnSpc>
              <a:spcBef>
                <a:spcPts val="1714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Calibri"/>
                <a:cs typeface="Calibri"/>
              </a:rPr>
              <a:t>Access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to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Expertise: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/>
              <a:t>Getting</a:t>
            </a:r>
            <a:r>
              <a:rPr dirty="0" spc="-35"/>
              <a:t> </a:t>
            </a:r>
            <a:r>
              <a:rPr dirty="0"/>
              <a:t>specialized</a:t>
            </a:r>
            <a:r>
              <a:rPr dirty="0" spc="-30"/>
              <a:t> </a:t>
            </a:r>
            <a:r>
              <a:rPr dirty="0"/>
              <a:t>skills</a:t>
            </a:r>
            <a:r>
              <a:rPr dirty="0" spc="-30"/>
              <a:t> </a:t>
            </a:r>
            <a:r>
              <a:rPr dirty="0"/>
              <a:t>that</a:t>
            </a:r>
            <a:r>
              <a:rPr dirty="0" spc="-30"/>
              <a:t> </a:t>
            </a:r>
            <a:r>
              <a:rPr dirty="0"/>
              <a:t>may</a:t>
            </a:r>
            <a:r>
              <a:rPr dirty="0" spc="-35"/>
              <a:t> </a:t>
            </a:r>
            <a:r>
              <a:rPr dirty="0"/>
              <a:t>not</a:t>
            </a:r>
            <a:r>
              <a:rPr dirty="0" spc="-30"/>
              <a:t> </a:t>
            </a:r>
            <a:r>
              <a:rPr dirty="0"/>
              <a:t>exist</a:t>
            </a:r>
            <a:r>
              <a:rPr dirty="0" spc="-30"/>
              <a:t> </a:t>
            </a:r>
            <a:r>
              <a:rPr dirty="0" spc="-10"/>
              <a:t>internally.</a:t>
            </a:r>
          </a:p>
          <a:p>
            <a:pPr>
              <a:lnSpc>
                <a:spcPct val="100000"/>
              </a:lnSpc>
              <a:spcBef>
                <a:spcPts val="1714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Calibri"/>
                <a:cs typeface="Calibri"/>
              </a:rPr>
              <a:t>Focus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on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Core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Competencies: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/>
              <a:t>Allowing</a:t>
            </a:r>
            <a:r>
              <a:rPr dirty="0" spc="-40"/>
              <a:t> </a:t>
            </a:r>
            <a:r>
              <a:rPr dirty="0"/>
              <a:t>internal</a:t>
            </a:r>
            <a:r>
              <a:rPr dirty="0" spc="-40"/>
              <a:t> </a:t>
            </a:r>
            <a:r>
              <a:rPr dirty="0"/>
              <a:t>teams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concentrate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/>
              <a:t>strategic</a:t>
            </a:r>
            <a:r>
              <a:rPr dirty="0" spc="-40"/>
              <a:t> </a:t>
            </a:r>
            <a:r>
              <a:rPr dirty="0" spc="-10"/>
              <a:t>work.</a:t>
            </a:r>
          </a:p>
          <a:p>
            <a:pPr>
              <a:lnSpc>
                <a:spcPct val="100000"/>
              </a:lnSpc>
              <a:spcBef>
                <a:spcPts val="1714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Calibri"/>
                <a:cs typeface="Calibri"/>
              </a:rPr>
              <a:t>Scalability</a:t>
            </a:r>
            <a:r>
              <a:rPr dirty="0" spc="-5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and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Flexibility: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/>
              <a:t>Easily</a:t>
            </a:r>
            <a:r>
              <a:rPr dirty="0" spc="-40"/>
              <a:t> </a:t>
            </a:r>
            <a:r>
              <a:rPr dirty="0"/>
              <a:t>adjusting</a:t>
            </a:r>
            <a:r>
              <a:rPr dirty="0" spc="-40"/>
              <a:t> </a:t>
            </a:r>
            <a:r>
              <a:rPr dirty="0"/>
              <a:t>resources</a:t>
            </a:r>
            <a:r>
              <a:rPr dirty="0" spc="-40"/>
              <a:t> </a:t>
            </a:r>
            <a:r>
              <a:rPr dirty="0"/>
              <a:t>based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40"/>
              <a:t> </a:t>
            </a:r>
            <a:r>
              <a:rPr dirty="0"/>
              <a:t>business</a:t>
            </a:r>
            <a:r>
              <a:rPr dirty="0" spc="-40"/>
              <a:t> </a:t>
            </a:r>
            <a:r>
              <a:rPr dirty="0" spc="-10"/>
              <a:t>needs.</a:t>
            </a:r>
          </a:p>
          <a:p>
            <a:pPr marL="12700" marR="5080">
              <a:lnSpc>
                <a:spcPct val="291100"/>
              </a:lnSpc>
            </a:pPr>
            <a:r>
              <a:rPr dirty="0" b="1">
                <a:latin typeface="Calibri"/>
                <a:cs typeface="Calibri"/>
              </a:rPr>
              <a:t>Speed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and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Efficiency: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/>
              <a:t>Faster</a:t>
            </a:r>
            <a:r>
              <a:rPr dirty="0" spc="-35"/>
              <a:t> </a:t>
            </a:r>
            <a:r>
              <a:rPr dirty="0"/>
              <a:t>execution</a:t>
            </a:r>
            <a:r>
              <a:rPr dirty="0" spc="-30"/>
              <a:t> </a:t>
            </a:r>
            <a:r>
              <a:rPr dirty="0"/>
              <a:t>through</a:t>
            </a:r>
            <a:r>
              <a:rPr dirty="0" spc="-30"/>
              <a:t> </a:t>
            </a:r>
            <a:r>
              <a:rPr dirty="0" spc="-10"/>
              <a:t>experienced</a:t>
            </a:r>
            <a:r>
              <a:rPr dirty="0" spc="-30"/>
              <a:t> </a:t>
            </a:r>
            <a:r>
              <a:rPr dirty="0" spc="-10"/>
              <a:t>third-</a:t>
            </a:r>
            <a:r>
              <a:rPr dirty="0"/>
              <a:t>party</a:t>
            </a:r>
            <a:r>
              <a:rPr dirty="0" spc="-30"/>
              <a:t> </a:t>
            </a:r>
            <a:r>
              <a:rPr dirty="0" spc="-10"/>
              <a:t>providers. </a:t>
            </a:r>
            <a:r>
              <a:rPr dirty="0" spc="-10" b="1">
                <a:latin typeface="Calibri"/>
                <a:cs typeface="Calibri"/>
              </a:rPr>
              <a:t>Innovation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&amp;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Competitive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Advantage:</a:t>
            </a:r>
            <a:r>
              <a:rPr dirty="0" spc="-15" b="1">
                <a:latin typeface="Calibri"/>
                <a:cs typeface="Calibri"/>
              </a:rPr>
              <a:t> </a:t>
            </a:r>
            <a:r>
              <a:rPr dirty="0"/>
              <a:t>Gaining</a:t>
            </a:r>
            <a:r>
              <a:rPr dirty="0" spc="-30"/>
              <a:t> </a:t>
            </a:r>
            <a:r>
              <a:rPr dirty="0"/>
              <a:t>new</a:t>
            </a:r>
            <a:r>
              <a:rPr dirty="0" spc="-30"/>
              <a:t> </a:t>
            </a:r>
            <a:r>
              <a:rPr dirty="0"/>
              <a:t>technology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industry</a:t>
            </a:r>
            <a:r>
              <a:rPr dirty="0" spc="-30"/>
              <a:t> </a:t>
            </a:r>
            <a:r>
              <a:rPr dirty="0"/>
              <a:t>best</a:t>
            </a:r>
            <a:r>
              <a:rPr dirty="0" spc="-30"/>
              <a:t> </a:t>
            </a:r>
            <a:r>
              <a:rPr dirty="0" spc="-10"/>
              <a:t>practices. </a:t>
            </a:r>
            <a:r>
              <a:rPr dirty="0" b="1">
                <a:latin typeface="Calibri"/>
                <a:cs typeface="Calibri"/>
              </a:rPr>
              <a:t>Resource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Optimization: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/>
              <a:t>Better</a:t>
            </a:r>
            <a:r>
              <a:rPr dirty="0" spc="-35"/>
              <a:t> </a:t>
            </a:r>
            <a:r>
              <a:rPr dirty="0"/>
              <a:t>use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time,</a:t>
            </a:r>
            <a:r>
              <a:rPr dirty="0" spc="-40"/>
              <a:t> </a:t>
            </a:r>
            <a:r>
              <a:rPr dirty="0"/>
              <a:t>budget,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workforce.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663" rIns="0" bIns="0" rtlCol="0" vert="horz">
            <a:spAutoFit/>
          </a:bodyPr>
          <a:lstStyle/>
          <a:p>
            <a:pPr marL="62738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TPRM: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Real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simple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3159" y="1115476"/>
            <a:ext cx="9784905" cy="5337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4659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TPRM: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Risks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Third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parties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652435"/>
            <a:ext cx="8918587" cy="4860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863" rIns="0" bIns="0" rtlCol="0" vert="horz">
            <a:spAutoFit/>
          </a:bodyPr>
          <a:lstStyle/>
          <a:p>
            <a:pPr marL="627380" marR="5080">
              <a:lnSpc>
                <a:spcPts val="3020"/>
              </a:lnSpc>
              <a:spcBef>
                <a:spcPts val="480"/>
              </a:spcBef>
            </a:pPr>
            <a:r>
              <a:rPr dirty="0" sz="2800">
                <a:latin typeface="Calibri"/>
                <a:cs typeface="Calibri"/>
              </a:rPr>
              <a:t>TPRM: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Real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word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cases-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Target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breach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due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weakness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Third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party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408" y="1442821"/>
            <a:ext cx="8952941" cy="4879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TPRM: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TPRM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Lifecycle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2015" y="1201078"/>
            <a:ext cx="10522712" cy="4914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182" rIns="0" bIns="0" rtlCol="0" vert="horz">
            <a:spAutoFit/>
          </a:bodyPr>
          <a:lstStyle/>
          <a:p>
            <a:pPr marL="380365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libri"/>
                <a:cs typeface="Calibri"/>
              </a:rPr>
              <a:t>TPRM:</a:t>
            </a:r>
            <a:r>
              <a:rPr dirty="0" sz="2500" spc="-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How</a:t>
            </a:r>
            <a:r>
              <a:rPr dirty="0" sz="2500" spc="-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-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Tier</a:t>
            </a:r>
            <a:r>
              <a:rPr dirty="0" sz="2500" spc="-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Third</a:t>
            </a:r>
            <a:r>
              <a:rPr dirty="0" sz="2500" spc="-2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parties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018" y="1023139"/>
            <a:ext cx="5177276" cy="51404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53619" y="1341387"/>
            <a:ext cx="3284220" cy="75755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180"/>
              </a:spcBef>
              <a:buFont typeface="Segoe UI Emoji"/>
              <a:buChar char="✓"/>
              <a:tabLst>
                <a:tab pos="296545" algn="l"/>
              </a:tabLst>
            </a:pPr>
            <a:r>
              <a:rPr dirty="0" sz="1800">
                <a:latin typeface="Arial"/>
                <a:cs typeface="Arial"/>
              </a:rPr>
              <a:t>Tier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-</a:t>
            </a:r>
            <a:r>
              <a:rPr dirty="0" sz="1800">
                <a:latin typeface="Arial"/>
                <a:cs typeface="Arial"/>
              </a:rPr>
              <a:t>1: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Critical/High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risk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  <a:spcBef>
                <a:spcPts val="840"/>
              </a:spcBef>
            </a:pPr>
            <a:r>
              <a:rPr dirty="0" sz="1400">
                <a:latin typeface="Arial"/>
                <a:cs typeface="Arial"/>
              </a:rPr>
              <a:t>Most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critical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business</a:t>
            </a:r>
            <a:r>
              <a:rPr dirty="0" sz="1400" spc="-10">
                <a:latin typeface="Arial"/>
                <a:cs typeface="Arial"/>
              </a:rPr>
              <a:t> operations.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3619" y="3155958"/>
            <a:ext cx="3110230" cy="75755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180"/>
              </a:spcBef>
              <a:buFont typeface="Segoe UI Emoji"/>
              <a:buChar char="✓"/>
              <a:tabLst>
                <a:tab pos="296545" algn="l"/>
              </a:tabLst>
            </a:pPr>
            <a:r>
              <a:rPr dirty="0" sz="1800">
                <a:latin typeface="Arial"/>
                <a:cs typeface="Arial"/>
              </a:rPr>
              <a:t>Tier-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2: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Moderate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Risk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840"/>
              </a:spcBef>
            </a:pPr>
            <a:r>
              <a:rPr dirty="0" sz="1400">
                <a:latin typeface="Arial"/>
                <a:cs typeface="Arial"/>
              </a:rPr>
              <a:t>Important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but not </a:t>
            </a:r>
            <a:r>
              <a:rPr dirty="0" sz="1400" spc="-10">
                <a:latin typeface="Arial"/>
                <a:cs typeface="Arial"/>
              </a:rPr>
              <a:t>business-critical.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3619" y="5124961"/>
            <a:ext cx="3333750" cy="75755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180"/>
              </a:spcBef>
              <a:buFont typeface="Segoe UI Emoji"/>
              <a:buChar char="✓"/>
              <a:tabLst>
                <a:tab pos="296545" algn="l"/>
              </a:tabLst>
            </a:pPr>
            <a:r>
              <a:rPr dirty="0" sz="1800">
                <a:latin typeface="Arial"/>
                <a:cs typeface="Arial"/>
              </a:rPr>
              <a:t>Tier-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3: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Low</a:t>
            </a:r>
            <a:r>
              <a:rPr dirty="0" sz="1800" spc="-20">
                <a:latin typeface="Arial"/>
                <a:cs typeface="Arial"/>
              </a:rPr>
              <a:t> Risk</a:t>
            </a:r>
            <a:endParaRPr sz="1800">
              <a:latin typeface="Arial"/>
              <a:cs typeface="Arial"/>
            </a:endParaRPr>
          </a:p>
          <a:p>
            <a:pPr marL="358140">
              <a:lnSpc>
                <a:spcPct val="100000"/>
              </a:lnSpc>
              <a:spcBef>
                <a:spcPts val="840"/>
              </a:spcBef>
            </a:pPr>
            <a:r>
              <a:rPr dirty="0" sz="1400">
                <a:latin typeface="Arial"/>
                <a:cs typeface="Arial"/>
              </a:rPr>
              <a:t>Minimal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impact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on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operations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4757" y="6455574"/>
            <a:ext cx="25019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*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Source: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Abhishek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Tanwar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via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LinkedIn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9373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TPRM: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10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Mistakes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TPRM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&amp;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How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Avoid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them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608" y="1479486"/>
            <a:ext cx="9153474" cy="43438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906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TPRM:</a:t>
            </a:r>
            <a:r>
              <a:rPr dirty="0" spc="-70"/>
              <a:t> </a:t>
            </a:r>
            <a:r>
              <a:rPr dirty="0"/>
              <a:t>Integrated</a:t>
            </a:r>
            <a:r>
              <a:rPr dirty="0" spc="-70"/>
              <a:t> </a:t>
            </a:r>
            <a:r>
              <a:rPr dirty="0"/>
              <a:t>TPRM</a:t>
            </a:r>
            <a:r>
              <a:rPr dirty="0" spc="-65"/>
              <a:t> </a:t>
            </a:r>
            <a:r>
              <a:rPr dirty="0" spc="-1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826" y="1304874"/>
            <a:ext cx="9905949" cy="48087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01222" y="2650832"/>
            <a:ext cx="278828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Thank</a:t>
            </a:r>
            <a:r>
              <a:rPr dirty="0" sz="4400" spc="-100"/>
              <a:t> </a:t>
            </a:r>
            <a:r>
              <a:rPr dirty="0" sz="4400" spc="-20"/>
              <a:t>you!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2026-10-10T05:08:29Z</dcterms:created>
  <dcterms:modified xsi:type="dcterms:W3CDTF">2026-10-10T05:08:29Z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2026-10-10T00:00:00Z</vt:filetime>
  </property>
  <property fmtid="{D5CDD505-2E9C-101B-9397-08002B2CF9AE}" pid="4" name="LastSaved">
    <vt:filetime>2026-10-10T00:00:00Z</vt:filetime>
  </property>
  <property fmtid="{D5CDD505-2E9C-101B-9397-08002B2CF9AE}" pid="5" name="Producer">
    <vt:lpwstr>3-Heights(TM) PDF Security Shell 4.8.25.2 (http://www.pdf-tools.com)</vt:lpwstr>
  </property>
</Properties>
</file>