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xWJcVp9L1owdiavZ0RaqMCYjc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is moving from experiments → decision making → automation → agentic systems. Governance is now business critical.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governance = Innovation enabler + Risk protection.</a:t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Uncontrolled AI = uncontrolled enterprise risk.</a:t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not reinvent → Align with global standards.</a:t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Governance must cover policy → build → runtime → audit.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governance is lifecycle driven, not one-time approval.</a:t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769476" y="220196"/>
            <a:ext cx="9422524" cy="6637806"/>
          </a:xfrm>
          <a:custGeom>
            <a:rect b="b" l="l" r="r" t="t"/>
            <a:pathLst>
              <a:path extrusionOk="0" h="5770597" w="8191500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-3079828">
            <a:off x="1613162" y="1492572"/>
            <a:ext cx="2987899" cy="2987899"/>
          </a:xfrm>
          <a:prstGeom prst="arc">
            <a:avLst>
              <a:gd fmla="val 14455503" name="adj1"/>
              <a:gd fmla="val 227775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038600" y="1939159"/>
            <a:ext cx="7644627" cy="27510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ENTERPRISE AI GOVERNANCE FRAMEWORK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4038600" y="4782320"/>
            <a:ext cx="7644627" cy="1329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Enabling Trusted, Secure and Responsible AI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By-Kalpana Sharma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>
            <p:ph type="title"/>
          </p:nvPr>
        </p:nvSpPr>
        <p:spPr>
          <a:xfrm>
            <a:off x="1179226" y="1280679"/>
            <a:ext cx="983354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en-US" sz="3600">
                <a:solidFill>
                  <a:schemeClr val="dk2"/>
                </a:solidFill>
              </a:rPr>
              <a:t>Why AI Governance Now</a:t>
            </a:r>
            <a:endParaRPr/>
          </a:p>
        </p:txBody>
      </p:sp>
      <p:grpSp>
        <p:nvGrpSpPr>
          <p:cNvPr id="104" name="Google Shape;104;p2"/>
          <p:cNvGrpSpPr/>
          <p:nvPr/>
        </p:nvGrpSpPr>
        <p:grpSpPr>
          <a:xfrm>
            <a:off x="8289890" y="0"/>
            <a:ext cx="3902110" cy="2382977"/>
            <a:chOff x="6867015" y="-1"/>
            <a:chExt cx="5324985" cy="3251912"/>
          </a:xfrm>
        </p:grpSpPr>
        <p:sp>
          <p:nvSpPr>
            <p:cNvPr id="105" name="Google Shape;105;p2"/>
            <p:cNvSpPr/>
            <p:nvPr/>
          </p:nvSpPr>
          <p:spPr>
            <a:xfrm>
              <a:off x="6867015" y="-1"/>
              <a:ext cx="5324985" cy="3251912"/>
            </a:xfrm>
            <a:custGeom>
              <a:rect b="b" l="l" r="r" t="t"/>
              <a:pathLst>
                <a:path extrusionOk="0" h="3251912" w="5324985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916467" y="-1"/>
              <a:ext cx="5275533" cy="2980757"/>
            </a:xfrm>
            <a:custGeom>
              <a:rect b="b" l="l" r="r" t="t"/>
              <a:pathLst>
                <a:path extrusionOk="0" h="2980757" w="5275533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921214" y="-1"/>
              <a:ext cx="5270786" cy="2927775"/>
            </a:xfrm>
            <a:custGeom>
              <a:rect b="b" l="l" r="r" t="t"/>
              <a:pathLst>
                <a:path extrusionOk="0" h="2927775" w="5270786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921214" y="-1"/>
              <a:ext cx="5270786" cy="2927775"/>
            </a:xfrm>
            <a:custGeom>
              <a:rect b="b" l="l" r="r" t="t"/>
              <a:pathLst>
                <a:path extrusionOk="0" h="2927775" w="5270786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1179226" y="2890979"/>
            <a:ext cx="9833548" cy="26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 sz="1800">
                <a:solidFill>
                  <a:schemeClr val="dk2"/>
                </a:solidFill>
              </a:rPr>
              <a:t>✔ Regulatory pressure (EU AI Act, DPDP, global AI rules)</a:t>
            </a:r>
            <a:br>
              <a:rPr lang="en-US" sz="1800">
                <a:solidFill>
                  <a:schemeClr val="dk2"/>
                </a:solidFill>
              </a:rPr>
            </a:br>
            <a:r>
              <a:rPr lang="en-US" sz="1800">
                <a:solidFill>
                  <a:schemeClr val="dk2"/>
                </a:solidFill>
              </a:rPr>
              <a:t>✔ Enterprise risk exposure increasing</a:t>
            </a:r>
            <a:br>
              <a:rPr lang="en-US" sz="1800">
                <a:solidFill>
                  <a:schemeClr val="dk2"/>
                </a:solidFill>
              </a:rPr>
            </a:br>
            <a:r>
              <a:rPr lang="en-US" sz="1800">
                <a:solidFill>
                  <a:schemeClr val="dk2"/>
                </a:solidFill>
              </a:rPr>
              <a:t>✔ AI embedded in core business processes</a:t>
            </a:r>
            <a:endParaRPr/>
          </a:p>
        </p:txBody>
      </p:sp>
      <p:grpSp>
        <p:nvGrpSpPr>
          <p:cNvPr id="110" name="Google Shape;110;p2"/>
          <p:cNvGrpSpPr/>
          <p:nvPr/>
        </p:nvGrpSpPr>
        <p:grpSpPr>
          <a:xfrm flipH="1" rot="10800000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11" name="Google Shape;111;p2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n-US">
                <a:solidFill>
                  <a:srgbClr val="FFFFFF"/>
                </a:solidFill>
              </a:rPr>
              <a:t>What Happens Without AI Governance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5370153" y="1526033"/>
            <a:ext cx="5536397" cy="393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Regulatory Risk</a:t>
            </a:r>
            <a:r>
              <a:rPr lang="en-US"/>
              <a:t> → fines, bans</a:t>
            </a:r>
            <a:br>
              <a:rPr lang="en-US"/>
            </a:br>
            <a:r>
              <a:rPr b="1" lang="en-US"/>
              <a:t>Reputation Risk</a:t>
            </a:r>
            <a:r>
              <a:rPr lang="en-US"/>
              <a:t> → trust loss</a:t>
            </a:r>
            <a:br>
              <a:rPr lang="en-US"/>
            </a:br>
            <a:r>
              <a:rPr b="1" lang="en-US"/>
              <a:t>Ethical Risk</a:t>
            </a:r>
            <a:r>
              <a:rPr lang="en-US"/>
              <a:t> → bias, unfair decisions</a:t>
            </a:r>
            <a:br>
              <a:rPr lang="en-US"/>
            </a:br>
            <a:r>
              <a:rPr b="1" lang="en-US"/>
              <a:t>Security Risk</a:t>
            </a:r>
            <a:r>
              <a:rPr lang="en-US"/>
              <a:t> → data leakage, model misuse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4"/>
          <p:cNvGrpSpPr/>
          <p:nvPr/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3" name="Google Shape;133;p4"/>
            <p:cNvSpPr/>
            <p:nvPr/>
          </p:nvSpPr>
          <p:spPr>
            <a:xfrm>
              <a:off x="-19220" y="116610"/>
              <a:ext cx="5535001" cy="6250127"/>
            </a:xfrm>
            <a:custGeom>
              <a:rect b="b" l="l" r="r" t="t"/>
              <a:pathLst>
                <a:path extrusionOk="0" h="6250127" w="5535001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0">
                  <a:srgbClr val="4EA72E">
                    <a:alpha val="10196"/>
                  </a:srgbClr>
                </a:gs>
                <a:gs pos="37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-19221" y="176241"/>
              <a:ext cx="5646908" cy="6130481"/>
            </a:xfrm>
            <a:custGeom>
              <a:rect b="b" l="l" r="r" t="t"/>
              <a:pathLst>
                <a:path extrusionOk="0" h="6130481" w="5646908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54000">
                  <a:srgbClr val="4EA72E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-19221" y="176241"/>
              <a:ext cx="5517522" cy="6130481"/>
            </a:xfrm>
            <a:custGeom>
              <a:rect b="b" l="l" r="r" t="t"/>
              <a:pathLst>
                <a:path extrusionOk="0" h="6130481" w="5517522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-19220" y="176241"/>
              <a:ext cx="5517475" cy="6130481"/>
            </a:xfrm>
            <a:custGeom>
              <a:rect b="b" l="l" r="r" t="t"/>
              <a:pathLst>
                <a:path extrusionOk="0" h="6130481" w="5517475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85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-19221" y="0"/>
              <a:ext cx="5646974" cy="6483075"/>
            </a:xfrm>
            <a:custGeom>
              <a:rect b="b" l="l" r="r" t="t"/>
              <a:pathLst>
                <a:path extrusionOk="0" h="6483075" w="5646974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4EA72E">
                    <a:alpha val="10196"/>
                  </a:srgbClr>
                </a:gs>
                <a:gs pos="74000">
                  <a:srgbClr val="156082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4"/>
          <p:cNvSpPr txBox="1"/>
          <p:nvPr>
            <p:ph type="title"/>
          </p:nvPr>
        </p:nvSpPr>
        <p:spPr>
          <a:xfrm>
            <a:off x="804672" y="2053641"/>
            <a:ext cx="3669161" cy="276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>
                <a:solidFill>
                  <a:schemeClr val="dk2"/>
                </a:solidFill>
              </a:rPr>
              <a:t>What Good AI Governance Looks Like</a:t>
            </a:r>
            <a:endParaRPr/>
          </a:p>
        </p:txBody>
      </p:sp>
      <p:sp>
        <p:nvSpPr>
          <p:cNvPr id="139" name="Google Shape;139;p4"/>
          <p:cNvSpPr txBox="1"/>
          <p:nvPr>
            <p:ph idx="1" type="body"/>
          </p:nvPr>
        </p:nvSpPr>
        <p:spPr>
          <a:xfrm>
            <a:off x="6090574" y="801866"/>
            <a:ext cx="5306084" cy="5230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-US" sz="2400">
                <a:solidFill>
                  <a:schemeClr val="dk2"/>
                </a:solidFill>
              </a:rPr>
              <a:t>✅ Trusted AI decisions</a:t>
            </a:r>
            <a:br>
              <a:rPr lang="en-US" sz="2400">
                <a:solidFill>
                  <a:schemeClr val="dk2"/>
                </a:solidFill>
              </a:rPr>
            </a:br>
            <a:r>
              <a:rPr lang="en-US" sz="2400">
                <a:solidFill>
                  <a:schemeClr val="dk2"/>
                </a:solidFill>
              </a:rPr>
              <a:t>✅ Faster AI deployment approvals</a:t>
            </a:r>
            <a:br>
              <a:rPr lang="en-US" sz="2400">
                <a:solidFill>
                  <a:schemeClr val="dk2"/>
                </a:solidFill>
              </a:rPr>
            </a:br>
            <a:r>
              <a:rPr lang="en-US" sz="2400">
                <a:solidFill>
                  <a:schemeClr val="dk2"/>
                </a:solidFill>
              </a:rPr>
              <a:t>✅ Clear accountability</a:t>
            </a:r>
            <a:br>
              <a:rPr lang="en-US" sz="2400">
                <a:solidFill>
                  <a:schemeClr val="dk2"/>
                </a:solidFill>
              </a:rPr>
            </a:br>
            <a:r>
              <a:rPr lang="en-US" sz="2400">
                <a:solidFill>
                  <a:schemeClr val="dk2"/>
                </a:solidFill>
              </a:rPr>
              <a:t>✅ Audit ready AI systems</a:t>
            </a:r>
            <a:br>
              <a:rPr lang="en-US" sz="2400">
                <a:solidFill>
                  <a:schemeClr val="dk2"/>
                </a:solidFill>
              </a:rPr>
            </a:br>
            <a:r>
              <a:rPr lang="en-US" sz="2400">
                <a:solidFill>
                  <a:schemeClr val="dk2"/>
                </a:solidFill>
              </a:rPr>
              <a:t>✅ Scalable innovation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n-US">
                <a:solidFill>
                  <a:srgbClr val="FFFFFF"/>
                </a:solidFill>
              </a:rPr>
              <a:t>Global Framework Alignment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>
            <p:ph idx="1" type="body"/>
          </p:nvPr>
        </p:nvSpPr>
        <p:spPr>
          <a:xfrm>
            <a:off x="5370153" y="1526033"/>
            <a:ext cx="5536397" cy="393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NIST AI RMF → Risk management structure</a:t>
            </a:r>
            <a:br>
              <a:rPr lang="en-US"/>
            </a:br>
            <a:r>
              <a:rPr lang="en-US"/>
              <a:t>ISO 42001 → AI Management System</a:t>
            </a:r>
            <a:br>
              <a:rPr lang="en-US"/>
            </a:br>
            <a:r>
              <a:rPr lang="en-US"/>
              <a:t>ISO 42005 → AI Impact Assessment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lang="en-US">
                <a:solidFill>
                  <a:srgbClr val="FFFFFF"/>
                </a:solidFill>
              </a:rPr>
              <a:t>Enterprise AI Governance Operating Model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9" name="Google Shape;159;p6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>
            <p:ph idx="1" type="body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1️⃣ Governance &amp; Oversight</a:t>
            </a:r>
            <a:br>
              <a:rPr lang="en-US"/>
            </a:br>
            <a:r>
              <a:rPr lang="en-US"/>
              <a:t>2️⃣ AI Risk Management</a:t>
            </a:r>
            <a:br>
              <a:rPr lang="en-US"/>
            </a:br>
            <a:r>
              <a:rPr lang="en-US"/>
              <a:t>3️⃣ Responsible AI Controls</a:t>
            </a:r>
            <a:br>
              <a:rPr lang="en-US"/>
            </a:br>
            <a:r>
              <a:rPr lang="en-US"/>
              <a:t>4️⃣ Secure AI Engineering</a:t>
            </a:r>
            <a:br>
              <a:rPr lang="en-US"/>
            </a:br>
            <a:r>
              <a:rPr lang="en-US"/>
              <a:t>5️⃣ Continuous Monitoring &amp; Assurance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6078"/>
                </a:srgbClr>
              </a:gs>
              <a:gs pos="23000">
                <a:srgbClr val="0F4861">
                  <a:alpha val="16078"/>
                </a:srgbClr>
              </a:gs>
              <a:gs pos="99000">
                <a:srgbClr val="000000">
                  <a:alpha val="45098"/>
                </a:srgbClr>
              </a:gs>
              <a:gs pos="100000">
                <a:srgbClr val="000000">
                  <a:alpha val="45098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AI Lifecycle Governance</a:t>
            </a:r>
            <a:endParaRPr/>
          </a:p>
        </p:txBody>
      </p:sp>
      <p:grpSp>
        <p:nvGrpSpPr>
          <p:cNvPr id="171" name="Google Shape;171;p7"/>
          <p:cNvGrpSpPr/>
          <p:nvPr/>
        </p:nvGrpSpPr>
        <p:grpSpPr>
          <a:xfrm>
            <a:off x="644056" y="2615979"/>
            <a:ext cx="10927828" cy="3689404"/>
            <a:chOff x="0" y="0"/>
            <a:chExt cx="10927828" cy="3689404"/>
          </a:xfrm>
        </p:grpSpPr>
        <p:sp>
          <p:nvSpPr>
            <p:cNvPr id="172" name="Google Shape;172;p7"/>
            <p:cNvSpPr/>
            <p:nvPr/>
          </p:nvSpPr>
          <p:spPr>
            <a:xfrm>
              <a:off x="0" y="0"/>
              <a:ext cx="8414428" cy="664092"/>
            </a:xfrm>
            <a:prstGeom prst="roundRect">
              <a:avLst>
                <a:gd fmla="val 10000" name="adj"/>
              </a:avLst>
            </a:prstGeom>
            <a:solidFill>
              <a:srgbClr val="E9713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 txBox="1"/>
            <p:nvPr/>
          </p:nvSpPr>
          <p:spPr>
            <a:xfrm>
              <a:off x="19451" y="19451"/>
              <a:ext cx="7620120" cy="62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 Case intake</a:t>
              </a:r>
              <a:endParaRPr/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628350" y="756328"/>
              <a:ext cx="8414428" cy="664092"/>
            </a:xfrm>
            <a:prstGeom prst="roundRect">
              <a:avLst>
                <a:gd fmla="val 10000" name="adj"/>
              </a:avLst>
            </a:prstGeom>
            <a:solidFill>
              <a:srgbClr val="D5AE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 txBox="1"/>
            <p:nvPr/>
          </p:nvSpPr>
          <p:spPr>
            <a:xfrm>
              <a:off x="647801" y="775779"/>
              <a:ext cx="7315515" cy="62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Risk Assessment</a:t>
              </a:r>
              <a:endPara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1256700" y="1512656"/>
              <a:ext cx="8414428" cy="664092"/>
            </a:xfrm>
            <a:prstGeom prst="roundRect">
              <a:avLst>
                <a:gd fmla="val 10000" name="adj"/>
              </a:avLst>
            </a:prstGeom>
            <a:solidFill>
              <a:srgbClr val="8CAF1D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7"/>
            <p:cNvSpPr txBox="1"/>
            <p:nvPr/>
          </p:nvSpPr>
          <p:spPr>
            <a:xfrm>
              <a:off x="1276151" y="1532107"/>
              <a:ext cx="7315515" cy="62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Build &amp; Validation</a:t>
              </a:r>
              <a:endPara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1885050" y="2268984"/>
              <a:ext cx="8414428" cy="664092"/>
            </a:xfrm>
            <a:prstGeom prst="roundRect">
              <a:avLst>
                <a:gd fmla="val 10000" name="adj"/>
              </a:avLst>
            </a:prstGeom>
            <a:solidFill>
              <a:srgbClr val="3E8B1B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7"/>
            <p:cNvSpPr txBox="1"/>
            <p:nvPr/>
          </p:nvSpPr>
          <p:spPr>
            <a:xfrm>
              <a:off x="1904501" y="2288435"/>
              <a:ext cx="7315515" cy="62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Deployment Approval</a:t>
              </a:r>
              <a:endPara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2513400" y="3025312"/>
              <a:ext cx="8414428" cy="664092"/>
            </a:xfrm>
            <a:prstGeom prst="roundRect">
              <a:avLst>
                <a:gd fmla="val 10000" name="adj"/>
              </a:avLst>
            </a:prstGeom>
            <a:solidFill>
              <a:srgbClr val="186923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2532851" y="3044763"/>
              <a:ext cx="7315515" cy="625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Continuous monitoring</a:t>
              </a: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82767" y="485156"/>
              <a:ext cx="431660" cy="43166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6D4CC">
                <a:alpha val="90196"/>
              </a:srgbClr>
            </a:solidFill>
            <a:ln cap="flat" cmpd="sng" w="19050">
              <a:solidFill>
                <a:srgbClr val="F6D4CC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7"/>
            <p:cNvSpPr txBox="1"/>
            <p:nvPr/>
          </p:nvSpPr>
          <p:spPr>
            <a:xfrm>
              <a:off x="8079890" y="485156"/>
              <a:ext cx="237414" cy="32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8611118" y="1241484"/>
              <a:ext cx="431660" cy="43166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BE5C9">
                <a:alpha val="90196"/>
              </a:srgbClr>
            </a:solidFill>
            <a:ln cap="flat" cmpd="sng" w="19050">
              <a:solidFill>
                <a:srgbClr val="EBE5C9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7"/>
            <p:cNvSpPr txBox="1"/>
            <p:nvPr/>
          </p:nvSpPr>
          <p:spPr>
            <a:xfrm>
              <a:off x="8708241" y="1241484"/>
              <a:ext cx="237414" cy="32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9239468" y="1986744"/>
              <a:ext cx="431660" cy="43166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5E0C8">
                <a:alpha val="90196"/>
              </a:srgbClr>
            </a:solidFill>
            <a:ln cap="flat" cmpd="sng" w="19050">
              <a:solidFill>
                <a:srgbClr val="D5E0C8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 txBox="1"/>
            <p:nvPr/>
          </p:nvSpPr>
          <p:spPr>
            <a:xfrm>
              <a:off x="9336591" y="1986744"/>
              <a:ext cx="237414" cy="32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9867818" y="2750451"/>
              <a:ext cx="431660" cy="43166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AD2CA">
                <a:alpha val="90196"/>
              </a:srgbClr>
            </a:solidFill>
            <a:ln cap="flat" cmpd="sng" w="19050">
              <a:solidFill>
                <a:srgbClr val="CAD2CA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7"/>
            <p:cNvSpPr txBox="1"/>
            <p:nvPr/>
          </p:nvSpPr>
          <p:spPr>
            <a:xfrm>
              <a:off x="9964941" y="2750451"/>
              <a:ext cx="237414" cy="32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25" lIns="24125" spcFirstLastPara="1" rIns="24125" wrap="square" tIns="24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</a:rPr>
              <a:t>Practical Controls Example</a:t>
            </a:r>
            <a:endParaRPr/>
          </a:p>
        </p:txBody>
      </p:sp>
      <p:sp>
        <p:nvSpPr>
          <p:cNvPr id="202" name="Google Shape;202;p8"/>
          <p:cNvSpPr txBox="1"/>
          <p:nvPr>
            <p:ph idx="1" type="body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Example: </a:t>
            </a:r>
            <a:r>
              <a:rPr lang="en-US" sz="2000"/>
              <a:t>Customer Support GenAI Bot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Risks: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Hallucination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PII exposure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Bias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Wrong automated response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Controls: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Prompt guardrails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Output filtering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Human review for high-risk cases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Real-time monitoring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" y="1"/>
            <a:ext cx="5217023" cy="3994777"/>
          </a:xfrm>
          <a:custGeom>
            <a:rect b="b" l="l" r="r" t="t"/>
            <a:pathLst>
              <a:path extrusionOk="0" h="3994777" w="5217023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>
            <p:ph type="title"/>
          </p:nvPr>
        </p:nvSpPr>
        <p:spPr>
          <a:xfrm>
            <a:off x="838200" y="673770"/>
            <a:ext cx="3220329" cy="2027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lang="en-US" sz="3400">
                <a:solidFill>
                  <a:srgbClr val="FFFFFF"/>
                </a:solidFill>
              </a:rPr>
              <a:t>Implementation Roadmap</a:t>
            </a:r>
            <a:endParaRPr/>
          </a:p>
        </p:txBody>
      </p:sp>
      <p:grpSp>
        <p:nvGrpSpPr>
          <p:cNvPr id="211" name="Google Shape;211;p9"/>
          <p:cNvGrpSpPr/>
          <p:nvPr/>
        </p:nvGrpSpPr>
        <p:grpSpPr>
          <a:xfrm>
            <a:off x="5542672" y="542609"/>
            <a:ext cx="5811127" cy="5676211"/>
            <a:chOff x="0" y="1003"/>
            <a:chExt cx="5811127" cy="5676211"/>
          </a:xfrm>
        </p:grpSpPr>
        <p:sp>
          <p:nvSpPr>
            <p:cNvPr id="212" name="Google Shape;212;p9"/>
            <p:cNvSpPr/>
            <p:nvPr/>
          </p:nvSpPr>
          <p:spPr>
            <a:xfrm>
              <a:off x="0" y="4274295"/>
              <a:ext cx="1452782" cy="1402919"/>
            </a:xfrm>
            <a:prstGeom prst="rect">
              <a:avLst/>
            </a:prstGeom>
            <a:solidFill>
              <a:srgbClr val="E97131"/>
            </a:solidFill>
            <a:ln cap="flat" cmpd="sng" w="19050">
              <a:solidFill>
                <a:srgbClr val="E9713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 txBox="1"/>
            <p:nvPr/>
          </p:nvSpPr>
          <p:spPr>
            <a:xfrm>
              <a:off x="0" y="4274295"/>
              <a:ext cx="1452782" cy="1402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5125" lIns="103300" spcFirstLastPara="1" rIns="103300" wrap="square" tIns="135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Phase 3- Scale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1452781" y="4274295"/>
              <a:ext cx="4358346" cy="1402919"/>
            </a:xfrm>
            <a:prstGeom prst="rect">
              <a:avLst/>
            </a:prstGeom>
            <a:solidFill>
              <a:srgbClr val="F6D4CC">
                <a:alpha val="90196"/>
              </a:srgbClr>
            </a:solidFill>
            <a:ln cap="flat" cmpd="sng" w="19050">
              <a:solidFill>
                <a:srgbClr val="F6D4CC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9"/>
            <p:cNvSpPr txBox="1"/>
            <p:nvPr/>
          </p:nvSpPr>
          <p:spPr>
            <a:xfrm>
              <a:off x="1452781" y="4274295"/>
              <a:ext cx="4358346" cy="1402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900" lIns="88400" spcFirstLastPara="1" rIns="88400" wrap="square" tIns="215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Automation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Continuous monitoring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AI audit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9"/>
            <p:cNvSpPr/>
            <p:nvPr/>
          </p:nvSpPr>
          <p:spPr>
            <a:xfrm rot="10800000">
              <a:off x="0" y="2137649"/>
              <a:ext cx="1452782" cy="2157689"/>
            </a:xfrm>
            <a:prstGeom prst="upArrowCallout">
              <a:avLst>
                <a:gd fmla="val 5000" name="adj1"/>
                <a:gd fmla="val 10000" name="adj2"/>
                <a:gd fmla="val 15000" name="adj3"/>
                <a:gd fmla="val 64977" name="adj4"/>
              </a:avLst>
            </a:prstGeom>
            <a:solidFill>
              <a:srgbClr val="176B22"/>
            </a:solidFill>
            <a:ln cap="flat" cmpd="sng" w="19050">
              <a:solidFill>
                <a:srgbClr val="176B2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9"/>
            <p:cNvSpPr txBox="1"/>
            <p:nvPr/>
          </p:nvSpPr>
          <p:spPr>
            <a:xfrm>
              <a:off x="0" y="2137649"/>
              <a:ext cx="1452782" cy="1402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5125" lIns="103300" spcFirstLastPara="1" rIns="103300" wrap="square" tIns="135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Phase 2- Controls 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1452781" y="2137649"/>
              <a:ext cx="4358346" cy="1402498"/>
            </a:xfrm>
            <a:prstGeom prst="rect">
              <a:avLst/>
            </a:prstGeom>
            <a:solidFill>
              <a:srgbClr val="CBD3CB">
                <a:alpha val="90196"/>
              </a:srgbClr>
            </a:solidFill>
            <a:ln cap="flat" cmpd="sng" w="19050">
              <a:solidFill>
                <a:srgbClr val="CBD3CB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 txBox="1"/>
            <p:nvPr/>
          </p:nvSpPr>
          <p:spPr>
            <a:xfrm>
              <a:off x="1452781" y="2137649"/>
              <a:ext cx="4358346" cy="1402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900" lIns="88400" spcFirstLastPara="1" rIns="88400" wrap="square" tIns="215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Lifecycle governance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Risk review workflow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Tool selection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9"/>
            <p:cNvSpPr/>
            <p:nvPr/>
          </p:nvSpPr>
          <p:spPr>
            <a:xfrm rot="10800000">
              <a:off x="0" y="1003"/>
              <a:ext cx="1452782" cy="2157689"/>
            </a:xfrm>
            <a:prstGeom prst="upArrowCallout">
              <a:avLst>
                <a:gd fmla="val 5000" name="adj1"/>
                <a:gd fmla="val 10000" name="adj2"/>
                <a:gd fmla="val 15000" name="adj3"/>
                <a:gd fmla="val 64977" name="adj4"/>
              </a:avLst>
            </a:prstGeom>
            <a:solidFill>
              <a:srgbClr val="0C9ED5"/>
            </a:solidFill>
            <a:ln cap="flat" cmpd="sng" w="19050">
              <a:solidFill>
                <a:srgbClr val="0C9E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9"/>
            <p:cNvSpPr txBox="1"/>
            <p:nvPr/>
          </p:nvSpPr>
          <p:spPr>
            <a:xfrm>
              <a:off x="0" y="1003"/>
              <a:ext cx="1452782" cy="1402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5125" lIns="103300" spcFirstLastPara="1" rIns="103300" wrap="square" tIns="135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Phase1- Foundation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1452781" y="1003"/>
              <a:ext cx="4358346" cy="1402498"/>
            </a:xfrm>
            <a:prstGeom prst="rect">
              <a:avLst/>
            </a:prstGeom>
            <a:solidFill>
              <a:srgbClr val="CADEEF">
                <a:alpha val="90196"/>
              </a:srgbClr>
            </a:solidFill>
            <a:ln cap="flat" cmpd="sng" w="19050">
              <a:solidFill>
                <a:srgbClr val="CADEEF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9"/>
            <p:cNvSpPr txBox="1"/>
            <p:nvPr/>
          </p:nvSpPr>
          <p:spPr>
            <a:xfrm>
              <a:off x="1452781" y="1003"/>
              <a:ext cx="4358346" cy="1402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900" lIns="88400" spcFirstLastPara="1" rIns="88400" wrap="square" tIns="215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AI policy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case inventory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Risk classification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-1" y="0"/>
            <a:ext cx="4818889" cy="6858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" y="0"/>
            <a:ext cx="4811477" cy="6858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>
            <p:ph type="title"/>
          </p:nvPr>
        </p:nvSpPr>
        <p:spPr>
          <a:xfrm>
            <a:off x="621792" y="1161288"/>
            <a:ext cx="3602736" cy="452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Future &amp; Key Takeaways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p10"/>
          <p:cNvGrpSpPr/>
          <p:nvPr/>
        </p:nvGrpSpPr>
        <p:grpSpPr>
          <a:xfrm>
            <a:off x="5303520" y="677329"/>
            <a:ext cx="6364224" cy="5512484"/>
            <a:chOff x="0" y="673"/>
            <a:chExt cx="6364224" cy="5512484"/>
          </a:xfrm>
        </p:grpSpPr>
        <p:sp>
          <p:nvSpPr>
            <p:cNvPr id="234" name="Google Shape;234;p10"/>
            <p:cNvSpPr/>
            <p:nvPr/>
          </p:nvSpPr>
          <p:spPr>
            <a:xfrm>
              <a:off x="0" y="673"/>
              <a:ext cx="6364224" cy="157499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476436" y="355047"/>
              <a:ext cx="866247" cy="86624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>
              <a:off x="1819120" y="673"/>
              <a:ext cx="4545103" cy="157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0"/>
            <p:cNvSpPr txBox="1"/>
            <p:nvPr/>
          </p:nvSpPr>
          <p:spPr>
            <a:xfrm>
              <a:off x="1819120" y="673"/>
              <a:ext cx="4545103" cy="157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6675" lIns="166675" spcFirstLastPara="1" rIns="166675" wrap="square" tIns="16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Runtime AI governance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0" y="1969418"/>
              <a:ext cx="6364224" cy="157499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476436" y="2323792"/>
              <a:ext cx="866247" cy="86624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0"/>
            <p:cNvSpPr/>
            <p:nvPr/>
          </p:nvSpPr>
          <p:spPr>
            <a:xfrm>
              <a:off x="1819120" y="1969418"/>
              <a:ext cx="4545103" cy="157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0"/>
            <p:cNvSpPr txBox="1"/>
            <p:nvPr/>
          </p:nvSpPr>
          <p:spPr>
            <a:xfrm>
              <a:off x="1819120" y="1969418"/>
              <a:ext cx="4545103" cy="157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6675" lIns="166675" spcFirstLastPara="1" rIns="166675" wrap="square" tIns="16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AI audits becoming mandatory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0" y="3938162"/>
              <a:ext cx="6364224" cy="157499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476436" y="4292537"/>
              <a:ext cx="866247" cy="86624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1819120" y="3938162"/>
              <a:ext cx="4545103" cy="157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0"/>
            <p:cNvSpPr txBox="1"/>
            <p:nvPr/>
          </p:nvSpPr>
          <p:spPr>
            <a:xfrm>
              <a:off x="1819120" y="3938162"/>
              <a:ext cx="4545103" cy="157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6675" lIns="166675" spcFirstLastPara="1" rIns="166675" wrap="square" tIns="16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Agentic AI risk governance emerging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 txBox="1"/>
          <p:nvPr>
            <p:ph type="title"/>
          </p:nvPr>
        </p:nvSpPr>
        <p:spPr>
          <a:xfrm>
            <a:off x="838199" y="1093788"/>
            <a:ext cx="10506455" cy="2967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lay"/>
              <a:buNone/>
            </a:pPr>
            <a:r>
              <a:rPr lang="en-US" sz="8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Thanking you </a:t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2026-02-12T11:46:41Z</dcterms:created>
  <dc:creator>Sharma, Kalpana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104b14-b53d-46de-9ae8-975cc0e84815_Enabled">
    <vt:lpwstr>true</vt:lpwstr>
  </property>
  <property fmtid="{D5CDD505-2E9C-101B-9397-08002B2CF9AE}" pid="3" name="MSIP_Label_68104b14-b53d-46de-9ae8-975cc0e84815_SetDate">
    <vt:lpwstr>2026-02-12T12:31:29Z</vt:lpwstr>
  </property>
  <property fmtid="{D5CDD505-2E9C-101B-9397-08002B2CF9AE}" pid="4" name="MSIP_Label_68104b14-b53d-46de-9ae8-975cc0e84815_Method">
    <vt:lpwstr>Standard</vt:lpwstr>
  </property>
  <property fmtid="{D5CDD505-2E9C-101B-9397-08002B2CF9AE}" pid="5" name="MSIP_Label_68104b14-b53d-46de-9ae8-975cc0e84815_Name">
    <vt:lpwstr>ABI_MIP_InternalUseOnly</vt:lpwstr>
  </property>
  <property fmtid="{D5CDD505-2E9C-101B-9397-08002B2CF9AE}" pid="6" name="MSIP_Label_68104b14-b53d-46de-9ae8-975cc0e84815_SiteId">
    <vt:lpwstr>cef04b19-7776-4a94-b89b-375c77a8f936</vt:lpwstr>
  </property>
  <property fmtid="{D5CDD505-2E9C-101B-9397-08002B2CF9AE}" pid="7" name="MSIP_Label_68104b14-b53d-46de-9ae8-975cc0e84815_ActionId">
    <vt:lpwstr>d24b1db8-b3f0-4ba4-8b65-f76abfbcd268</vt:lpwstr>
  </property>
  <property fmtid="{D5CDD505-2E9C-101B-9397-08002B2CF9AE}" pid="8" name="MSIP_Label_68104b14-b53d-46de-9ae8-975cc0e84815_ContentBits">
    <vt:lpwstr>0</vt:lpwstr>
  </property>
  <property fmtid="{D5CDD505-2E9C-101B-9397-08002B2CF9AE}" pid="9" name="MSIP_Label_68104b14-b53d-46de-9ae8-975cc0e84815_Tag">
    <vt:lpwstr>10, 3, 0, 1</vt:lpwstr>
  </property>
</Properties>
</file>